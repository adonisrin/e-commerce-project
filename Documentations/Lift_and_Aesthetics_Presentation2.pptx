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19BE939-AA5B-464A-BF8D-8090CB81D49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D1A04E-FED6-41BF-A1D2-4CF9FE8C1C0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BE2106-0539-4752-B982-AA638C2619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CA7C9-E0BE-420D-96B2-89FAA5EB82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2F504E-6CA5-486C-B9D2-AF5115C5C54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8D6A99-31A6-4434-A82F-66DA594242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6E8DC-95D6-4096-B2DE-C7B8BDF6F9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E1E28A-BC9D-4E77-81D6-B2E473A09A8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B95BD0-E61C-449D-AB48-0E44FE781E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A93B1C-44F1-46C4-BA73-A0571A34A8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EBA83-1856-4659-A15A-4B4F390E4B4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401838-2583-4B2B-855D-D1D29F58B5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0F960A-FF99-40E6-B47B-5DC94DA029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EE4F89-FDC7-445F-833A-CFB768B8557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F27897-53EE-4FC9-BC8E-E62A30BA8A5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F94CAC-1109-4AE6-B7A7-F1C677A8F8C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_BASE"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567000" y="585360"/>
            <a:ext cx="54360" cy="5394600"/>
          </a:xfrm>
          <a:prstGeom prst="roundRect">
            <a:avLst>
              <a:gd name="adj" fmla="val 16667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2"/>
          <p:cNvSpPr/>
          <p:nvPr/>
        </p:nvSpPr>
        <p:spPr>
          <a:xfrm>
            <a:off x="896040" y="643320"/>
            <a:ext cx="496080" cy="107640"/>
          </a:xfrm>
          <a:prstGeom prst="roundRect">
            <a:avLst>
              <a:gd name="adj" fmla="val 16949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917640" y="524520"/>
            <a:ext cx="118440" cy="323280"/>
          </a:xfrm>
          <a:prstGeom prst="roundRect">
            <a:avLst>
              <a:gd name="adj" fmla="val 15408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1273680" y="524520"/>
            <a:ext cx="118440" cy="323280"/>
          </a:xfrm>
          <a:prstGeom prst="roundRect">
            <a:avLst>
              <a:gd name="adj" fmla="val 15408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522080" y="502920"/>
            <a:ext cx="2373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LIFT &amp; AESTHETICS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532880" y="729360"/>
            <a:ext cx="25351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60" spc="111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GYM ESSENTIALS ONLINE STORE</a:t>
            </a:r>
            <a:endParaRPr b="0" lang="en-US" sz="6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896040" y="1426320"/>
            <a:ext cx="5303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1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E-COMMERCE  /  SEMESTER PROJECT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877680" y="1847160"/>
            <a:ext cx="6034680" cy="148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Lift &amp;</a:t>
            </a:r>
            <a:endParaRPr b="0" lang="en-US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Aesthetics</a:t>
            </a:r>
            <a:endParaRPr b="0" lang="en-US" sz="3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914400" y="3502080"/>
            <a:ext cx="57146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c8f36d"/>
                </a:solidFill>
                <a:effectLst/>
                <a:uFillTx/>
                <a:latin typeface="Aptos Display"/>
                <a:ea typeface="Aptos Display"/>
              </a:rPr>
              <a:t>Specification &amp; Prototype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914400" y="3950280"/>
            <a:ext cx="5211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Presentation 2  •  Week 7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914400" y="4480560"/>
            <a:ext cx="56689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 practical online store for supplements, training clothes,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and gym equipment — built with a custom ASP.NET Core app.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914400" y="5321880"/>
            <a:ext cx="15724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969120" y="533556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C# / ASP.NET CORE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2587680" y="5321880"/>
            <a:ext cx="139860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2642760" y="5335560"/>
            <a:ext cx="1288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HTML • CSS • JS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4096440" y="5321880"/>
            <a:ext cx="7768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4151520" y="5335560"/>
            <a:ext cx="667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MYSQL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4965120" y="5321880"/>
            <a:ext cx="14810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5020200" y="533556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STRIPE TEST MODE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914400" y="5888880"/>
            <a:ext cx="548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1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TEAM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914400" y="6071760"/>
            <a:ext cx="6354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Peca Ana Maria Cristina  •  Ploae Darius Adonis Ionuț  •  Nică David Andrei</a:t>
            </a:r>
            <a:endParaRPr b="0" lang="en-US" sz="8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7790760" y="567000"/>
            <a:ext cx="3858480" cy="5467680"/>
          </a:xfrm>
          <a:prstGeom prst="roundRect">
            <a:avLst>
              <a:gd name="adj" fmla="val 4265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8138160" y="932760"/>
            <a:ext cx="12614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8192880" y="946440"/>
            <a:ext cx="115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P2 MILESTONE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8119800" y="1389960"/>
            <a:ext cx="1874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8174880" y="2624400"/>
            <a:ext cx="28526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SPECIFICATION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&amp; PROTOTYPE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8174520" y="3575160"/>
            <a:ext cx="3044880" cy="360"/>
          </a:xfrm>
          <a:prstGeom prst="line">
            <a:avLst/>
          </a:prstGeom>
          <a:ln w="1270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8458200" y="3977640"/>
            <a:ext cx="2239920" cy="164160"/>
          </a:xfrm>
          <a:prstGeom prst="roundRect">
            <a:avLst>
              <a:gd name="adj" fmla="val 2222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8229600" y="3740040"/>
            <a:ext cx="328680" cy="639720"/>
          </a:xfrm>
          <a:prstGeom prst="roundRect">
            <a:avLst>
              <a:gd name="adj" fmla="val 13889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8622720" y="3822120"/>
            <a:ext cx="219240" cy="484200"/>
          </a:xfrm>
          <a:prstGeom prst="roundRect">
            <a:avLst>
              <a:gd name="adj" fmla="val 16667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10607040" y="3740040"/>
            <a:ext cx="328680" cy="639720"/>
          </a:xfrm>
          <a:prstGeom prst="roundRect">
            <a:avLst>
              <a:gd name="adj" fmla="val 13889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10232280" y="3822120"/>
            <a:ext cx="219240" cy="484200"/>
          </a:xfrm>
          <a:prstGeom prst="roundRect">
            <a:avLst>
              <a:gd name="adj" fmla="val 16667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8192880" y="4617720"/>
            <a:ext cx="297144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From written requirements to a prototype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that can be demonstrated live.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8192880" y="5349240"/>
            <a:ext cx="8409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5"/>
          <p:cNvSpPr/>
          <p:nvPr/>
        </p:nvSpPr>
        <p:spPr>
          <a:xfrm>
            <a:off x="8247960" y="536292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9125640" y="5349240"/>
            <a:ext cx="10785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7"/>
          <p:cNvSpPr/>
          <p:nvPr/>
        </p:nvSpPr>
        <p:spPr>
          <a:xfrm>
            <a:off x="9180720" y="5362920"/>
            <a:ext cx="968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ARCHITECTURE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8"/>
          <p:cNvSpPr/>
          <p:nvPr/>
        </p:nvSpPr>
        <p:spPr>
          <a:xfrm>
            <a:off x="10296000" y="5349240"/>
            <a:ext cx="9140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9"/>
          <p:cNvSpPr/>
          <p:nvPr/>
        </p:nvSpPr>
        <p:spPr>
          <a:xfrm>
            <a:off x="10351080" y="536292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WIREFRAMES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1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2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3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4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MILESTONE 2 / OVERVIEW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What P2 needs to lock down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approved specification becomes the baseline for the final evaluation.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567000" y="1664280"/>
            <a:ext cx="3702960" cy="4480200"/>
          </a:xfrm>
          <a:prstGeom prst="roundRect">
            <a:avLst>
              <a:gd name="adj" fmla="val 3457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804600" y="1901880"/>
            <a:ext cx="8409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859680" y="191556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THE GOAL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804600" y="2331720"/>
            <a:ext cx="3017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Freeze the scope.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Prove the basics.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822960" y="3310200"/>
            <a:ext cx="30171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P2 should show that the team has agreed on what will be built, how the main parts connect, and how the first working version will be demonstrated.</a:t>
            </a:r>
            <a:endParaRPr b="0" lang="en-US" sz="11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822960" y="4297680"/>
            <a:ext cx="317268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822960" y="44895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pc="11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P2 RULES</a:t>
            </a:r>
            <a:endParaRPr b="0" lang="en-US" sz="8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822960" y="4782240"/>
            <a:ext cx="3154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• The specification is frozen at approval.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• Scope changes need written approval.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• Bonus points count only after A1–A12 work.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4553640" y="1755720"/>
            <a:ext cx="4388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Required deliverables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4553640" y="2176200"/>
            <a:ext cx="3337200" cy="1115280"/>
          </a:xfrm>
          <a:prstGeom prst="roundRect">
            <a:avLst>
              <a:gd name="adj" fmla="val 8197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4700160" y="231336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2"/>
          <p:cNvSpPr/>
          <p:nvPr/>
        </p:nvSpPr>
        <p:spPr>
          <a:xfrm>
            <a:off x="4754880" y="232704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3"/>
          <p:cNvSpPr/>
          <p:nvPr/>
        </p:nvSpPr>
        <p:spPr>
          <a:xfrm>
            <a:off x="5193720" y="232272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5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A1–A12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4700160" y="2615040"/>
            <a:ext cx="304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Implementation plan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4700160" y="2907720"/>
            <a:ext cx="3044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1–2 sentences for each mandatory requirement.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8092440" y="2176200"/>
            <a:ext cx="3337200" cy="1115280"/>
          </a:xfrm>
          <a:prstGeom prst="roundRect">
            <a:avLst>
              <a:gd name="adj" fmla="val 8197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8238600" y="231336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8"/>
          <p:cNvSpPr/>
          <p:nvPr/>
        </p:nvSpPr>
        <p:spPr>
          <a:xfrm>
            <a:off x="8293680" y="232704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8732520" y="232272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5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BONUS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0"/>
          <p:cNvSpPr/>
          <p:nvPr/>
        </p:nvSpPr>
        <p:spPr>
          <a:xfrm>
            <a:off x="8238600" y="2615040"/>
            <a:ext cx="304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Selected features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1"/>
          <p:cNvSpPr/>
          <p:nvPr/>
        </p:nvSpPr>
        <p:spPr>
          <a:xfrm>
            <a:off x="8238600" y="2907720"/>
            <a:ext cx="3044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Identify chosen bonus codes: B1, B5 and B7.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4553640" y="3456360"/>
            <a:ext cx="3337200" cy="1115280"/>
          </a:xfrm>
          <a:prstGeom prst="roundRect">
            <a:avLst>
              <a:gd name="adj" fmla="val 8197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4700160" y="359352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4"/>
          <p:cNvSpPr/>
          <p:nvPr/>
        </p:nvSpPr>
        <p:spPr>
          <a:xfrm>
            <a:off x="4754880" y="360720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5"/>
          <p:cNvSpPr/>
          <p:nvPr/>
        </p:nvSpPr>
        <p:spPr>
          <a:xfrm>
            <a:off x="5193720" y="360288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5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ERD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4700160" y="3895200"/>
            <a:ext cx="304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Data model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4700160" y="4187880"/>
            <a:ext cx="3044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Relational tables and their relationships.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8"/>
          <p:cNvSpPr/>
          <p:nvPr/>
        </p:nvSpPr>
        <p:spPr>
          <a:xfrm>
            <a:off x="8092440" y="3456360"/>
            <a:ext cx="3337200" cy="1115280"/>
          </a:xfrm>
          <a:prstGeom prst="roundRect">
            <a:avLst>
              <a:gd name="adj" fmla="val 8197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8238600" y="359352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293680" y="360720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1"/>
          <p:cNvSpPr/>
          <p:nvPr/>
        </p:nvSpPr>
        <p:spPr>
          <a:xfrm>
            <a:off x="8732520" y="360288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5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ARCH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2"/>
          <p:cNvSpPr/>
          <p:nvPr/>
        </p:nvSpPr>
        <p:spPr>
          <a:xfrm>
            <a:off x="8238600" y="3895200"/>
            <a:ext cx="304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System design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38600" y="4187880"/>
            <a:ext cx="3044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Components plus endpoint method, route and access.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4"/>
          <p:cNvSpPr/>
          <p:nvPr/>
        </p:nvSpPr>
        <p:spPr>
          <a:xfrm>
            <a:off x="4553640" y="4736520"/>
            <a:ext cx="3337200" cy="1115280"/>
          </a:xfrm>
          <a:prstGeom prst="roundRect">
            <a:avLst>
              <a:gd name="adj" fmla="val 8197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700160" y="487368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6"/>
          <p:cNvSpPr/>
          <p:nvPr/>
        </p:nvSpPr>
        <p:spPr>
          <a:xfrm>
            <a:off x="4754880" y="488736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5193720" y="488304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5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FLOW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4700160" y="5175360"/>
            <a:ext cx="304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Payment sequence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9"/>
          <p:cNvSpPr/>
          <p:nvPr/>
        </p:nvSpPr>
        <p:spPr>
          <a:xfrm>
            <a:off x="4700160" y="5468040"/>
            <a:ext cx="3044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Checkout → Stripe → webhook → order &amp; stock.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092440" y="4736520"/>
            <a:ext cx="3337200" cy="1115280"/>
          </a:xfrm>
          <a:prstGeom prst="roundRect">
            <a:avLst>
              <a:gd name="adj" fmla="val 8197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1"/>
          <p:cNvSpPr/>
          <p:nvPr/>
        </p:nvSpPr>
        <p:spPr>
          <a:xfrm>
            <a:off x="8238600" y="487368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293680" y="488736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9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7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3"/>
          <p:cNvSpPr/>
          <p:nvPr/>
        </p:nvSpPr>
        <p:spPr>
          <a:xfrm>
            <a:off x="8732520" y="4883040"/>
            <a:ext cx="2550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5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UI + DEMO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4"/>
          <p:cNvSpPr/>
          <p:nvPr/>
        </p:nvSpPr>
        <p:spPr>
          <a:xfrm>
            <a:off x="8238600" y="5175360"/>
            <a:ext cx="30445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Wireframes &amp; prototype</a:t>
            </a:r>
            <a:endParaRPr b="0" lang="en-US" sz="12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38600" y="5468040"/>
            <a:ext cx="30445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1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Five main screens; catalog seeded from DB and login.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6"/>
          <p:cNvSpPr/>
          <p:nvPr/>
        </p:nvSpPr>
        <p:spPr>
          <a:xfrm>
            <a:off x="4553640" y="6062400"/>
            <a:ext cx="6857640" cy="63720"/>
          </a:xfrm>
          <a:prstGeom prst="roundRect">
            <a:avLst>
              <a:gd name="adj" fmla="val 14286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" bIns="136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REQUIREMENTS / A1–A4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The customer journey starts with a reliable catalog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l"/>
            <a:r>
              <a:rPr sz="900" b="0">
                <a:solidFill>
                  <a:srgbClr val="A7B4AA"/>
                </a:solidFill>
                <a:latin typeface="Aptos"/>
              </a:rPr>
              <a:t>P1 colors: blue = FRONTEND &amp; PRODUCT DISCOVERY; lime = BACKEND, CART &amp; PAYMENTS; orange = DATABASE, ACCOUNTS &amp; ADMIN.</a:t>
            </a:r>
          </a:p>
        </p:txBody>
      </p:sp>
      <p:sp>
        <p:nvSpPr>
          <p:cNvPr id="116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567000" y="169164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2"/>
          <p:cNvSpPr/>
          <p:nvPr/>
        </p:nvSpPr>
        <p:spPr>
          <a:xfrm>
            <a:off x="567000" y="169164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3"/>
          <p:cNvSpPr/>
          <p:nvPr/>
        </p:nvSpPr>
        <p:spPr>
          <a:xfrm>
            <a:off x="749880" y="184716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4"/>
          <p:cNvSpPr/>
          <p:nvPr/>
        </p:nvSpPr>
        <p:spPr>
          <a:xfrm>
            <a:off x="804600" y="186084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5"/>
          <p:cNvSpPr/>
          <p:nvPr/>
        </p:nvSpPr>
        <p:spPr>
          <a:xfrm>
            <a:off x="5193720" y="184716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6"/>
          <p:cNvSpPr/>
          <p:nvPr/>
        </p:nvSpPr>
        <p:spPr>
          <a:xfrm>
            <a:off x="5248800" y="18608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8AC6E8"/>
                </a:solidFill>
                <a:effectLst/>
                <a:uFillTx/>
                <a:latin typeface="Aptos"/>
                <a:ea typeface="Aptos"/>
              </a:rPr>
              <a:t>M1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7"/>
          <p:cNvSpPr/>
          <p:nvPr/>
        </p:nvSpPr>
        <p:spPr>
          <a:xfrm>
            <a:off x="749880" y="222192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Product catalog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8"/>
          <p:cNvSpPr/>
          <p:nvPr/>
        </p:nvSpPr>
        <p:spPr>
          <a:xfrm>
            <a:off x="749880" y="260604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Show a paginated catalog (maximum 24 products per page), category pages, and a product page with name, description, images, price and availability.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6199560" y="169164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0"/>
          <p:cNvSpPr/>
          <p:nvPr/>
        </p:nvSpPr>
        <p:spPr>
          <a:xfrm>
            <a:off x="6199560" y="169164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1"/>
          <p:cNvSpPr/>
          <p:nvPr/>
        </p:nvSpPr>
        <p:spPr>
          <a:xfrm>
            <a:off x="6382440" y="184716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6437520" y="186084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10826640" y="184716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10881360" y="18608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8AC6E8"/>
                </a:solidFill>
                <a:effectLst/>
                <a:uFillTx/>
                <a:latin typeface="Aptos"/>
                <a:ea typeface="Aptos"/>
              </a:rPr>
              <a:t>M1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6382440" y="222192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Basic search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6"/>
          <p:cNvSpPr/>
          <p:nvPr/>
        </p:nvSpPr>
        <p:spPr>
          <a:xfrm>
            <a:off x="6382440" y="260604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Search product names and return correct matches. Show a clear, helpful message when the search returns no products.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7"/>
          <p:cNvSpPr/>
          <p:nvPr/>
        </p:nvSpPr>
        <p:spPr>
          <a:xfrm>
            <a:off x="567000" y="388620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8"/>
          <p:cNvSpPr/>
          <p:nvPr/>
        </p:nvSpPr>
        <p:spPr>
          <a:xfrm>
            <a:off x="567000" y="388620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9"/>
          <p:cNvSpPr/>
          <p:nvPr/>
        </p:nvSpPr>
        <p:spPr>
          <a:xfrm>
            <a:off x="749880" y="404172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0"/>
          <p:cNvSpPr/>
          <p:nvPr/>
        </p:nvSpPr>
        <p:spPr>
          <a:xfrm>
            <a:off x="804600" y="405540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A3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1"/>
          <p:cNvSpPr/>
          <p:nvPr/>
        </p:nvSpPr>
        <p:spPr>
          <a:xfrm>
            <a:off x="5193720" y="404172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2"/>
          <p:cNvSpPr/>
          <p:nvPr/>
        </p:nvSpPr>
        <p:spPr>
          <a:xfrm>
            <a:off x="5248800" y="40554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5F26D"/>
                </a:solidFill>
                <a:effectLst/>
                <a:uFillTx/>
                <a:latin typeface="Aptos"/>
                <a:ea typeface="Aptos"/>
              </a:rPr>
              <a:t>M2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3"/>
          <p:cNvSpPr/>
          <p:nvPr/>
        </p:nvSpPr>
        <p:spPr>
          <a:xfrm>
            <a:off x="749880" y="441648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Shopping cart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4"/>
          <p:cNvSpPr/>
          <p:nvPr/>
        </p:nvSpPr>
        <p:spPr>
          <a:xfrm>
            <a:off x="749880" y="480060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Allow customers to add, update and remove items. Recalculate totals on the server, reject quantities above stock, and persist an authenticated user’s cart.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5"/>
          <p:cNvSpPr/>
          <p:nvPr/>
        </p:nvSpPr>
        <p:spPr>
          <a:xfrm>
            <a:off x="6199560" y="388620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6"/>
          <p:cNvSpPr/>
          <p:nvPr/>
        </p:nvSpPr>
        <p:spPr>
          <a:xfrm>
            <a:off x="6199560" y="388620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7"/>
          <p:cNvSpPr/>
          <p:nvPr/>
        </p:nvSpPr>
        <p:spPr>
          <a:xfrm>
            <a:off x="6382440" y="404172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8"/>
          <p:cNvSpPr/>
          <p:nvPr/>
        </p:nvSpPr>
        <p:spPr>
          <a:xfrm>
            <a:off x="6437520" y="405540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A4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9"/>
          <p:cNvSpPr/>
          <p:nvPr/>
        </p:nvSpPr>
        <p:spPr>
          <a:xfrm>
            <a:off x="10826640" y="404172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0"/>
          <p:cNvSpPr/>
          <p:nvPr/>
        </p:nvSpPr>
        <p:spPr>
          <a:xfrm>
            <a:off x="10881360" y="40554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F3A65A"/>
                </a:solidFill>
                <a:effectLst/>
                <a:uFillTx/>
                <a:latin typeface="Aptos"/>
                <a:ea typeface="Aptos"/>
              </a:rPr>
              <a:t>M3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41"/>
          <p:cNvSpPr/>
          <p:nvPr/>
        </p:nvSpPr>
        <p:spPr>
          <a:xfrm>
            <a:off x="6382440" y="441648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User accounts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2"/>
          <p:cNvSpPr/>
          <p:nvPr/>
        </p:nvSpPr>
        <p:spPr>
          <a:xfrm>
            <a:off x="6382440" y="480060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Support registration, login and logout with securely hashed passwords. Each customer can save at least one delivery address.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REQUIREMENTS / A5–A8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Checkout, payment and stock must agree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l"/>
            <a:r>
              <a:rPr sz="900" b="0">
                <a:solidFill>
                  <a:srgbClr val="A7B4AA"/>
                </a:solidFill>
                <a:latin typeface="Aptos"/>
              </a:rPr>
              <a:t>P1 colors: blue = FRONTEND &amp; PRODUCT DISCOVERY; lime = BACKEND, CART &amp; PAYMENTS; orange = DATABASE, ACCOUNTS &amp; ADMIN.</a:t>
            </a:r>
          </a:p>
        </p:txBody>
      </p:sp>
      <p:sp>
        <p:nvSpPr>
          <p:cNvPr id="159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567000" y="169164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567000" y="169164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749880" y="184716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804600" y="186084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5193720" y="184716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5248800" y="18608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5F26D"/>
                </a:solidFill>
                <a:effectLst/>
                <a:uFillTx/>
                <a:latin typeface="Aptos"/>
                <a:ea typeface="Aptos"/>
              </a:rPr>
              <a:t>M2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7"/>
          <p:cNvSpPr/>
          <p:nvPr/>
        </p:nvSpPr>
        <p:spPr>
          <a:xfrm>
            <a:off x="749880" y="222192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Checkout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749880" y="260604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Collect delivery address, offer at least two delivery methods with different costs, show the final order summary, and display an order number after confirmation.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6199560" y="169164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0"/>
          <p:cNvSpPr/>
          <p:nvPr/>
        </p:nvSpPr>
        <p:spPr>
          <a:xfrm>
            <a:off x="6199560" y="169164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1"/>
          <p:cNvSpPr/>
          <p:nvPr/>
        </p:nvSpPr>
        <p:spPr>
          <a:xfrm>
            <a:off x="6382440" y="184716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2"/>
          <p:cNvSpPr/>
          <p:nvPr/>
        </p:nvSpPr>
        <p:spPr>
          <a:xfrm>
            <a:off x="6437520" y="186084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A6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3"/>
          <p:cNvSpPr/>
          <p:nvPr/>
        </p:nvSpPr>
        <p:spPr>
          <a:xfrm>
            <a:off x="10826640" y="184716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4"/>
          <p:cNvSpPr/>
          <p:nvPr/>
        </p:nvSpPr>
        <p:spPr>
          <a:xfrm>
            <a:off x="10881360" y="18608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5F26D"/>
                </a:solidFill>
                <a:effectLst/>
                <a:uFillTx/>
                <a:latin typeface="Aptos"/>
                <a:ea typeface="Aptos"/>
              </a:rPr>
              <a:t>M2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5"/>
          <p:cNvSpPr/>
          <p:nvPr/>
        </p:nvSpPr>
        <p:spPr>
          <a:xfrm>
            <a:off x="6382440" y="222192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Sandbox payment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6"/>
          <p:cNvSpPr/>
          <p:nvPr/>
        </p:nvSpPr>
        <p:spPr>
          <a:xfrm>
            <a:off x="6382440" y="260604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Use Stripe in test mode. An order becomes Paid only after a verified payment-provider webhook; a declined payment leaves it Unpaid.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7"/>
          <p:cNvSpPr/>
          <p:nvPr/>
        </p:nvSpPr>
        <p:spPr>
          <a:xfrm>
            <a:off x="567000" y="388620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>
            <a:off x="567000" y="388620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9"/>
          <p:cNvSpPr/>
          <p:nvPr/>
        </p:nvSpPr>
        <p:spPr>
          <a:xfrm>
            <a:off x="749880" y="404172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0"/>
          <p:cNvSpPr/>
          <p:nvPr/>
        </p:nvSpPr>
        <p:spPr>
          <a:xfrm>
            <a:off x="804600" y="405540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1"/>
          <p:cNvSpPr/>
          <p:nvPr/>
        </p:nvSpPr>
        <p:spPr>
          <a:xfrm>
            <a:off x="5193720" y="404172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5248800" y="40554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5F26D"/>
                </a:solidFill>
                <a:effectLst/>
                <a:uFillTx/>
                <a:latin typeface="Aptos"/>
                <a:ea typeface="Aptos"/>
              </a:rPr>
              <a:t>M2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3"/>
          <p:cNvSpPr/>
          <p:nvPr/>
        </p:nvSpPr>
        <p:spPr>
          <a:xfrm>
            <a:off x="749880" y="441648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Stock management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4"/>
          <p:cNvSpPr/>
          <p:nvPr/>
        </p:nvSpPr>
        <p:spPr>
          <a:xfrm>
            <a:off x="749880" y="480060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Decrease inventory after confirmed payment and restore it when an order is cancelled. Protect against two customers buying the last unit at once.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5"/>
          <p:cNvSpPr/>
          <p:nvPr/>
        </p:nvSpPr>
        <p:spPr>
          <a:xfrm>
            <a:off x="6199560" y="388620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6"/>
          <p:cNvSpPr/>
          <p:nvPr/>
        </p:nvSpPr>
        <p:spPr>
          <a:xfrm>
            <a:off x="6199560" y="388620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7"/>
          <p:cNvSpPr/>
          <p:nvPr/>
        </p:nvSpPr>
        <p:spPr>
          <a:xfrm>
            <a:off x="6382440" y="404172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8"/>
          <p:cNvSpPr/>
          <p:nvPr/>
        </p:nvSpPr>
        <p:spPr>
          <a:xfrm>
            <a:off x="6437520" y="405540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9"/>
          <p:cNvSpPr/>
          <p:nvPr/>
        </p:nvSpPr>
        <p:spPr>
          <a:xfrm>
            <a:off x="10826640" y="404172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0"/>
          <p:cNvSpPr/>
          <p:nvPr/>
        </p:nvSpPr>
        <p:spPr>
          <a:xfrm>
            <a:off x="10881360" y="40554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F3A65A"/>
                </a:solidFill>
                <a:effectLst/>
                <a:uFillTx/>
                <a:latin typeface="Aptos"/>
                <a:ea typeface="Aptos"/>
              </a:rPr>
              <a:t>M3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1"/>
          <p:cNvSpPr/>
          <p:nvPr/>
        </p:nvSpPr>
        <p:spPr>
          <a:xfrm>
            <a:off x="6382440" y="441648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Order history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2"/>
          <p:cNvSpPr/>
          <p:nvPr/>
        </p:nvSpPr>
        <p:spPr>
          <a:xfrm>
            <a:off x="6382440" y="480060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Let signed-in customers review past orders, including date, products, total and current status.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REQUIREMENTS / A9–A12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Administration, security and quality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l"/>
            <a:r>
              <a:rPr sz="900" b="0">
                <a:solidFill>
                  <a:srgbClr val="A7B4AA"/>
                </a:solidFill>
                <a:latin typeface="Aptos"/>
              </a:rPr>
              <a:t>P1 colors: blue = FRONTEND &amp; PRODUCT DISCOVERY; lime = BACKEND, CART &amp; PAYMENTS; orange = DATABASE, ACCOUNTS &amp; ADMIN.</a:t>
            </a:r>
          </a:p>
        </p:txBody>
      </p:sp>
      <p:sp>
        <p:nvSpPr>
          <p:cNvPr id="202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567000" y="169164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2"/>
          <p:cNvSpPr/>
          <p:nvPr/>
        </p:nvSpPr>
        <p:spPr>
          <a:xfrm>
            <a:off x="567000" y="169164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3"/>
          <p:cNvSpPr/>
          <p:nvPr/>
        </p:nvSpPr>
        <p:spPr>
          <a:xfrm>
            <a:off x="749880" y="184716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4"/>
          <p:cNvSpPr/>
          <p:nvPr/>
        </p:nvSpPr>
        <p:spPr>
          <a:xfrm>
            <a:off x="804600" y="186084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A9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5"/>
          <p:cNvSpPr/>
          <p:nvPr/>
        </p:nvSpPr>
        <p:spPr>
          <a:xfrm>
            <a:off x="5193720" y="184716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6"/>
          <p:cNvSpPr/>
          <p:nvPr/>
        </p:nvSpPr>
        <p:spPr>
          <a:xfrm>
            <a:off x="5248800" y="18608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F3A65A"/>
                </a:solidFill>
                <a:effectLst/>
                <a:uFillTx/>
                <a:latin typeface="Aptos"/>
                <a:ea typeface="Aptos"/>
              </a:rPr>
              <a:t>M3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749880" y="222192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Administration panel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8"/>
          <p:cNvSpPr/>
          <p:nvPr/>
        </p:nvSpPr>
        <p:spPr>
          <a:xfrm>
            <a:off x="749880" y="260604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Provide admin-only create, edit and delete actions for products and categories, including image upload. Orders can be filtered by status and moved through the required states.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9"/>
          <p:cNvSpPr/>
          <p:nvPr/>
        </p:nvSpPr>
        <p:spPr>
          <a:xfrm>
            <a:off x="6199560" y="169164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"/>
          <p:cNvSpPr/>
          <p:nvPr/>
        </p:nvSpPr>
        <p:spPr>
          <a:xfrm>
            <a:off x="6199560" y="169164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1"/>
          <p:cNvSpPr/>
          <p:nvPr/>
        </p:nvSpPr>
        <p:spPr>
          <a:xfrm>
            <a:off x="6382440" y="184716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2"/>
          <p:cNvSpPr/>
          <p:nvPr/>
        </p:nvSpPr>
        <p:spPr>
          <a:xfrm>
            <a:off x="6437520" y="186084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A10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3"/>
          <p:cNvSpPr/>
          <p:nvPr/>
        </p:nvSpPr>
        <p:spPr>
          <a:xfrm>
            <a:off x="10826640" y="184716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4"/>
          <p:cNvSpPr/>
          <p:nvPr/>
        </p:nvSpPr>
        <p:spPr>
          <a:xfrm>
            <a:off x="10881360" y="186084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F3A65A"/>
                </a:solidFill>
                <a:effectLst/>
                <a:uFillTx/>
                <a:latin typeface="Aptos"/>
                <a:ea typeface="Aptos"/>
              </a:rPr>
              <a:t>M3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5"/>
          <p:cNvSpPr/>
          <p:nvPr/>
        </p:nvSpPr>
        <p:spPr>
          <a:xfrm>
            <a:off x="6382440" y="222192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Basic security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6"/>
          <p:cNvSpPr/>
          <p:nvPr/>
        </p:nvSpPr>
        <p:spPr>
          <a:xfrm>
            <a:off x="6382440" y="260604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Validate input on the server, use CSRF protection and an ORM or parameterised queries, and block admin pages/actions on the server for ordinary users.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7"/>
          <p:cNvSpPr/>
          <p:nvPr/>
        </p:nvSpPr>
        <p:spPr>
          <a:xfrm>
            <a:off x="567000" y="388620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8"/>
          <p:cNvSpPr/>
          <p:nvPr/>
        </p:nvSpPr>
        <p:spPr>
          <a:xfrm>
            <a:off x="567000" y="388620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9"/>
          <p:cNvSpPr/>
          <p:nvPr/>
        </p:nvSpPr>
        <p:spPr>
          <a:xfrm>
            <a:off x="749880" y="404172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0"/>
          <p:cNvSpPr/>
          <p:nvPr/>
        </p:nvSpPr>
        <p:spPr>
          <a:xfrm>
            <a:off x="804600" y="405540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A11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1"/>
          <p:cNvSpPr/>
          <p:nvPr/>
        </p:nvSpPr>
        <p:spPr>
          <a:xfrm>
            <a:off x="5193720" y="404172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2"/>
          <p:cNvSpPr/>
          <p:nvPr/>
        </p:nvSpPr>
        <p:spPr>
          <a:xfrm>
            <a:off x="5248800" y="40554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8AC6E8"/>
                </a:solidFill>
                <a:effectLst/>
                <a:uFillTx/>
                <a:latin typeface="Aptos"/>
                <a:ea typeface="Aptos"/>
              </a:rPr>
              <a:t>M1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33"/>
          <p:cNvSpPr/>
          <p:nvPr/>
        </p:nvSpPr>
        <p:spPr>
          <a:xfrm>
            <a:off x="749880" y="441648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Responsive design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4"/>
          <p:cNvSpPr/>
          <p:nvPr/>
        </p:nvSpPr>
        <p:spPr>
          <a:xfrm>
            <a:off x="749880" y="480060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Customer-facing pages remain usable at 360 px wide, with flexible layouts, readable product cards and touch-friendly controls.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5"/>
          <p:cNvSpPr/>
          <p:nvPr/>
        </p:nvSpPr>
        <p:spPr>
          <a:xfrm>
            <a:off x="6199560" y="3886200"/>
            <a:ext cx="5412960" cy="1938240"/>
          </a:xfrm>
          <a:prstGeom prst="roundRect">
            <a:avLst>
              <a:gd name="adj" fmla="val 566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6"/>
          <p:cNvSpPr/>
          <p:nvPr/>
        </p:nvSpPr>
        <p:spPr>
          <a:xfrm>
            <a:off x="6199560" y="3886200"/>
            <a:ext cx="50040" cy="1938240"/>
          </a:xfrm>
          <a:prstGeom prst="roundRect">
            <a:avLst>
              <a:gd name="adj" fmla="val 18182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37"/>
          <p:cNvSpPr/>
          <p:nvPr/>
        </p:nvSpPr>
        <p:spPr>
          <a:xfrm>
            <a:off x="6382440" y="4041720"/>
            <a:ext cx="502560" cy="255600"/>
          </a:xfrm>
          <a:prstGeom prst="roundRect">
            <a:avLst>
              <a:gd name="adj" fmla="val 42857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8"/>
          <p:cNvSpPr/>
          <p:nvPr/>
        </p:nvSpPr>
        <p:spPr>
          <a:xfrm>
            <a:off x="6437520" y="4055400"/>
            <a:ext cx="392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A12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9"/>
          <p:cNvSpPr/>
          <p:nvPr/>
        </p:nvSpPr>
        <p:spPr>
          <a:xfrm>
            <a:off x="10826640" y="4041720"/>
            <a:ext cx="6213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0"/>
          <p:cNvSpPr/>
          <p:nvPr/>
        </p:nvSpPr>
        <p:spPr>
          <a:xfrm>
            <a:off x="10881360" y="405540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F3A65A"/>
                </a:solidFill>
                <a:effectLst/>
                <a:uFillTx/>
                <a:latin typeface="Aptos"/>
                <a:ea typeface="Aptos"/>
              </a:rPr>
              <a:t>TEAM / M3 lead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41"/>
          <p:cNvSpPr/>
          <p:nvPr/>
        </p:nvSpPr>
        <p:spPr>
          <a:xfrm>
            <a:off x="6382440" y="4416480"/>
            <a:ext cx="5047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Automated tests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2"/>
          <p:cNvSpPr/>
          <p:nvPr/>
        </p:nvSpPr>
        <p:spPr>
          <a:xfrm>
            <a:off x="6382440" y="4800600"/>
            <a:ext cx="5047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Provide at least 10 automated tests that run with one command. Cover cart behavior, total calculations and payment confirmation at minimum.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SCOPE / SELECTED BONUS FEATURES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Three bonus features proposed for P2 approval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current plan prioritises B1, B5 and B7; each must be approved before it becomes part of the frozen scope.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1"/>
          <p:cNvSpPr/>
          <p:nvPr/>
        </p:nvSpPr>
        <p:spPr>
          <a:xfrm>
            <a:off x="567000" y="1755720"/>
            <a:ext cx="3520080" cy="3611520"/>
          </a:xfrm>
          <a:prstGeom prst="roundRect">
            <a:avLst>
              <a:gd name="adj" fmla="val 3896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2"/>
          <p:cNvSpPr/>
          <p:nvPr/>
        </p:nvSpPr>
        <p:spPr>
          <a:xfrm>
            <a:off x="567000" y="1755720"/>
            <a:ext cx="3520080" cy="59040"/>
          </a:xfrm>
          <a:prstGeom prst="roundRect">
            <a:avLst>
              <a:gd name="adj" fmla="val 15385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768240" y="1965960"/>
            <a:ext cx="53928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4"/>
          <p:cNvSpPr/>
          <p:nvPr/>
        </p:nvSpPr>
        <p:spPr>
          <a:xfrm>
            <a:off x="822960" y="1979640"/>
            <a:ext cx="429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B1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5"/>
          <p:cNvSpPr/>
          <p:nvPr/>
        </p:nvSpPr>
        <p:spPr>
          <a:xfrm>
            <a:off x="2971800" y="1965960"/>
            <a:ext cx="9140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6"/>
          <p:cNvSpPr/>
          <p:nvPr/>
        </p:nvSpPr>
        <p:spPr>
          <a:xfrm>
            <a:off x="3026520" y="197964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5 POINTS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7"/>
          <p:cNvSpPr/>
          <p:nvPr/>
        </p:nvSpPr>
        <p:spPr>
          <a:xfrm>
            <a:off x="768240" y="2450520"/>
            <a:ext cx="3117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Filtered search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8"/>
          <p:cNvSpPr/>
          <p:nvPr/>
        </p:nvSpPr>
        <p:spPr>
          <a:xfrm>
            <a:off x="768240" y="2871360"/>
            <a:ext cx="3117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9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PRODUCT DISCOVERY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9"/>
          <p:cNvSpPr/>
          <p:nvPr/>
        </p:nvSpPr>
        <p:spPr>
          <a:xfrm>
            <a:off x="786240" y="3401640"/>
            <a:ext cx="72720" cy="72720"/>
          </a:xfrm>
          <a:prstGeom prst="roundRect">
            <a:avLst>
              <a:gd name="adj" fmla="val 2500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0"/>
          <p:cNvSpPr/>
          <p:nvPr/>
        </p:nvSpPr>
        <p:spPr>
          <a:xfrm>
            <a:off x="969120" y="332856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Combine category, price-range and availability filters.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1"/>
          <p:cNvSpPr/>
          <p:nvPr/>
        </p:nvSpPr>
        <p:spPr>
          <a:xfrm>
            <a:off x="786240" y="3968640"/>
            <a:ext cx="72720" cy="72720"/>
          </a:xfrm>
          <a:prstGeom prst="roundRect">
            <a:avLst>
              <a:gd name="adj" fmla="val 2500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2"/>
          <p:cNvSpPr/>
          <p:nvPr/>
        </p:nvSpPr>
        <p:spPr>
          <a:xfrm>
            <a:off x="969120" y="389520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Sort by price and date added.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23"/>
          <p:cNvSpPr/>
          <p:nvPr/>
        </p:nvSpPr>
        <p:spPr>
          <a:xfrm>
            <a:off x="786240" y="4535280"/>
            <a:ext cx="72720" cy="72720"/>
          </a:xfrm>
          <a:prstGeom prst="roundRect">
            <a:avLst>
              <a:gd name="adj" fmla="val 2500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4"/>
          <p:cNvSpPr/>
          <p:nvPr/>
        </p:nvSpPr>
        <p:spPr>
          <a:xfrm>
            <a:off x="969120" y="446220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Keep filter choices in the URL.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5"/>
          <p:cNvSpPr/>
          <p:nvPr/>
        </p:nvSpPr>
        <p:spPr>
          <a:xfrm>
            <a:off x="768240" y="4901040"/>
            <a:ext cx="11426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6"/>
          <p:cNvSpPr/>
          <p:nvPr/>
        </p:nvSpPr>
        <p:spPr>
          <a:xfrm>
            <a:off x="822960" y="4915080"/>
            <a:ext cx="103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LEAD  M1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7"/>
          <p:cNvSpPr/>
          <p:nvPr/>
        </p:nvSpPr>
        <p:spPr>
          <a:xfrm>
            <a:off x="4334400" y="1755720"/>
            <a:ext cx="3520080" cy="3611520"/>
          </a:xfrm>
          <a:prstGeom prst="roundRect">
            <a:avLst>
              <a:gd name="adj" fmla="val 3896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8"/>
          <p:cNvSpPr/>
          <p:nvPr/>
        </p:nvSpPr>
        <p:spPr>
          <a:xfrm>
            <a:off x="4334400" y="1755720"/>
            <a:ext cx="3520080" cy="59040"/>
          </a:xfrm>
          <a:prstGeom prst="roundRect">
            <a:avLst>
              <a:gd name="adj" fmla="val 15385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9"/>
          <p:cNvSpPr/>
          <p:nvPr/>
        </p:nvSpPr>
        <p:spPr>
          <a:xfrm>
            <a:off x="4535280" y="1965960"/>
            <a:ext cx="53928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0"/>
          <p:cNvSpPr/>
          <p:nvPr/>
        </p:nvSpPr>
        <p:spPr>
          <a:xfrm>
            <a:off x="4590360" y="1979640"/>
            <a:ext cx="429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B5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31"/>
          <p:cNvSpPr/>
          <p:nvPr/>
        </p:nvSpPr>
        <p:spPr>
          <a:xfrm>
            <a:off x="6739200" y="1965960"/>
            <a:ext cx="9140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2"/>
          <p:cNvSpPr/>
          <p:nvPr/>
        </p:nvSpPr>
        <p:spPr>
          <a:xfrm>
            <a:off x="6793920" y="197964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3 POINTS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3"/>
          <p:cNvSpPr/>
          <p:nvPr/>
        </p:nvSpPr>
        <p:spPr>
          <a:xfrm>
            <a:off x="4535280" y="2450520"/>
            <a:ext cx="3117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Discount codes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4"/>
          <p:cNvSpPr/>
          <p:nvPr/>
        </p:nvSpPr>
        <p:spPr>
          <a:xfrm>
            <a:off x="4535280" y="2871360"/>
            <a:ext cx="3117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99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CHECKOUT VALUE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5"/>
          <p:cNvSpPr/>
          <p:nvPr/>
        </p:nvSpPr>
        <p:spPr>
          <a:xfrm>
            <a:off x="4553640" y="3401640"/>
            <a:ext cx="72720" cy="72720"/>
          </a:xfrm>
          <a:prstGeom prst="roundRect">
            <a:avLst>
              <a:gd name="adj" fmla="val 25000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6"/>
          <p:cNvSpPr/>
          <p:nvPr/>
        </p:nvSpPr>
        <p:spPr>
          <a:xfrm>
            <a:off x="4736520" y="332856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Support percentage or fixed-value discounts.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7"/>
          <p:cNvSpPr/>
          <p:nvPr/>
        </p:nvSpPr>
        <p:spPr>
          <a:xfrm>
            <a:off x="4553640" y="3968640"/>
            <a:ext cx="72720" cy="72720"/>
          </a:xfrm>
          <a:prstGeom prst="roundRect">
            <a:avLst>
              <a:gd name="adj" fmla="val 25000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8"/>
          <p:cNvSpPr/>
          <p:nvPr/>
        </p:nvSpPr>
        <p:spPr>
          <a:xfrm>
            <a:off x="4736520" y="389520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Check expiry and maximum use count on the server.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9"/>
          <p:cNvSpPr/>
          <p:nvPr/>
        </p:nvSpPr>
        <p:spPr>
          <a:xfrm>
            <a:off x="4553640" y="4535280"/>
            <a:ext cx="72720" cy="72720"/>
          </a:xfrm>
          <a:prstGeom prst="roundRect">
            <a:avLst>
              <a:gd name="adj" fmla="val 25000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40"/>
          <p:cNvSpPr/>
          <p:nvPr/>
        </p:nvSpPr>
        <p:spPr>
          <a:xfrm>
            <a:off x="4736520" y="446220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Apply the discount before final payment.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1"/>
          <p:cNvSpPr/>
          <p:nvPr/>
        </p:nvSpPr>
        <p:spPr>
          <a:xfrm>
            <a:off x="4535280" y="4901040"/>
            <a:ext cx="11426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2"/>
          <p:cNvSpPr/>
          <p:nvPr/>
        </p:nvSpPr>
        <p:spPr>
          <a:xfrm>
            <a:off x="4590360" y="4915080"/>
            <a:ext cx="103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LEAD  M2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43"/>
          <p:cNvSpPr/>
          <p:nvPr/>
        </p:nvSpPr>
        <p:spPr>
          <a:xfrm>
            <a:off x="8101440" y="1755720"/>
            <a:ext cx="3520080" cy="3611520"/>
          </a:xfrm>
          <a:prstGeom prst="roundRect">
            <a:avLst>
              <a:gd name="adj" fmla="val 3896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44"/>
          <p:cNvSpPr/>
          <p:nvPr/>
        </p:nvSpPr>
        <p:spPr>
          <a:xfrm>
            <a:off x="8101440" y="1755720"/>
            <a:ext cx="3520080" cy="59040"/>
          </a:xfrm>
          <a:prstGeom prst="roundRect">
            <a:avLst>
              <a:gd name="adj" fmla="val 15385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5"/>
          <p:cNvSpPr/>
          <p:nvPr/>
        </p:nvSpPr>
        <p:spPr>
          <a:xfrm>
            <a:off x="8302680" y="1965960"/>
            <a:ext cx="53928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6"/>
          <p:cNvSpPr/>
          <p:nvPr/>
        </p:nvSpPr>
        <p:spPr>
          <a:xfrm>
            <a:off x="8357760" y="1979640"/>
            <a:ext cx="429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B7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47"/>
          <p:cNvSpPr/>
          <p:nvPr/>
        </p:nvSpPr>
        <p:spPr>
          <a:xfrm>
            <a:off x="10506600" y="1965960"/>
            <a:ext cx="9140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8"/>
          <p:cNvSpPr/>
          <p:nvPr/>
        </p:nvSpPr>
        <p:spPr>
          <a:xfrm>
            <a:off x="10561320" y="197964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2 POINTS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9"/>
          <p:cNvSpPr/>
          <p:nvPr/>
        </p:nvSpPr>
        <p:spPr>
          <a:xfrm>
            <a:off x="8302680" y="2450520"/>
            <a:ext cx="3117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Wishlist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0"/>
          <p:cNvSpPr/>
          <p:nvPr/>
        </p:nvSpPr>
        <p:spPr>
          <a:xfrm>
            <a:off x="8302680" y="2871360"/>
            <a:ext cx="3117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99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CUSTOMER RETENTION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51"/>
          <p:cNvSpPr/>
          <p:nvPr/>
        </p:nvSpPr>
        <p:spPr>
          <a:xfrm>
            <a:off x="8321040" y="3401640"/>
            <a:ext cx="72720" cy="72720"/>
          </a:xfrm>
          <a:prstGeom prst="roundRect">
            <a:avLst>
              <a:gd name="adj" fmla="val 25000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2"/>
          <p:cNvSpPr/>
          <p:nvPr/>
        </p:nvSpPr>
        <p:spPr>
          <a:xfrm>
            <a:off x="8503920" y="332856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Let authenticated users save products for later.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53"/>
          <p:cNvSpPr/>
          <p:nvPr/>
        </p:nvSpPr>
        <p:spPr>
          <a:xfrm>
            <a:off x="8321040" y="3968640"/>
            <a:ext cx="72720" cy="72720"/>
          </a:xfrm>
          <a:prstGeom prst="roundRect">
            <a:avLst>
              <a:gd name="adj" fmla="val 25000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4"/>
          <p:cNvSpPr/>
          <p:nvPr/>
        </p:nvSpPr>
        <p:spPr>
          <a:xfrm>
            <a:off x="8503920" y="389520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Show saved items in a dedicated list.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55"/>
          <p:cNvSpPr/>
          <p:nvPr/>
        </p:nvSpPr>
        <p:spPr>
          <a:xfrm>
            <a:off x="8321040" y="4535280"/>
            <a:ext cx="72720" cy="72720"/>
          </a:xfrm>
          <a:prstGeom prst="roundRect">
            <a:avLst>
              <a:gd name="adj" fmla="val 25000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7640" bIns="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6"/>
          <p:cNvSpPr/>
          <p:nvPr/>
        </p:nvSpPr>
        <p:spPr>
          <a:xfrm>
            <a:off x="8503920" y="4462200"/>
            <a:ext cx="288900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Allow a saved item to be moved to the cart.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57"/>
          <p:cNvSpPr/>
          <p:nvPr/>
        </p:nvSpPr>
        <p:spPr>
          <a:xfrm>
            <a:off x="8302680" y="4901040"/>
            <a:ext cx="114264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58"/>
          <p:cNvSpPr/>
          <p:nvPr/>
        </p:nvSpPr>
        <p:spPr>
          <a:xfrm>
            <a:off x="8357760" y="4915080"/>
            <a:ext cx="103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LEAD  M1 + M3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59"/>
          <p:cNvSpPr/>
          <p:nvPr/>
        </p:nvSpPr>
        <p:spPr>
          <a:xfrm>
            <a:off x="567000" y="5596200"/>
            <a:ext cx="11136960" cy="539280"/>
          </a:xfrm>
          <a:prstGeom prst="roundRect">
            <a:avLst>
              <a:gd name="adj" fmla="val 18644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60"/>
          <p:cNvSpPr/>
          <p:nvPr/>
        </p:nvSpPr>
        <p:spPr>
          <a:xfrm>
            <a:off x="768240" y="5760720"/>
            <a:ext cx="10969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9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BONUS RULE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61"/>
          <p:cNvSpPr/>
          <p:nvPr/>
        </p:nvSpPr>
        <p:spPr>
          <a:xfrm>
            <a:off x="1938600" y="5715000"/>
            <a:ext cx="947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Bonus points are awarded only after A1–A12 work. The selected bonus scope and points must be agreed with the instructor at P2.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DATA MODEL / MYSQL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Relational data model for the store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r>
              <a:rPr sz="1000">
                <a:solidFill>
                  <a:srgbClr val="A7B4AA"/>
                </a:solidFill>
              </a:rPr>
              <a:t>Table colors group core records, supporting features, and checkout/payment data; PK and FK fields show relationships.</a:t>
            </a:r>
          </a:p>
        </p:txBody>
      </p:sp>
      <p:sp>
        <p:nvSpPr>
          <p:cNvPr id="307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07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1"/>
          <p:cNvSpPr/>
          <p:nvPr/>
        </p:nvSpPr>
        <p:spPr>
          <a:xfrm>
            <a:off x="1508760" y="2596680"/>
            <a:ext cx="360" cy="530280"/>
          </a:xfrm>
          <a:prstGeom prst="line">
            <a:avLst/>
          </a:prstGeom>
          <a:ln w="15240">
            <a:solidFill>
              <a:srgbClr val="9ebb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2"/>
          <p:cNvSpPr/>
          <p:nvPr/>
        </p:nvSpPr>
        <p:spPr>
          <a:xfrm>
            <a:off x="3886200" y="2596680"/>
            <a:ext cx="360" cy="530280"/>
          </a:xfrm>
          <a:prstGeom prst="line">
            <a:avLst/>
          </a:prstGeom>
          <a:ln w="1524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3"/>
          <p:cNvSpPr/>
          <p:nvPr/>
        </p:nvSpPr>
        <p:spPr>
          <a:xfrm>
            <a:off x="4955760" y="3556800"/>
            <a:ext cx="237960" cy="360"/>
          </a:xfrm>
          <a:prstGeom prst="line">
            <a:avLst/>
          </a:prstGeom>
          <a:ln w="1524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4"/>
          <p:cNvSpPr/>
          <p:nvPr/>
        </p:nvSpPr>
        <p:spPr>
          <a:xfrm>
            <a:off x="3886200" y="3986640"/>
            <a:ext cx="360" cy="384120"/>
          </a:xfrm>
          <a:prstGeom prst="line">
            <a:avLst/>
          </a:prstGeom>
          <a:ln w="15240">
            <a:solidFill>
              <a:srgbClr val="9ebb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5"/>
          <p:cNvSpPr/>
          <p:nvPr/>
        </p:nvSpPr>
        <p:spPr>
          <a:xfrm>
            <a:off x="9710640" y="2166840"/>
            <a:ext cx="237960" cy="360"/>
          </a:xfrm>
          <a:prstGeom prst="line">
            <a:avLst/>
          </a:prstGeom>
          <a:ln w="1524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"/>
          <p:cNvSpPr/>
          <p:nvPr/>
        </p:nvSpPr>
        <p:spPr>
          <a:xfrm>
            <a:off x="10853640" y="2596680"/>
            <a:ext cx="360" cy="237960"/>
          </a:xfrm>
          <a:prstGeom prst="line">
            <a:avLst/>
          </a:prstGeom>
          <a:ln w="1524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7"/>
          <p:cNvSpPr/>
          <p:nvPr/>
        </p:nvSpPr>
        <p:spPr>
          <a:xfrm flipH="1">
            <a:off x="8641080" y="2834640"/>
            <a:ext cx="2212560" cy="360"/>
          </a:xfrm>
          <a:prstGeom prst="line">
            <a:avLst/>
          </a:prstGeom>
          <a:ln w="1524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8"/>
          <p:cNvSpPr/>
          <p:nvPr/>
        </p:nvSpPr>
        <p:spPr>
          <a:xfrm>
            <a:off x="8641080" y="2834640"/>
            <a:ext cx="360" cy="292320"/>
          </a:xfrm>
          <a:prstGeom prst="line">
            <a:avLst/>
          </a:prstGeom>
          <a:ln w="1524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9"/>
          <p:cNvSpPr/>
          <p:nvPr/>
        </p:nvSpPr>
        <p:spPr>
          <a:xfrm>
            <a:off x="10853640" y="2834640"/>
            <a:ext cx="360" cy="292320"/>
          </a:xfrm>
          <a:prstGeom prst="line">
            <a:avLst/>
          </a:prstGeom>
          <a:ln w="1524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0"/>
          <p:cNvSpPr/>
          <p:nvPr/>
        </p:nvSpPr>
        <p:spPr>
          <a:xfrm>
            <a:off x="438840" y="173736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1"/>
          <p:cNvSpPr/>
          <p:nvPr/>
        </p:nvSpPr>
        <p:spPr>
          <a:xfrm>
            <a:off x="438840" y="173736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2"/>
          <p:cNvSpPr/>
          <p:nvPr/>
        </p:nvSpPr>
        <p:spPr>
          <a:xfrm>
            <a:off x="539640" y="176940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USERS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3"/>
          <p:cNvSpPr/>
          <p:nvPr/>
        </p:nvSpPr>
        <p:spPr>
          <a:xfrm>
            <a:off x="539640" y="20484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Email • PasswordHash • Role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4"/>
          <p:cNvSpPr/>
          <p:nvPr/>
        </p:nvSpPr>
        <p:spPr>
          <a:xfrm>
            <a:off x="2816280" y="173736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5"/>
          <p:cNvSpPr/>
          <p:nvPr/>
        </p:nvSpPr>
        <p:spPr>
          <a:xfrm>
            <a:off x="2816280" y="173736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6"/>
          <p:cNvSpPr/>
          <p:nvPr/>
        </p:nvSpPr>
        <p:spPr>
          <a:xfrm>
            <a:off x="2917080" y="176940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CATEGORIES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7"/>
          <p:cNvSpPr/>
          <p:nvPr/>
        </p:nvSpPr>
        <p:spPr>
          <a:xfrm>
            <a:off x="2917080" y="20484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Name • Slug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8"/>
          <p:cNvSpPr/>
          <p:nvPr/>
        </p:nvSpPr>
        <p:spPr>
          <a:xfrm>
            <a:off x="7571160" y="173736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9"/>
          <p:cNvSpPr/>
          <p:nvPr/>
        </p:nvSpPr>
        <p:spPr>
          <a:xfrm>
            <a:off x="7571160" y="173736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0"/>
          <p:cNvSpPr/>
          <p:nvPr/>
        </p:nvSpPr>
        <p:spPr>
          <a:xfrm>
            <a:off x="7671960" y="176940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DISCOUNT_CODES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31"/>
          <p:cNvSpPr/>
          <p:nvPr/>
        </p:nvSpPr>
        <p:spPr>
          <a:xfrm>
            <a:off x="7671960" y="20484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 • Code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Type • Value • ExpiresAt • MaxUses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2"/>
          <p:cNvSpPr/>
          <p:nvPr/>
        </p:nvSpPr>
        <p:spPr>
          <a:xfrm>
            <a:off x="9948600" y="1737360"/>
            <a:ext cx="18100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3"/>
          <p:cNvSpPr/>
          <p:nvPr/>
        </p:nvSpPr>
        <p:spPr>
          <a:xfrm>
            <a:off x="9948600" y="1737360"/>
            <a:ext cx="1810080" cy="246600"/>
          </a:xfrm>
          <a:prstGeom prst="roundRect">
            <a:avLst>
              <a:gd name="adj" fmla="val 14815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4"/>
          <p:cNvSpPr/>
          <p:nvPr/>
        </p:nvSpPr>
        <p:spPr>
          <a:xfrm>
            <a:off x="10049400" y="1769400"/>
            <a:ext cx="16088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ORDERS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5"/>
          <p:cNvSpPr/>
          <p:nvPr/>
        </p:nvSpPr>
        <p:spPr>
          <a:xfrm>
            <a:off x="10049400" y="204840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 • UserId (FK)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AddressId (FK) • DiscountCodeId?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Status • Subtotal • Shipping • Total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6"/>
          <p:cNvSpPr/>
          <p:nvPr/>
        </p:nvSpPr>
        <p:spPr>
          <a:xfrm>
            <a:off x="438840" y="312732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7"/>
          <p:cNvSpPr/>
          <p:nvPr/>
        </p:nvSpPr>
        <p:spPr>
          <a:xfrm>
            <a:off x="438840" y="312732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38"/>
          <p:cNvSpPr/>
          <p:nvPr/>
        </p:nvSpPr>
        <p:spPr>
          <a:xfrm>
            <a:off x="539640" y="315936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ADDRESSES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9"/>
          <p:cNvSpPr/>
          <p:nvPr/>
        </p:nvSpPr>
        <p:spPr>
          <a:xfrm>
            <a:off x="539640" y="34380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 • UserId (FK)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FullName • Street • City • PostalCode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40"/>
          <p:cNvSpPr/>
          <p:nvPr/>
        </p:nvSpPr>
        <p:spPr>
          <a:xfrm>
            <a:off x="2816280" y="312732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1"/>
          <p:cNvSpPr/>
          <p:nvPr/>
        </p:nvSpPr>
        <p:spPr>
          <a:xfrm>
            <a:off x="2816280" y="312732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2"/>
          <p:cNvSpPr/>
          <p:nvPr/>
        </p:nvSpPr>
        <p:spPr>
          <a:xfrm>
            <a:off x="2917080" y="315936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PRODUCTS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3"/>
          <p:cNvSpPr/>
          <p:nvPr/>
        </p:nvSpPr>
        <p:spPr>
          <a:xfrm>
            <a:off x="2917080" y="34380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 • CategoryId (FK)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Name • Price • ImagePath • Stock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4"/>
          <p:cNvSpPr/>
          <p:nvPr/>
        </p:nvSpPr>
        <p:spPr>
          <a:xfrm>
            <a:off x="5193720" y="312732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5"/>
          <p:cNvSpPr/>
          <p:nvPr/>
        </p:nvSpPr>
        <p:spPr>
          <a:xfrm>
            <a:off x="5193720" y="312732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83cfc2"/>
          </a:solidFill>
          <a:ln w="10160">
            <a:solidFill>
              <a:srgbClr val="83c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6"/>
          <p:cNvSpPr/>
          <p:nvPr/>
        </p:nvSpPr>
        <p:spPr>
          <a:xfrm>
            <a:off x="5294520" y="315936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WISHLIST_ITEMS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7"/>
          <p:cNvSpPr/>
          <p:nvPr/>
        </p:nvSpPr>
        <p:spPr>
          <a:xfrm>
            <a:off x="5294520" y="34380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UserId (FK) • ProductId (FK)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48"/>
          <p:cNvSpPr/>
          <p:nvPr/>
        </p:nvSpPr>
        <p:spPr>
          <a:xfrm>
            <a:off x="7571160" y="3127320"/>
            <a:ext cx="21394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9"/>
          <p:cNvSpPr/>
          <p:nvPr/>
        </p:nvSpPr>
        <p:spPr>
          <a:xfrm>
            <a:off x="7571160" y="312732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0"/>
          <p:cNvSpPr/>
          <p:nvPr/>
        </p:nvSpPr>
        <p:spPr>
          <a:xfrm>
            <a:off x="7671960" y="315936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ORDER_ITEMS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1"/>
          <p:cNvSpPr/>
          <p:nvPr/>
        </p:nvSpPr>
        <p:spPr>
          <a:xfrm>
            <a:off x="7671960" y="3438000"/>
            <a:ext cx="1938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 • OrderId (FK)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ProductId (FK) • UnitPriceSnapshot • Qty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2"/>
          <p:cNvSpPr/>
          <p:nvPr/>
        </p:nvSpPr>
        <p:spPr>
          <a:xfrm>
            <a:off x="9948600" y="3127320"/>
            <a:ext cx="1810080" cy="859320"/>
          </a:xfrm>
          <a:prstGeom prst="roundRect">
            <a:avLst>
              <a:gd name="adj" fmla="val 10638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3"/>
          <p:cNvSpPr/>
          <p:nvPr/>
        </p:nvSpPr>
        <p:spPr>
          <a:xfrm>
            <a:off x="9948600" y="3127320"/>
            <a:ext cx="1810080" cy="246600"/>
          </a:xfrm>
          <a:prstGeom prst="roundRect">
            <a:avLst>
              <a:gd name="adj" fmla="val 14815"/>
            </a:avLst>
          </a:prstGeom>
          <a:solidFill>
            <a:srgbClr val="f0b46b"/>
          </a:solidFill>
          <a:ln w="10160">
            <a:solidFill>
              <a:srgbClr val="f0b4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4"/>
          <p:cNvSpPr/>
          <p:nvPr/>
        </p:nvSpPr>
        <p:spPr>
          <a:xfrm>
            <a:off x="10049400" y="3159360"/>
            <a:ext cx="16088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PAYMENTS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5"/>
          <p:cNvSpPr/>
          <p:nvPr/>
        </p:nvSpPr>
        <p:spPr>
          <a:xfrm>
            <a:off x="10049400" y="3438000"/>
            <a:ext cx="160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 • OrderId (FK)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ProviderRef • Status • Amount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56"/>
          <p:cNvSpPr/>
          <p:nvPr/>
        </p:nvSpPr>
        <p:spPr>
          <a:xfrm>
            <a:off x="2816280" y="4370760"/>
            <a:ext cx="2139480" cy="712800"/>
          </a:xfrm>
          <a:prstGeom prst="roundRect">
            <a:avLst>
              <a:gd name="adj" fmla="val 12821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57"/>
          <p:cNvSpPr/>
          <p:nvPr/>
        </p:nvSpPr>
        <p:spPr>
          <a:xfrm>
            <a:off x="2816280" y="4370760"/>
            <a:ext cx="2139480" cy="246600"/>
          </a:xfrm>
          <a:prstGeom prst="roundRect">
            <a:avLst>
              <a:gd name="adj" fmla="val 14815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58"/>
          <p:cNvSpPr/>
          <p:nvPr/>
        </p:nvSpPr>
        <p:spPr>
          <a:xfrm>
            <a:off x="2917080" y="4402800"/>
            <a:ext cx="19382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CART_ITEMS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59"/>
          <p:cNvSpPr/>
          <p:nvPr/>
        </p:nvSpPr>
        <p:spPr>
          <a:xfrm>
            <a:off x="2917080" y="4681800"/>
            <a:ext cx="19382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Id (PK)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UserId (FK) • ProductId (FK) • Qty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60"/>
          <p:cNvSpPr/>
          <p:nvPr/>
        </p:nvSpPr>
        <p:spPr>
          <a:xfrm>
            <a:off x="438840" y="5266800"/>
            <a:ext cx="11319840" cy="849960"/>
          </a:xfrm>
          <a:prstGeom prst="roundRect">
            <a:avLst>
              <a:gd name="adj" fmla="val 12903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1"/>
          <p:cNvSpPr/>
          <p:nvPr/>
        </p:nvSpPr>
        <p:spPr>
          <a:xfrm>
            <a:off x="640080" y="5385960"/>
            <a:ext cx="2331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pc="7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RELATIONSHIPS / CARDINALITY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2"/>
          <p:cNvSpPr/>
          <p:nvPr/>
        </p:nvSpPr>
        <p:spPr>
          <a:xfrm>
            <a:off x="667440" y="5596200"/>
            <a:ext cx="50040" cy="5004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3"/>
          <p:cNvSpPr/>
          <p:nvPr/>
        </p:nvSpPr>
        <p:spPr>
          <a:xfrm>
            <a:off x="795600" y="5559480"/>
            <a:ext cx="6720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Users 1:N Addresses and Orders; Users 1:N CartItems and WishlistItems.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64"/>
          <p:cNvSpPr/>
          <p:nvPr/>
        </p:nvSpPr>
        <p:spPr>
          <a:xfrm>
            <a:off x="667440" y="5719680"/>
            <a:ext cx="50040" cy="5004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5"/>
          <p:cNvSpPr/>
          <p:nvPr/>
        </p:nvSpPr>
        <p:spPr>
          <a:xfrm>
            <a:off x="795600" y="5682960"/>
            <a:ext cx="6720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Categories 1:N Products; Products 1:N CartItems, OrderItems and WishlistItems.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6"/>
          <p:cNvSpPr/>
          <p:nvPr/>
        </p:nvSpPr>
        <p:spPr>
          <a:xfrm>
            <a:off x="667440" y="5843160"/>
            <a:ext cx="50040" cy="5004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67"/>
          <p:cNvSpPr/>
          <p:nvPr/>
        </p:nvSpPr>
        <p:spPr>
          <a:xfrm>
            <a:off x="795600" y="5806440"/>
            <a:ext cx="6720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Orders 1:N OrderItems and Payments; DiscountCodes 1:N Orders (the order FK is optional).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68"/>
          <p:cNvSpPr/>
          <p:nvPr/>
        </p:nvSpPr>
        <p:spPr>
          <a:xfrm>
            <a:off x="667440" y="5966640"/>
            <a:ext cx="50040" cy="5004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69"/>
          <p:cNvSpPr/>
          <p:nvPr/>
        </p:nvSpPr>
        <p:spPr>
          <a:xfrm>
            <a:off x="795600" y="5929920"/>
            <a:ext cx="67208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CartItems are stored by UserId; OrderItems retain the purchase-time unit price.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371"/>
          <p:cNvSpPr/>
          <p:nvPr/>
        </p:nvSpPr>
        <p:spPr>
          <a:xfrm>
            <a:off x="7662672" y="5404104"/>
            <a:ext cx="10972" cy="585216"/>
          </a:xfrm>
          <a:prstGeom prst="rect">
            <a:avLst/>
          </a:prstGeom>
          <a:solidFill>
            <a:srgbClr val="2A3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7882127" y="5358384"/>
            <a:ext cx="36118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1">
                <a:solidFill>
                  <a:srgbClr val="C8F36D"/>
                </a:solidFill>
                <a:latin typeface="Aptos"/>
              </a:rPr>
              <a:t>TABLE COLOR KEY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7891272" y="5577840"/>
            <a:ext cx="77724" cy="77724"/>
          </a:xfrm>
          <a:prstGeom prst="rect">
            <a:avLst/>
          </a:prstGeom>
          <a:solidFill>
            <a:srgbClr val="C8F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8037575" y="5554980"/>
            <a:ext cx="3493008" cy="132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>
                <a:solidFill>
                  <a:srgbClr val="F3F6F0"/>
                </a:solidFill>
                <a:latin typeface="Aptos"/>
              </a:rPr>
              <a:t>Core records — Users, Products, Cart/Order Items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7891272" y="5737860"/>
            <a:ext cx="77724" cy="77724"/>
          </a:xfrm>
          <a:prstGeom prst="rect">
            <a:avLst/>
          </a:prstGeom>
          <a:solidFill>
            <a:srgbClr val="83C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8037575" y="5715000"/>
            <a:ext cx="3493008" cy="132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>
                <a:solidFill>
                  <a:srgbClr val="F3F6F0"/>
                </a:solidFill>
                <a:latin typeface="Aptos"/>
              </a:rPr>
              <a:t>Supporting features — Categories, Addresses, Wishlist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7891272" y="5897880"/>
            <a:ext cx="77724" cy="77724"/>
          </a:xfrm>
          <a:prstGeom prst="rect">
            <a:avLst/>
          </a:prstGeom>
          <a:solidFill>
            <a:srgbClr val="F0B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8037575" y="5875020"/>
            <a:ext cx="3493008" cy="1325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0">
                <a:solidFill>
                  <a:srgbClr val="F3F6F0"/>
                </a:solidFill>
                <a:latin typeface="Aptos"/>
              </a:rPr>
              <a:t>Checkout — Discount Codes, Orders, Payments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ARCHITECTURE / COMPONENTS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A clear path from the browser to the database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browser presents the store; the server enforces business rules; MySQL stores the source of truth.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08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11"/>
          <p:cNvSpPr/>
          <p:nvPr/>
        </p:nvSpPr>
        <p:spPr>
          <a:xfrm>
            <a:off x="594360" y="1965960"/>
            <a:ext cx="2331360" cy="2285640"/>
          </a:xfrm>
          <a:prstGeom prst="roundRect">
            <a:avLst>
              <a:gd name="adj" fmla="val 5600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2"/>
          <p:cNvSpPr/>
          <p:nvPr/>
        </p:nvSpPr>
        <p:spPr>
          <a:xfrm>
            <a:off x="831960" y="2167200"/>
            <a:ext cx="105120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3"/>
          <p:cNvSpPr/>
          <p:nvPr/>
        </p:nvSpPr>
        <p:spPr>
          <a:xfrm>
            <a:off x="887040" y="2180880"/>
            <a:ext cx="94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01  /  CLIENT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4"/>
          <p:cNvSpPr/>
          <p:nvPr/>
        </p:nvSpPr>
        <p:spPr>
          <a:xfrm>
            <a:off x="831960" y="26244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Customer browser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5"/>
          <p:cNvSpPr/>
          <p:nvPr/>
        </p:nvSpPr>
        <p:spPr>
          <a:xfrm>
            <a:off x="831960" y="3063240"/>
            <a:ext cx="182844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Razor views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HTML • CSS • JavaScript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Responsive product UI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6"/>
          <p:cNvSpPr/>
          <p:nvPr/>
        </p:nvSpPr>
        <p:spPr>
          <a:xfrm>
            <a:off x="3675960" y="1965960"/>
            <a:ext cx="3254760" cy="2285640"/>
          </a:xfrm>
          <a:prstGeom prst="roundRect">
            <a:avLst>
              <a:gd name="adj" fmla="val 5600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7"/>
          <p:cNvSpPr/>
          <p:nvPr/>
        </p:nvSpPr>
        <p:spPr>
          <a:xfrm>
            <a:off x="3931920" y="2167200"/>
            <a:ext cx="14900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8"/>
          <p:cNvSpPr/>
          <p:nvPr/>
        </p:nvSpPr>
        <p:spPr>
          <a:xfrm>
            <a:off x="3986640" y="2180880"/>
            <a:ext cx="1380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02  /  APPLICATION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9"/>
          <p:cNvSpPr/>
          <p:nvPr/>
        </p:nvSpPr>
        <p:spPr>
          <a:xfrm>
            <a:off x="3931920" y="2624400"/>
            <a:ext cx="2724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ASP.NET Core MVC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0"/>
          <p:cNvSpPr/>
          <p:nvPr/>
        </p:nvSpPr>
        <p:spPr>
          <a:xfrm>
            <a:off x="3931920" y="3054240"/>
            <a:ext cx="267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Controllers &amp; services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Server-side validation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Authentication / roles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Cart, orders and payment rules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1"/>
          <p:cNvSpPr/>
          <p:nvPr/>
        </p:nvSpPr>
        <p:spPr>
          <a:xfrm>
            <a:off x="7699320" y="1965960"/>
            <a:ext cx="2239920" cy="2285640"/>
          </a:xfrm>
          <a:prstGeom prst="roundRect">
            <a:avLst>
              <a:gd name="adj" fmla="val 5714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2"/>
          <p:cNvSpPr/>
          <p:nvPr/>
        </p:nvSpPr>
        <p:spPr>
          <a:xfrm>
            <a:off x="7946280" y="2167200"/>
            <a:ext cx="87732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3"/>
          <p:cNvSpPr/>
          <p:nvPr/>
        </p:nvSpPr>
        <p:spPr>
          <a:xfrm>
            <a:off x="8001000" y="2180880"/>
            <a:ext cx="767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03  /  DATA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4"/>
          <p:cNvSpPr/>
          <p:nvPr/>
        </p:nvSpPr>
        <p:spPr>
          <a:xfrm>
            <a:off x="7946280" y="262440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MySQL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5"/>
          <p:cNvSpPr/>
          <p:nvPr/>
        </p:nvSpPr>
        <p:spPr>
          <a:xfrm>
            <a:off x="7946280" y="3063240"/>
            <a:ext cx="1718640" cy="8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Entity Framework Core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Products • users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Carts • orders • stock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6"/>
          <p:cNvSpPr/>
          <p:nvPr/>
        </p:nvSpPr>
        <p:spPr>
          <a:xfrm>
            <a:off x="2926080" y="3035520"/>
            <a:ext cx="749520" cy="360"/>
          </a:xfrm>
          <a:prstGeom prst="line">
            <a:avLst/>
          </a:prstGeom>
          <a:ln w="15240">
            <a:solidFill>
              <a:srgbClr val="c8f3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7"/>
          <p:cNvSpPr/>
          <p:nvPr/>
        </p:nvSpPr>
        <p:spPr>
          <a:xfrm>
            <a:off x="3017520" y="2907720"/>
            <a:ext cx="56664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8"/>
          <p:cNvSpPr/>
          <p:nvPr/>
        </p:nvSpPr>
        <p:spPr>
          <a:xfrm>
            <a:off x="3044880" y="2921400"/>
            <a:ext cx="51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HTTP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9"/>
          <p:cNvSpPr/>
          <p:nvPr/>
        </p:nvSpPr>
        <p:spPr>
          <a:xfrm>
            <a:off x="6931080" y="3035520"/>
            <a:ext cx="767880" cy="360"/>
          </a:xfrm>
          <a:prstGeom prst="line">
            <a:avLst/>
          </a:prstGeom>
          <a:ln w="15240">
            <a:solidFill>
              <a:srgbClr val="c8f3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0"/>
          <p:cNvSpPr/>
          <p:nvPr/>
        </p:nvSpPr>
        <p:spPr>
          <a:xfrm>
            <a:off x="6940440" y="2907720"/>
            <a:ext cx="74952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31"/>
          <p:cNvSpPr/>
          <p:nvPr/>
        </p:nvSpPr>
        <p:spPr>
          <a:xfrm>
            <a:off x="6967800" y="2921400"/>
            <a:ext cx="69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EF CORE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2"/>
          <p:cNvSpPr/>
          <p:nvPr/>
        </p:nvSpPr>
        <p:spPr>
          <a:xfrm>
            <a:off x="4407480" y="4645080"/>
            <a:ext cx="2029680" cy="868320"/>
          </a:xfrm>
          <a:prstGeom prst="roundRect">
            <a:avLst>
              <a:gd name="adj" fmla="val 12632"/>
            </a:avLst>
          </a:prstGeom>
          <a:solidFill>
            <a:srgbClr val="202e26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3"/>
          <p:cNvSpPr/>
          <p:nvPr/>
        </p:nvSpPr>
        <p:spPr>
          <a:xfrm>
            <a:off x="4617720" y="4773240"/>
            <a:ext cx="1316520" cy="255600"/>
          </a:xfrm>
          <a:prstGeom prst="roundRect">
            <a:avLst>
              <a:gd name="adj" fmla="val 42857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4"/>
          <p:cNvSpPr/>
          <p:nvPr/>
        </p:nvSpPr>
        <p:spPr>
          <a:xfrm>
            <a:off x="4672440" y="4786920"/>
            <a:ext cx="1206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PAYMENT GATEWAY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5"/>
          <p:cNvSpPr/>
          <p:nvPr/>
        </p:nvSpPr>
        <p:spPr>
          <a:xfrm>
            <a:off x="4617720" y="5102280"/>
            <a:ext cx="1572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Stripe test mode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6"/>
          <p:cNvSpPr/>
          <p:nvPr/>
        </p:nvSpPr>
        <p:spPr>
          <a:xfrm>
            <a:off x="5303520" y="4251960"/>
            <a:ext cx="360" cy="393120"/>
          </a:xfrm>
          <a:prstGeom prst="line">
            <a:avLst/>
          </a:prstGeom>
          <a:ln w="15240">
            <a:solidFill>
              <a:srgbClr val="c8f3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7"/>
          <p:cNvSpPr/>
          <p:nvPr/>
        </p:nvSpPr>
        <p:spPr>
          <a:xfrm>
            <a:off x="4800600" y="4320720"/>
            <a:ext cx="100548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8"/>
          <p:cNvSpPr/>
          <p:nvPr/>
        </p:nvSpPr>
        <p:spPr>
          <a:xfrm>
            <a:off x="4827960" y="4334400"/>
            <a:ext cx="950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PaymentIntent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39"/>
          <p:cNvSpPr/>
          <p:nvPr/>
        </p:nvSpPr>
        <p:spPr>
          <a:xfrm flipV="1">
            <a:off x="6272640" y="4251960"/>
            <a:ext cx="360" cy="393120"/>
          </a:xfrm>
          <a:prstGeom prst="line">
            <a:avLst/>
          </a:prstGeom>
          <a:ln w="15240">
            <a:solidFill>
              <a:srgbClr val="f0b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0"/>
          <p:cNvSpPr/>
          <p:nvPr/>
        </p:nvSpPr>
        <p:spPr>
          <a:xfrm>
            <a:off x="5929920" y="4320720"/>
            <a:ext cx="68544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1"/>
          <p:cNvSpPr/>
          <p:nvPr/>
        </p:nvSpPr>
        <p:spPr>
          <a:xfrm>
            <a:off x="5957280" y="4334400"/>
            <a:ext cx="630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Webhook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42"/>
          <p:cNvSpPr/>
          <p:nvPr/>
        </p:nvSpPr>
        <p:spPr>
          <a:xfrm>
            <a:off x="594360" y="5760720"/>
            <a:ext cx="11063880" cy="392760"/>
          </a:xfrm>
          <a:prstGeom prst="roundRect">
            <a:avLst>
              <a:gd name="adj" fmla="val 20930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43"/>
          <p:cNvSpPr/>
          <p:nvPr/>
        </p:nvSpPr>
        <p:spPr>
          <a:xfrm>
            <a:off x="768240" y="587052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SECURITY RULE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44"/>
          <p:cNvSpPr/>
          <p:nvPr/>
        </p:nvSpPr>
        <p:spPr>
          <a:xfrm>
            <a:off x="2011680" y="5824800"/>
            <a:ext cx="9390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Totals and stock are recalculated on the server; admin access is checked on the server; payment status depends on a verified webhook.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5"/>
          <p:cNvSpPr/>
          <p:nvPr/>
        </p:nvSpPr>
        <p:spPr>
          <a:xfrm>
            <a:off x="7699320" y="4645080"/>
            <a:ext cx="3968280" cy="868320"/>
          </a:xfrm>
          <a:prstGeom prst="roundRect">
            <a:avLst>
              <a:gd name="adj" fmla="val 12632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46"/>
          <p:cNvSpPr/>
          <p:nvPr/>
        </p:nvSpPr>
        <p:spPr>
          <a:xfrm>
            <a:off x="7927920" y="4745880"/>
            <a:ext cx="1142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ACCESS LEVELS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7"/>
          <p:cNvSpPr/>
          <p:nvPr/>
        </p:nvSpPr>
        <p:spPr>
          <a:xfrm>
            <a:off x="7927920" y="5056560"/>
            <a:ext cx="105120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48"/>
          <p:cNvSpPr/>
          <p:nvPr/>
        </p:nvSpPr>
        <p:spPr>
          <a:xfrm>
            <a:off x="7982640" y="5070240"/>
            <a:ext cx="94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GUEST  /  BROWSE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9"/>
          <p:cNvSpPr/>
          <p:nvPr/>
        </p:nvSpPr>
        <p:spPr>
          <a:xfrm>
            <a:off x="9079920" y="5056560"/>
            <a:ext cx="10328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50"/>
          <p:cNvSpPr/>
          <p:nvPr/>
        </p:nvSpPr>
        <p:spPr>
          <a:xfrm>
            <a:off x="9135000" y="5070240"/>
            <a:ext cx="923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MEMBER  /  BUY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51"/>
          <p:cNvSpPr/>
          <p:nvPr/>
        </p:nvSpPr>
        <p:spPr>
          <a:xfrm>
            <a:off x="10213920" y="5056560"/>
            <a:ext cx="116100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2"/>
          <p:cNvSpPr/>
          <p:nvPr/>
        </p:nvSpPr>
        <p:spPr>
          <a:xfrm>
            <a:off x="10268640" y="50702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ADMIN  /  MANAGE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ARCHITECTURE / ENDPOINT SPECIFICATION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Proposed routes and access levels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Controller routes use server-side authorization; route names can be aligned to the final implementation.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09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1"/>
          <p:cNvSpPr/>
          <p:nvPr/>
        </p:nvSpPr>
        <p:spPr>
          <a:xfrm>
            <a:off x="567000" y="1673280"/>
            <a:ext cx="11063880" cy="328680"/>
          </a:xfrm>
          <a:prstGeom prst="roundRect">
            <a:avLst>
              <a:gd name="adj" fmla="val 13889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658440" y="1746360"/>
            <a:ext cx="585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METHOD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3"/>
          <p:cNvSpPr/>
          <p:nvPr/>
        </p:nvSpPr>
        <p:spPr>
          <a:xfrm>
            <a:off x="1408320" y="1746360"/>
            <a:ext cx="2761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ROUTE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4"/>
          <p:cNvSpPr/>
          <p:nvPr/>
        </p:nvSpPr>
        <p:spPr>
          <a:xfrm>
            <a:off x="4334400" y="1746360"/>
            <a:ext cx="1161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ACCESS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5"/>
          <p:cNvSpPr/>
          <p:nvPr/>
        </p:nvSpPr>
        <p:spPr>
          <a:xfrm>
            <a:off x="5660280" y="1746360"/>
            <a:ext cx="5897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7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PURPOSE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6"/>
          <p:cNvSpPr/>
          <p:nvPr/>
        </p:nvSpPr>
        <p:spPr>
          <a:xfrm>
            <a:off x="567000" y="200268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7"/>
          <p:cNvSpPr/>
          <p:nvPr/>
        </p:nvSpPr>
        <p:spPr>
          <a:xfrm>
            <a:off x="658440" y="205272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GET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8"/>
          <p:cNvSpPr/>
          <p:nvPr/>
        </p:nvSpPr>
        <p:spPr>
          <a:xfrm>
            <a:off x="1408320" y="205272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/shop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9"/>
          <p:cNvSpPr/>
          <p:nvPr/>
        </p:nvSpPr>
        <p:spPr>
          <a:xfrm>
            <a:off x="4334400" y="205272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Public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0"/>
          <p:cNvSpPr/>
          <p:nvPr/>
        </p:nvSpPr>
        <p:spPr>
          <a:xfrm>
            <a:off x="5660280" y="205272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Browse catalog, search and filter products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1"/>
          <p:cNvSpPr/>
          <p:nvPr/>
        </p:nvSpPr>
        <p:spPr>
          <a:xfrm>
            <a:off x="658440" y="237744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GET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2"/>
          <p:cNvSpPr/>
          <p:nvPr/>
        </p:nvSpPr>
        <p:spPr>
          <a:xfrm>
            <a:off x="1408320" y="237744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/shop/{id}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3"/>
          <p:cNvSpPr/>
          <p:nvPr/>
        </p:nvSpPr>
        <p:spPr>
          <a:xfrm>
            <a:off x="4334400" y="237744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Public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4"/>
          <p:cNvSpPr/>
          <p:nvPr/>
        </p:nvSpPr>
        <p:spPr>
          <a:xfrm>
            <a:off x="5660280" y="237744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View product details, price, image and stock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5"/>
          <p:cNvSpPr/>
          <p:nvPr/>
        </p:nvSpPr>
        <p:spPr>
          <a:xfrm>
            <a:off x="567000" y="265176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6"/>
          <p:cNvSpPr/>
          <p:nvPr/>
        </p:nvSpPr>
        <p:spPr>
          <a:xfrm>
            <a:off x="658440" y="270216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POST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7"/>
          <p:cNvSpPr/>
          <p:nvPr/>
        </p:nvSpPr>
        <p:spPr>
          <a:xfrm>
            <a:off x="1408320" y="270216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/account/register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8"/>
          <p:cNvSpPr/>
          <p:nvPr/>
        </p:nvSpPr>
        <p:spPr>
          <a:xfrm>
            <a:off x="4334400" y="270216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Public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9"/>
          <p:cNvSpPr/>
          <p:nvPr/>
        </p:nvSpPr>
        <p:spPr>
          <a:xfrm>
            <a:off x="5660280" y="270216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Create a customer account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0"/>
          <p:cNvSpPr/>
          <p:nvPr/>
        </p:nvSpPr>
        <p:spPr>
          <a:xfrm>
            <a:off x="658440" y="302652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POST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1"/>
          <p:cNvSpPr/>
          <p:nvPr/>
        </p:nvSpPr>
        <p:spPr>
          <a:xfrm>
            <a:off x="1408320" y="302652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/account/login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2"/>
          <p:cNvSpPr/>
          <p:nvPr/>
        </p:nvSpPr>
        <p:spPr>
          <a:xfrm>
            <a:off x="4334400" y="302652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Public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3"/>
          <p:cNvSpPr/>
          <p:nvPr/>
        </p:nvSpPr>
        <p:spPr>
          <a:xfrm>
            <a:off x="5660280" y="302652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Authenticate and start a session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4"/>
          <p:cNvSpPr/>
          <p:nvPr/>
        </p:nvSpPr>
        <p:spPr>
          <a:xfrm>
            <a:off x="567000" y="330084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5"/>
          <p:cNvSpPr/>
          <p:nvPr/>
        </p:nvSpPr>
        <p:spPr>
          <a:xfrm>
            <a:off x="658440" y="335124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GET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6"/>
          <p:cNvSpPr/>
          <p:nvPr/>
        </p:nvSpPr>
        <p:spPr>
          <a:xfrm>
            <a:off x="1408320" y="335124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/cart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37"/>
          <p:cNvSpPr/>
          <p:nvPr/>
        </p:nvSpPr>
        <p:spPr>
          <a:xfrm>
            <a:off x="4334400" y="335124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Member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8"/>
          <p:cNvSpPr/>
          <p:nvPr/>
        </p:nvSpPr>
        <p:spPr>
          <a:xfrm>
            <a:off x="5660280" y="335124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View current cart and server-calculated total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9"/>
          <p:cNvSpPr/>
          <p:nvPr/>
        </p:nvSpPr>
        <p:spPr>
          <a:xfrm>
            <a:off x="658440" y="367596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POST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40"/>
          <p:cNvSpPr/>
          <p:nvPr/>
        </p:nvSpPr>
        <p:spPr>
          <a:xfrm>
            <a:off x="1408320" y="367596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/cart/items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1"/>
          <p:cNvSpPr/>
          <p:nvPr/>
        </p:nvSpPr>
        <p:spPr>
          <a:xfrm>
            <a:off x="4334400" y="367596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Member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2"/>
          <p:cNvSpPr/>
          <p:nvPr/>
        </p:nvSpPr>
        <p:spPr>
          <a:xfrm>
            <a:off x="5660280" y="367596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Add a product to the cart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43"/>
          <p:cNvSpPr/>
          <p:nvPr/>
        </p:nvSpPr>
        <p:spPr>
          <a:xfrm>
            <a:off x="567000" y="395028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4"/>
          <p:cNvSpPr/>
          <p:nvPr/>
        </p:nvSpPr>
        <p:spPr>
          <a:xfrm>
            <a:off x="658440" y="400068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PATCH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5"/>
          <p:cNvSpPr/>
          <p:nvPr/>
        </p:nvSpPr>
        <p:spPr>
          <a:xfrm>
            <a:off x="1408320" y="400068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/cart/items/{id}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6"/>
          <p:cNvSpPr/>
          <p:nvPr/>
        </p:nvSpPr>
        <p:spPr>
          <a:xfrm>
            <a:off x="4334400" y="400068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Member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7"/>
          <p:cNvSpPr/>
          <p:nvPr/>
        </p:nvSpPr>
        <p:spPr>
          <a:xfrm>
            <a:off x="5660280" y="400068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Update quantity after stock validation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8"/>
          <p:cNvSpPr/>
          <p:nvPr/>
        </p:nvSpPr>
        <p:spPr>
          <a:xfrm>
            <a:off x="658440" y="432504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17878"/>
                </a:solidFill>
                <a:effectLst/>
                <a:uFillTx/>
                <a:latin typeface="Aptos"/>
                <a:ea typeface="Aptos"/>
              </a:rPr>
              <a:t>DELETE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49"/>
          <p:cNvSpPr/>
          <p:nvPr/>
        </p:nvSpPr>
        <p:spPr>
          <a:xfrm>
            <a:off x="1408320" y="432504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/cart/items/{id}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50"/>
          <p:cNvSpPr/>
          <p:nvPr/>
        </p:nvSpPr>
        <p:spPr>
          <a:xfrm>
            <a:off x="4334400" y="432504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Member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1"/>
          <p:cNvSpPr/>
          <p:nvPr/>
        </p:nvSpPr>
        <p:spPr>
          <a:xfrm>
            <a:off x="5660280" y="432504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Remove a cart item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52"/>
          <p:cNvSpPr/>
          <p:nvPr/>
        </p:nvSpPr>
        <p:spPr>
          <a:xfrm>
            <a:off x="567000" y="459936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53"/>
          <p:cNvSpPr/>
          <p:nvPr/>
        </p:nvSpPr>
        <p:spPr>
          <a:xfrm>
            <a:off x="658440" y="464976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POST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4"/>
          <p:cNvSpPr/>
          <p:nvPr/>
        </p:nvSpPr>
        <p:spPr>
          <a:xfrm>
            <a:off x="1408320" y="464976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/checkout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55"/>
          <p:cNvSpPr/>
          <p:nvPr/>
        </p:nvSpPr>
        <p:spPr>
          <a:xfrm>
            <a:off x="4334400" y="464976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Member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56"/>
          <p:cNvSpPr/>
          <p:nvPr/>
        </p:nvSpPr>
        <p:spPr>
          <a:xfrm>
            <a:off x="5660280" y="464976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Validate address and delivery; create unpaid order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57"/>
          <p:cNvSpPr/>
          <p:nvPr/>
        </p:nvSpPr>
        <p:spPr>
          <a:xfrm>
            <a:off x="658440" y="497448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POST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8"/>
          <p:cNvSpPr/>
          <p:nvPr/>
        </p:nvSpPr>
        <p:spPr>
          <a:xfrm>
            <a:off x="1408320" y="497448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/payments/webhook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9"/>
          <p:cNvSpPr/>
          <p:nvPr/>
        </p:nvSpPr>
        <p:spPr>
          <a:xfrm>
            <a:off x="4334400" y="497448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Stripe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60"/>
          <p:cNvSpPr/>
          <p:nvPr/>
        </p:nvSpPr>
        <p:spPr>
          <a:xfrm>
            <a:off x="5660280" y="497448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Verify signature and process payment event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61"/>
          <p:cNvSpPr/>
          <p:nvPr/>
        </p:nvSpPr>
        <p:spPr>
          <a:xfrm>
            <a:off x="567000" y="524880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62"/>
          <p:cNvSpPr/>
          <p:nvPr/>
        </p:nvSpPr>
        <p:spPr>
          <a:xfrm>
            <a:off x="658440" y="529884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GET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63"/>
          <p:cNvSpPr/>
          <p:nvPr/>
        </p:nvSpPr>
        <p:spPr>
          <a:xfrm>
            <a:off x="1408320" y="529884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/account/orders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64"/>
          <p:cNvSpPr/>
          <p:nvPr/>
        </p:nvSpPr>
        <p:spPr>
          <a:xfrm>
            <a:off x="4334400" y="529884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Member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65"/>
          <p:cNvSpPr/>
          <p:nvPr/>
        </p:nvSpPr>
        <p:spPr>
          <a:xfrm>
            <a:off x="5660280" y="529884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Show order history and status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6"/>
          <p:cNvSpPr/>
          <p:nvPr/>
        </p:nvSpPr>
        <p:spPr>
          <a:xfrm>
            <a:off x="658440" y="562356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POST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7"/>
          <p:cNvSpPr/>
          <p:nvPr/>
        </p:nvSpPr>
        <p:spPr>
          <a:xfrm>
            <a:off x="1408320" y="562356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/admin/products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68"/>
          <p:cNvSpPr/>
          <p:nvPr/>
        </p:nvSpPr>
        <p:spPr>
          <a:xfrm>
            <a:off x="4334400" y="562356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Admin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69"/>
          <p:cNvSpPr/>
          <p:nvPr/>
        </p:nvSpPr>
        <p:spPr>
          <a:xfrm>
            <a:off x="5660280" y="562356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Create a product; protect admin-only mutations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70"/>
          <p:cNvSpPr/>
          <p:nvPr/>
        </p:nvSpPr>
        <p:spPr>
          <a:xfrm>
            <a:off x="567000" y="5897880"/>
            <a:ext cx="11063880" cy="324360"/>
          </a:xfrm>
          <a:prstGeom prst="roundRect">
            <a:avLst>
              <a:gd name="adj" fmla="val 5634"/>
            </a:avLst>
          </a:prstGeom>
          <a:solidFill>
            <a:srgbClr val="141d18"/>
          </a:solidFill>
          <a:ln w="10160">
            <a:solidFill>
              <a:srgbClr val="141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71"/>
          <p:cNvSpPr/>
          <p:nvPr/>
        </p:nvSpPr>
        <p:spPr>
          <a:xfrm>
            <a:off x="658440" y="5948280"/>
            <a:ext cx="585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PATCH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72"/>
          <p:cNvSpPr/>
          <p:nvPr/>
        </p:nvSpPr>
        <p:spPr>
          <a:xfrm>
            <a:off x="1408320" y="5948280"/>
            <a:ext cx="27612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/admin/orders/{id}/status</a:t>
            </a:r>
            <a:endParaRPr b="0" lang="en-US" sz="8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73"/>
          <p:cNvSpPr/>
          <p:nvPr/>
        </p:nvSpPr>
        <p:spPr>
          <a:xfrm>
            <a:off x="4334400" y="5948280"/>
            <a:ext cx="116100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Admin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74"/>
          <p:cNvSpPr/>
          <p:nvPr/>
        </p:nvSpPr>
        <p:spPr>
          <a:xfrm>
            <a:off x="5660280" y="5948280"/>
            <a:ext cx="5897520" cy="2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Move order to an allowed status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75"/>
          <p:cNvSpPr/>
          <p:nvPr/>
        </p:nvSpPr>
        <p:spPr>
          <a:xfrm>
            <a:off x="567000" y="6336720"/>
            <a:ext cx="11063880" cy="36360"/>
          </a:xfrm>
          <a:prstGeom prst="roundRect">
            <a:avLst>
              <a:gd name="adj" fmla="val 2500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3680" bIns="-136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CRITICAL FLOW / PAYMENT SEQUENCE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Payment confirmation must be server-verified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server recalculates the amount and trusts only a verified Stripe webhook — never a browser redirect.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10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1"/>
          <p:cNvSpPr/>
          <p:nvPr/>
        </p:nvSpPr>
        <p:spPr>
          <a:xfrm>
            <a:off x="567000" y="1746360"/>
            <a:ext cx="2431800" cy="502560"/>
          </a:xfrm>
          <a:prstGeom prst="roundRect">
            <a:avLst>
              <a:gd name="adj" fmla="val 18182"/>
            </a:avLst>
          </a:prstGeom>
          <a:solidFill>
            <a:srgbClr val="202e26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2"/>
          <p:cNvSpPr/>
          <p:nvPr/>
        </p:nvSpPr>
        <p:spPr>
          <a:xfrm>
            <a:off x="694800" y="1828800"/>
            <a:ext cx="2175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71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CUSTOMER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3"/>
          <p:cNvSpPr/>
          <p:nvPr/>
        </p:nvSpPr>
        <p:spPr>
          <a:xfrm>
            <a:off x="694800" y="1993320"/>
            <a:ext cx="2175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1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Browser / cart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4"/>
          <p:cNvSpPr/>
          <p:nvPr/>
        </p:nvSpPr>
        <p:spPr>
          <a:xfrm>
            <a:off x="1783080" y="2267640"/>
            <a:ext cx="360" cy="3017520"/>
          </a:xfrm>
          <a:prstGeom prst="line">
            <a:avLst/>
          </a:prstGeom>
          <a:ln w="12700">
            <a:solidFill>
              <a:srgbClr val="2a393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5"/>
          <p:cNvSpPr/>
          <p:nvPr/>
        </p:nvSpPr>
        <p:spPr>
          <a:xfrm>
            <a:off x="3273480" y="1746360"/>
            <a:ext cx="2431800" cy="502560"/>
          </a:xfrm>
          <a:prstGeom prst="roundRect">
            <a:avLst>
              <a:gd name="adj" fmla="val 18182"/>
            </a:avLst>
          </a:prstGeom>
          <a:solidFill>
            <a:srgbClr val="202e26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6"/>
          <p:cNvSpPr/>
          <p:nvPr/>
        </p:nvSpPr>
        <p:spPr>
          <a:xfrm>
            <a:off x="3401640" y="1828800"/>
            <a:ext cx="2175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71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APPLICATION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7"/>
          <p:cNvSpPr/>
          <p:nvPr/>
        </p:nvSpPr>
        <p:spPr>
          <a:xfrm>
            <a:off x="3401640" y="1993320"/>
            <a:ext cx="2175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1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ASP.NET Core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8"/>
          <p:cNvSpPr/>
          <p:nvPr/>
        </p:nvSpPr>
        <p:spPr>
          <a:xfrm>
            <a:off x="4489560" y="2267640"/>
            <a:ext cx="360" cy="3017520"/>
          </a:xfrm>
          <a:prstGeom prst="line">
            <a:avLst/>
          </a:prstGeom>
          <a:ln w="12700">
            <a:solidFill>
              <a:srgbClr val="2a393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9"/>
          <p:cNvSpPr/>
          <p:nvPr/>
        </p:nvSpPr>
        <p:spPr>
          <a:xfrm>
            <a:off x="5980320" y="1746360"/>
            <a:ext cx="2431800" cy="502560"/>
          </a:xfrm>
          <a:prstGeom prst="roundRect">
            <a:avLst>
              <a:gd name="adj" fmla="val 18182"/>
            </a:avLst>
          </a:prstGeom>
          <a:solidFill>
            <a:srgbClr val="202e26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0"/>
          <p:cNvSpPr/>
          <p:nvPr/>
        </p:nvSpPr>
        <p:spPr>
          <a:xfrm>
            <a:off x="6108120" y="1828800"/>
            <a:ext cx="2175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71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PAYMENT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1"/>
          <p:cNvSpPr/>
          <p:nvPr/>
        </p:nvSpPr>
        <p:spPr>
          <a:xfrm>
            <a:off x="6108120" y="1993320"/>
            <a:ext cx="2175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1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Stripe sandbox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2"/>
          <p:cNvSpPr/>
          <p:nvPr/>
        </p:nvSpPr>
        <p:spPr>
          <a:xfrm>
            <a:off x="7196040" y="2267640"/>
            <a:ext cx="360" cy="3017520"/>
          </a:xfrm>
          <a:prstGeom prst="line">
            <a:avLst/>
          </a:prstGeom>
          <a:ln w="12700">
            <a:solidFill>
              <a:srgbClr val="2a393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3"/>
          <p:cNvSpPr/>
          <p:nvPr/>
        </p:nvSpPr>
        <p:spPr>
          <a:xfrm>
            <a:off x="8686800" y="1746360"/>
            <a:ext cx="2431800" cy="502560"/>
          </a:xfrm>
          <a:prstGeom prst="roundRect">
            <a:avLst>
              <a:gd name="adj" fmla="val 18182"/>
            </a:avLst>
          </a:prstGeom>
          <a:solidFill>
            <a:srgbClr val="202e26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4"/>
          <p:cNvSpPr/>
          <p:nvPr/>
        </p:nvSpPr>
        <p:spPr>
          <a:xfrm>
            <a:off x="8814960" y="1828800"/>
            <a:ext cx="2175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71" strike="noStrike" u="none">
                <a:solidFill>
                  <a:srgbClr val="83cfc2"/>
                </a:solidFill>
                <a:effectLst/>
                <a:uFillTx/>
                <a:latin typeface="Aptos"/>
                <a:ea typeface="Aptos"/>
              </a:rPr>
              <a:t>DATABASE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5"/>
          <p:cNvSpPr/>
          <p:nvPr/>
        </p:nvSpPr>
        <p:spPr>
          <a:xfrm>
            <a:off x="8814960" y="1993320"/>
            <a:ext cx="21758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1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MySQL</a:t>
            </a:r>
            <a:endParaRPr b="0" lang="en-US" sz="9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6"/>
          <p:cNvSpPr/>
          <p:nvPr/>
        </p:nvSpPr>
        <p:spPr>
          <a:xfrm>
            <a:off x="9902880" y="2267640"/>
            <a:ext cx="360" cy="3017520"/>
          </a:xfrm>
          <a:prstGeom prst="line">
            <a:avLst/>
          </a:prstGeom>
          <a:ln w="12700">
            <a:solidFill>
              <a:srgbClr val="2a393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7"/>
          <p:cNvSpPr/>
          <p:nvPr/>
        </p:nvSpPr>
        <p:spPr>
          <a:xfrm>
            <a:off x="1783080" y="2541960"/>
            <a:ext cx="2706480" cy="360"/>
          </a:xfrm>
          <a:prstGeom prst="line">
            <a:avLst/>
          </a:prstGeom>
          <a:ln w="15240">
            <a:solidFill>
              <a:srgbClr val="c8f3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8"/>
          <p:cNvSpPr/>
          <p:nvPr/>
        </p:nvSpPr>
        <p:spPr>
          <a:xfrm>
            <a:off x="2505600" y="2414160"/>
            <a:ext cx="126144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9"/>
          <p:cNvSpPr/>
          <p:nvPr/>
        </p:nvSpPr>
        <p:spPr>
          <a:xfrm>
            <a:off x="2532960" y="2427840"/>
            <a:ext cx="1206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1  Submit checkout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30"/>
          <p:cNvSpPr/>
          <p:nvPr/>
        </p:nvSpPr>
        <p:spPr>
          <a:xfrm>
            <a:off x="4489560" y="2907720"/>
            <a:ext cx="5413320" cy="360"/>
          </a:xfrm>
          <a:prstGeom prst="line">
            <a:avLst/>
          </a:prstGeom>
          <a:ln w="15240">
            <a:solidFill>
              <a:srgbClr val="83cf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1"/>
          <p:cNvSpPr/>
          <p:nvPr/>
        </p:nvSpPr>
        <p:spPr>
          <a:xfrm>
            <a:off x="6464880" y="2779920"/>
            <a:ext cx="146268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32"/>
          <p:cNvSpPr/>
          <p:nvPr/>
        </p:nvSpPr>
        <p:spPr>
          <a:xfrm>
            <a:off x="6492240" y="2793600"/>
            <a:ext cx="1407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2  Save Unpaid order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3"/>
          <p:cNvSpPr/>
          <p:nvPr/>
        </p:nvSpPr>
        <p:spPr>
          <a:xfrm>
            <a:off x="4489560" y="3282480"/>
            <a:ext cx="2706480" cy="360"/>
          </a:xfrm>
          <a:prstGeom prst="line">
            <a:avLst/>
          </a:prstGeom>
          <a:ln w="15240">
            <a:solidFill>
              <a:srgbClr val="c8f3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4"/>
          <p:cNvSpPr/>
          <p:nvPr/>
        </p:nvSpPr>
        <p:spPr>
          <a:xfrm>
            <a:off x="4654440" y="3154680"/>
            <a:ext cx="237708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35"/>
          <p:cNvSpPr/>
          <p:nvPr/>
        </p:nvSpPr>
        <p:spPr>
          <a:xfrm>
            <a:off x="4681800" y="3168360"/>
            <a:ext cx="23223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3  Create PaymentIntent (server amount)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6"/>
          <p:cNvSpPr/>
          <p:nvPr/>
        </p:nvSpPr>
        <p:spPr>
          <a:xfrm>
            <a:off x="1783080" y="3657600"/>
            <a:ext cx="5412960" cy="360"/>
          </a:xfrm>
          <a:prstGeom prst="line">
            <a:avLst/>
          </a:prstGeom>
          <a:ln w="15240">
            <a:solidFill>
              <a:srgbClr val="f0b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37"/>
          <p:cNvSpPr/>
          <p:nvPr/>
        </p:nvSpPr>
        <p:spPr>
          <a:xfrm>
            <a:off x="3369600" y="3529440"/>
            <a:ext cx="223992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8"/>
          <p:cNvSpPr/>
          <p:nvPr/>
        </p:nvSpPr>
        <p:spPr>
          <a:xfrm>
            <a:off x="3396960" y="3543480"/>
            <a:ext cx="2185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4  Confirm test payment in Stripe UI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39"/>
          <p:cNvSpPr/>
          <p:nvPr/>
        </p:nvSpPr>
        <p:spPr>
          <a:xfrm flipH="1">
            <a:off x="4489560" y="4032360"/>
            <a:ext cx="2706480" cy="360"/>
          </a:xfrm>
          <a:prstGeom prst="line">
            <a:avLst/>
          </a:prstGeom>
          <a:ln w="15240">
            <a:solidFill>
              <a:srgbClr val="f0b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40"/>
          <p:cNvSpPr/>
          <p:nvPr/>
        </p:nvSpPr>
        <p:spPr>
          <a:xfrm>
            <a:off x="4631400" y="3904560"/>
            <a:ext cx="242280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1"/>
          <p:cNvSpPr/>
          <p:nvPr/>
        </p:nvSpPr>
        <p:spPr>
          <a:xfrm>
            <a:off x="4658760" y="3918240"/>
            <a:ext cx="2368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5  Webhook: payment_intent.succeeded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2"/>
          <p:cNvSpPr/>
          <p:nvPr/>
        </p:nvSpPr>
        <p:spPr>
          <a:xfrm>
            <a:off x="4489560" y="4407120"/>
            <a:ext cx="5413320" cy="360"/>
          </a:xfrm>
          <a:prstGeom prst="line">
            <a:avLst/>
          </a:prstGeom>
          <a:ln w="15240">
            <a:solidFill>
              <a:srgbClr val="c8f36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3"/>
          <p:cNvSpPr/>
          <p:nvPr/>
        </p:nvSpPr>
        <p:spPr>
          <a:xfrm>
            <a:off x="5961960" y="4279320"/>
            <a:ext cx="246852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4"/>
          <p:cNvSpPr/>
          <p:nvPr/>
        </p:nvSpPr>
        <p:spPr>
          <a:xfrm>
            <a:off x="5989320" y="4293000"/>
            <a:ext cx="2413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6  Idempotent update: Paid + stock decrement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45"/>
          <p:cNvSpPr/>
          <p:nvPr/>
        </p:nvSpPr>
        <p:spPr>
          <a:xfrm flipH="1">
            <a:off x="1782720" y="4782240"/>
            <a:ext cx="2706840" cy="360"/>
          </a:xfrm>
          <a:prstGeom prst="line">
            <a:avLst/>
          </a:prstGeom>
          <a:ln w="15240">
            <a:solidFill>
              <a:srgbClr val="83cfc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46"/>
          <p:cNvSpPr/>
          <p:nvPr/>
        </p:nvSpPr>
        <p:spPr>
          <a:xfrm>
            <a:off x="2030040" y="4654440"/>
            <a:ext cx="2212560" cy="228240"/>
          </a:xfrm>
          <a:prstGeom prst="roundRect">
            <a:avLst>
              <a:gd name="adj" fmla="val 8000"/>
            </a:avLst>
          </a:prstGeom>
          <a:solidFill>
            <a:srgbClr val="0a100d"/>
          </a:solidFill>
          <a:ln w="10160">
            <a:solidFill>
              <a:srgbClr val="0a100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47"/>
          <p:cNvSpPr/>
          <p:nvPr/>
        </p:nvSpPr>
        <p:spPr>
          <a:xfrm>
            <a:off x="2057400" y="4668120"/>
            <a:ext cx="2157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7  Show confirmation + order number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48"/>
          <p:cNvSpPr/>
          <p:nvPr/>
        </p:nvSpPr>
        <p:spPr>
          <a:xfrm>
            <a:off x="567000" y="5431680"/>
            <a:ext cx="11063880" cy="676440"/>
          </a:xfrm>
          <a:prstGeom prst="roundRect">
            <a:avLst>
              <a:gd name="adj" fmla="val 13514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49"/>
          <p:cNvSpPr/>
          <p:nvPr/>
        </p:nvSpPr>
        <p:spPr>
          <a:xfrm>
            <a:off x="768240" y="5641920"/>
            <a:ext cx="112428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50"/>
          <p:cNvSpPr/>
          <p:nvPr/>
        </p:nvSpPr>
        <p:spPr>
          <a:xfrm>
            <a:off x="822960" y="5655600"/>
            <a:ext cx="101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SERVER CHECKS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51"/>
          <p:cNvSpPr/>
          <p:nvPr/>
        </p:nvSpPr>
        <p:spPr>
          <a:xfrm>
            <a:off x="2048400" y="5523120"/>
            <a:ext cx="9280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Verify the Stripe-Signature and process each event only once before changing order or stock. Failed/abandoned payments stay Unpaid; stock is unchanged. Cancelling a paid order restores stock.</a:t>
            </a:r>
            <a:endParaRPr b="0" lang="en-US" sz="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USER INTERFACE / WIREFRAMES 1 OF 2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Catalog and product detail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Low-fidelity layouts for the two pages customers use to discover and evaluate items.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11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1"/>
          <p:cNvSpPr/>
          <p:nvPr/>
        </p:nvSpPr>
        <p:spPr>
          <a:xfrm>
            <a:off x="567000" y="1700640"/>
            <a:ext cx="5714640" cy="4416120"/>
          </a:xfrm>
          <a:prstGeom prst="roundRect">
            <a:avLst>
              <a:gd name="adj" fmla="val 1656"/>
            </a:avLst>
          </a:prstGeom>
          <a:solidFill>
            <a:srgbClr val="f1f4ec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2"/>
          <p:cNvSpPr/>
          <p:nvPr/>
        </p:nvSpPr>
        <p:spPr>
          <a:xfrm>
            <a:off x="567000" y="1700640"/>
            <a:ext cx="5714640" cy="282960"/>
          </a:xfrm>
          <a:prstGeom prst="roundRect">
            <a:avLst>
              <a:gd name="adj" fmla="val 22581"/>
            </a:avLst>
          </a:prstGeom>
          <a:solidFill>
            <a:srgbClr val="19231d"/>
          </a:solidFill>
          <a:ln w="10160">
            <a:solidFill>
              <a:srgbClr val="19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13"/>
          <p:cNvSpPr/>
          <p:nvPr/>
        </p:nvSpPr>
        <p:spPr>
          <a:xfrm>
            <a:off x="694800" y="1801440"/>
            <a:ext cx="63720" cy="63720"/>
          </a:xfrm>
          <a:prstGeom prst="ellipse">
            <a:avLst/>
          </a:prstGeom>
          <a:solidFill>
            <a:srgbClr val="e77c72"/>
          </a:solidFill>
          <a:ln w="12700">
            <a:solidFill>
              <a:srgbClr val="e77c7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4"/>
          <p:cNvSpPr/>
          <p:nvPr/>
        </p:nvSpPr>
        <p:spPr>
          <a:xfrm>
            <a:off x="804600" y="1801440"/>
            <a:ext cx="63720" cy="63720"/>
          </a:xfrm>
          <a:prstGeom prst="ellipse">
            <a:avLst/>
          </a:prstGeom>
          <a:solidFill>
            <a:srgbClr val="e4bb6d"/>
          </a:solidFill>
          <a:ln w="12700">
            <a:solidFill>
              <a:srgbClr val="e4bb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5"/>
          <p:cNvSpPr/>
          <p:nvPr/>
        </p:nvSpPr>
        <p:spPr>
          <a:xfrm>
            <a:off x="914400" y="1801440"/>
            <a:ext cx="63720" cy="6372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6"/>
          <p:cNvSpPr/>
          <p:nvPr/>
        </p:nvSpPr>
        <p:spPr>
          <a:xfrm>
            <a:off x="1097280" y="1751040"/>
            <a:ext cx="5074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e4eae2"/>
                </a:solidFill>
                <a:effectLst/>
                <a:uFillTx/>
                <a:latin typeface="Aptos"/>
                <a:ea typeface="Aptos"/>
              </a:rPr>
              <a:t>lift-aesthetics.local/shop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17"/>
          <p:cNvSpPr/>
          <p:nvPr/>
        </p:nvSpPr>
        <p:spPr>
          <a:xfrm>
            <a:off x="704160" y="2094120"/>
            <a:ext cx="5440320" cy="383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18"/>
          <p:cNvSpPr/>
          <p:nvPr/>
        </p:nvSpPr>
        <p:spPr>
          <a:xfrm>
            <a:off x="831960" y="217620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LIFT &amp; AESTHETICS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9"/>
          <p:cNvSpPr/>
          <p:nvPr/>
        </p:nvSpPr>
        <p:spPr>
          <a:xfrm>
            <a:off x="2468880" y="2176200"/>
            <a:ext cx="2358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4b5a4f"/>
                </a:solidFill>
                <a:effectLst/>
                <a:uFillTx/>
                <a:latin typeface="Aptos"/>
                <a:ea typeface="Aptos"/>
              </a:rPr>
              <a:t>Shop   Supplements   Clothing   Equipment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20"/>
          <p:cNvSpPr/>
          <p:nvPr/>
        </p:nvSpPr>
        <p:spPr>
          <a:xfrm>
            <a:off x="5321880" y="2148840"/>
            <a:ext cx="658080" cy="246600"/>
          </a:xfrm>
          <a:prstGeom prst="roundRect">
            <a:avLst>
              <a:gd name="adj" fmla="val 11111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21"/>
          <p:cNvSpPr/>
          <p:nvPr/>
        </p:nvSpPr>
        <p:spPr>
          <a:xfrm>
            <a:off x="5367600" y="2189880"/>
            <a:ext cx="5666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Sign in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22"/>
          <p:cNvSpPr/>
          <p:nvPr/>
        </p:nvSpPr>
        <p:spPr>
          <a:xfrm>
            <a:off x="822960" y="2606040"/>
            <a:ext cx="4023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1812"/>
                </a:solidFill>
                <a:effectLst/>
                <a:uFillTx/>
                <a:latin typeface="Aptos Display"/>
                <a:ea typeface="Aptos Display"/>
              </a:rPr>
              <a:t>Gym essentials, all in one place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23"/>
          <p:cNvSpPr/>
          <p:nvPr/>
        </p:nvSpPr>
        <p:spPr>
          <a:xfrm>
            <a:off x="822960" y="2926080"/>
            <a:ext cx="4114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5f6d62"/>
                </a:solidFill>
                <a:effectLst/>
                <a:uFillTx/>
                <a:latin typeface="Aptos"/>
                <a:ea typeface="Aptos"/>
              </a:rPr>
              <a:t>Find what you need for your next session.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24"/>
          <p:cNvSpPr/>
          <p:nvPr/>
        </p:nvSpPr>
        <p:spPr>
          <a:xfrm>
            <a:off x="822960" y="3227760"/>
            <a:ext cx="3291480" cy="3470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c9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5"/>
          <p:cNvSpPr/>
          <p:nvPr/>
        </p:nvSpPr>
        <p:spPr>
          <a:xfrm>
            <a:off x="978480" y="3300840"/>
            <a:ext cx="2834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trike="noStrike" u="none">
                <a:solidFill>
                  <a:srgbClr val="7b877d"/>
                </a:solidFill>
                <a:effectLst/>
                <a:uFillTx/>
                <a:latin typeface="Aptos"/>
                <a:ea typeface="Aptos"/>
              </a:rPr>
              <a:t>Search products…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26"/>
          <p:cNvSpPr/>
          <p:nvPr/>
        </p:nvSpPr>
        <p:spPr>
          <a:xfrm>
            <a:off x="4206240" y="3227760"/>
            <a:ext cx="1279800" cy="347040"/>
          </a:xfrm>
          <a:prstGeom prst="roundRect">
            <a:avLst>
              <a:gd name="adj" fmla="val 10526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27"/>
          <p:cNvSpPr/>
          <p:nvPr/>
        </p:nvSpPr>
        <p:spPr>
          <a:xfrm>
            <a:off x="4224600" y="3300840"/>
            <a:ext cx="1234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Search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28"/>
          <p:cNvSpPr/>
          <p:nvPr/>
        </p:nvSpPr>
        <p:spPr>
          <a:xfrm>
            <a:off x="822960" y="3675960"/>
            <a:ext cx="438480" cy="246600"/>
          </a:xfrm>
          <a:prstGeom prst="roundRect">
            <a:avLst>
              <a:gd name="adj" fmla="val 2963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9"/>
          <p:cNvSpPr/>
          <p:nvPr/>
        </p:nvSpPr>
        <p:spPr>
          <a:xfrm>
            <a:off x="859680" y="3726360"/>
            <a:ext cx="3654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All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30"/>
          <p:cNvSpPr/>
          <p:nvPr/>
        </p:nvSpPr>
        <p:spPr>
          <a:xfrm>
            <a:off x="1371600" y="3675960"/>
            <a:ext cx="968760" cy="2466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160">
            <a:solidFill>
              <a:srgbClr val="d6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31"/>
          <p:cNvSpPr/>
          <p:nvPr/>
        </p:nvSpPr>
        <p:spPr>
          <a:xfrm>
            <a:off x="1408320" y="3726360"/>
            <a:ext cx="8956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Supplements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32"/>
          <p:cNvSpPr/>
          <p:nvPr/>
        </p:nvSpPr>
        <p:spPr>
          <a:xfrm>
            <a:off x="2450520" y="3675960"/>
            <a:ext cx="740160" cy="2466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160">
            <a:solidFill>
              <a:srgbClr val="d6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33"/>
          <p:cNvSpPr/>
          <p:nvPr/>
        </p:nvSpPr>
        <p:spPr>
          <a:xfrm>
            <a:off x="2487240" y="3726360"/>
            <a:ext cx="6670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Clothing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34"/>
          <p:cNvSpPr/>
          <p:nvPr/>
        </p:nvSpPr>
        <p:spPr>
          <a:xfrm>
            <a:off x="3300840" y="3675960"/>
            <a:ext cx="840960" cy="2466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160">
            <a:solidFill>
              <a:srgbClr val="d6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35"/>
          <p:cNvSpPr/>
          <p:nvPr/>
        </p:nvSpPr>
        <p:spPr>
          <a:xfrm>
            <a:off x="3337560" y="3726360"/>
            <a:ext cx="7678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Equipment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36"/>
          <p:cNvSpPr/>
          <p:nvPr/>
        </p:nvSpPr>
        <p:spPr>
          <a:xfrm>
            <a:off x="4251960" y="3675960"/>
            <a:ext cx="877320" cy="246600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160">
            <a:solidFill>
              <a:srgbClr val="d6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37"/>
          <p:cNvSpPr/>
          <p:nvPr/>
        </p:nvSpPr>
        <p:spPr>
          <a:xfrm>
            <a:off x="4288680" y="3726360"/>
            <a:ext cx="8042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Accessories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38"/>
          <p:cNvSpPr/>
          <p:nvPr/>
        </p:nvSpPr>
        <p:spPr>
          <a:xfrm>
            <a:off x="822960" y="3968640"/>
            <a:ext cx="712800" cy="219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c9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39"/>
          <p:cNvSpPr/>
          <p:nvPr/>
        </p:nvSpPr>
        <p:spPr>
          <a:xfrm>
            <a:off x="896040" y="4014360"/>
            <a:ext cx="566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7b877d"/>
                </a:solidFill>
                <a:effectLst/>
                <a:uFillTx/>
                <a:latin typeface="Aptos"/>
                <a:ea typeface="Aptos"/>
              </a:rPr>
              <a:t>Min LEI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40"/>
          <p:cNvSpPr/>
          <p:nvPr/>
        </p:nvSpPr>
        <p:spPr>
          <a:xfrm>
            <a:off x="1609200" y="3968640"/>
            <a:ext cx="712800" cy="219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c9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41"/>
          <p:cNvSpPr/>
          <p:nvPr/>
        </p:nvSpPr>
        <p:spPr>
          <a:xfrm>
            <a:off x="1682640" y="4014360"/>
            <a:ext cx="566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7b877d"/>
                </a:solidFill>
                <a:effectLst/>
                <a:uFillTx/>
                <a:latin typeface="Aptos"/>
                <a:ea typeface="Aptos"/>
              </a:rPr>
              <a:t>Max LEI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42"/>
          <p:cNvSpPr/>
          <p:nvPr/>
        </p:nvSpPr>
        <p:spPr>
          <a:xfrm>
            <a:off x="2395800" y="3968640"/>
            <a:ext cx="941400" cy="219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c9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43"/>
          <p:cNvSpPr/>
          <p:nvPr/>
        </p:nvSpPr>
        <p:spPr>
          <a:xfrm>
            <a:off x="2468880" y="4014360"/>
            <a:ext cx="8042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4b5a4f"/>
                </a:solidFill>
                <a:effectLst/>
                <a:uFillTx/>
                <a:latin typeface="Aptos"/>
                <a:ea typeface="Aptos"/>
              </a:rPr>
              <a:t>[x] In stock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44"/>
          <p:cNvSpPr/>
          <p:nvPr/>
        </p:nvSpPr>
        <p:spPr>
          <a:xfrm>
            <a:off x="3410640" y="3968640"/>
            <a:ext cx="1151640" cy="2192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c9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45"/>
          <p:cNvSpPr/>
          <p:nvPr/>
        </p:nvSpPr>
        <p:spPr>
          <a:xfrm>
            <a:off x="3483720" y="4014360"/>
            <a:ext cx="10054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80" strike="noStrike" u="none">
                <a:solidFill>
                  <a:srgbClr val="4b5a4f"/>
                </a:solidFill>
                <a:effectLst/>
                <a:uFillTx/>
                <a:latin typeface="Aptos"/>
                <a:ea typeface="Aptos"/>
              </a:rPr>
              <a:t>Sort: price ↑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46"/>
          <p:cNvSpPr/>
          <p:nvPr/>
        </p:nvSpPr>
        <p:spPr>
          <a:xfrm>
            <a:off x="4636080" y="3968640"/>
            <a:ext cx="667080" cy="219240"/>
          </a:xfrm>
          <a:prstGeom prst="roundRect">
            <a:avLst>
              <a:gd name="adj" fmla="val 12500"/>
            </a:avLst>
          </a:prstGeom>
          <a:solidFill>
            <a:srgbClr val="e8eee4"/>
          </a:solidFill>
          <a:ln w="10160">
            <a:solidFill>
              <a:srgbClr val="d6de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47"/>
          <p:cNvSpPr/>
          <p:nvPr/>
        </p:nvSpPr>
        <p:spPr>
          <a:xfrm>
            <a:off x="4690800" y="4014360"/>
            <a:ext cx="55728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80" strike="noStrike" u="none">
                <a:solidFill>
                  <a:srgbClr val="4b5a4f"/>
                </a:solidFill>
                <a:effectLst/>
                <a:uFillTx/>
                <a:latin typeface="Aptos"/>
                <a:ea typeface="Aptos"/>
              </a:rPr>
              <a:t>Clear</a:t>
            </a:r>
            <a:endParaRPr b="0" lang="en-US" sz="5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48"/>
          <p:cNvSpPr/>
          <p:nvPr/>
        </p:nvSpPr>
        <p:spPr>
          <a:xfrm>
            <a:off x="822960" y="4288680"/>
            <a:ext cx="1535760" cy="1572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49"/>
          <p:cNvSpPr/>
          <p:nvPr/>
        </p:nvSpPr>
        <p:spPr>
          <a:xfrm>
            <a:off x="905400" y="4380120"/>
            <a:ext cx="1371240" cy="703800"/>
          </a:xfrm>
          <a:prstGeom prst="roundRect">
            <a:avLst>
              <a:gd name="adj" fmla="val 5195"/>
            </a:avLst>
          </a:prstGeom>
          <a:solidFill>
            <a:srgbClr val="d8e7cb"/>
          </a:solidFill>
          <a:ln w="10160">
            <a:solidFill>
              <a:srgbClr val="f0f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50"/>
          <p:cNvSpPr/>
          <p:nvPr/>
        </p:nvSpPr>
        <p:spPr>
          <a:xfrm>
            <a:off x="1362600" y="4471560"/>
            <a:ext cx="456840" cy="502560"/>
          </a:xfrm>
          <a:prstGeom prst="roundRect">
            <a:avLst>
              <a:gd name="adj" fmla="val 16000"/>
            </a:avLst>
          </a:prstGeom>
          <a:solidFill>
            <a:srgbClr val="f7f8f3"/>
          </a:solidFill>
          <a:ln w="10160">
            <a:solidFill>
              <a:srgbClr val="a2b39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51"/>
          <p:cNvSpPr/>
          <p:nvPr/>
        </p:nvSpPr>
        <p:spPr>
          <a:xfrm>
            <a:off x="1334880" y="4443840"/>
            <a:ext cx="511560" cy="10008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52"/>
          <p:cNvSpPr/>
          <p:nvPr/>
        </p:nvSpPr>
        <p:spPr>
          <a:xfrm>
            <a:off x="914400" y="5157360"/>
            <a:ext cx="1352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WHEY PROTEIN</a:t>
            </a:r>
            <a:endParaRPr b="0" lang="en-US" sz="6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53"/>
          <p:cNvSpPr/>
          <p:nvPr/>
        </p:nvSpPr>
        <p:spPr>
          <a:xfrm>
            <a:off x="914400" y="536760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149.99 LEI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54"/>
          <p:cNvSpPr/>
          <p:nvPr/>
        </p:nvSpPr>
        <p:spPr>
          <a:xfrm>
            <a:off x="914400" y="5568840"/>
            <a:ext cx="1115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10" strike="noStrike" u="none">
                <a:solidFill>
                  <a:srgbClr val="5d8357"/>
                </a:solidFill>
                <a:effectLst/>
                <a:uFillTx/>
                <a:latin typeface="Aptos"/>
                <a:ea typeface="Aptos"/>
              </a:rPr>
              <a:t>IN STOCK</a:t>
            </a:r>
            <a:endParaRPr b="0" lang="en-US" sz="6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55"/>
          <p:cNvSpPr/>
          <p:nvPr/>
        </p:nvSpPr>
        <p:spPr>
          <a:xfrm>
            <a:off x="2532960" y="4288680"/>
            <a:ext cx="1535760" cy="1572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56"/>
          <p:cNvSpPr/>
          <p:nvPr/>
        </p:nvSpPr>
        <p:spPr>
          <a:xfrm>
            <a:off x="2615040" y="4380120"/>
            <a:ext cx="1371240" cy="703800"/>
          </a:xfrm>
          <a:prstGeom prst="roundRect">
            <a:avLst>
              <a:gd name="adj" fmla="val 5195"/>
            </a:avLst>
          </a:prstGeom>
          <a:solidFill>
            <a:srgbClr val="dde8e8"/>
          </a:solidFill>
          <a:ln w="10160">
            <a:solidFill>
              <a:srgbClr val="f0f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57"/>
          <p:cNvSpPr/>
          <p:nvPr/>
        </p:nvSpPr>
        <p:spPr>
          <a:xfrm>
            <a:off x="3264480" y="4544640"/>
            <a:ext cx="310680" cy="402120"/>
          </a:xfrm>
          <a:prstGeom prst="roundRect">
            <a:avLst>
              <a:gd name="adj" fmla="val 14706"/>
            </a:avLst>
          </a:prstGeom>
          <a:solidFill>
            <a:srgbClr val="40524a"/>
          </a:solidFill>
          <a:ln w="10160">
            <a:solidFill>
              <a:srgbClr val="405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58"/>
          <p:cNvSpPr/>
          <p:nvPr/>
        </p:nvSpPr>
        <p:spPr>
          <a:xfrm>
            <a:off x="3154680" y="4581000"/>
            <a:ext cx="136800" cy="182520"/>
          </a:xfrm>
          <a:prstGeom prst="roundRect">
            <a:avLst>
              <a:gd name="adj" fmla="val 33333"/>
            </a:avLst>
          </a:prstGeom>
          <a:solidFill>
            <a:srgbClr val="40524a"/>
          </a:solidFill>
          <a:ln w="10160">
            <a:solidFill>
              <a:srgbClr val="405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59"/>
          <p:cNvSpPr/>
          <p:nvPr/>
        </p:nvSpPr>
        <p:spPr>
          <a:xfrm>
            <a:off x="3547800" y="4581000"/>
            <a:ext cx="136800" cy="182520"/>
          </a:xfrm>
          <a:prstGeom prst="roundRect">
            <a:avLst>
              <a:gd name="adj" fmla="val 33333"/>
            </a:avLst>
          </a:prstGeom>
          <a:solidFill>
            <a:srgbClr val="40524a"/>
          </a:solidFill>
          <a:ln w="10160">
            <a:solidFill>
              <a:srgbClr val="405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60"/>
          <p:cNvSpPr/>
          <p:nvPr/>
        </p:nvSpPr>
        <p:spPr>
          <a:xfrm>
            <a:off x="3337560" y="4489560"/>
            <a:ext cx="164160" cy="118440"/>
          </a:xfrm>
          <a:prstGeom prst="roundRect">
            <a:avLst>
              <a:gd name="adj" fmla="val 30769"/>
            </a:avLst>
          </a:prstGeom>
          <a:solidFill>
            <a:srgbClr val="40524a"/>
          </a:solidFill>
          <a:ln w="10160">
            <a:solidFill>
              <a:srgbClr val="405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61"/>
          <p:cNvSpPr/>
          <p:nvPr/>
        </p:nvSpPr>
        <p:spPr>
          <a:xfrm>
            <a:off x="2624400" y="5157360"/>
            <a:ext cx="1352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TRAINING TEE</a:t>
            </a:r>
            <a:endParaRPr b="0" lang="en-US" sz="6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62"/>
          <p:cNvSpPr/>
          <p:nvPr/>
        </p:nvSpPr>
        <p:spPr>
          <a:xfrm>
            <a:off x="2624400" y="536760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79.99 LEI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63"/>
          <p:cNvSpPr/>
          <p:nvPr/>
        </p:nvSpPr>
        <p:spPr>
          <a:xfrm>
            <a:off x="2624400" y="5568840"/>
            <a:ext cx="1115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10" strike="noStrike" u="none">
                <a:solidFill>
                  <a:srgbClr val="5d8357"/>
                </a:solidFill>
                <a:effectLst/>
                <a:uFillTx/>
                <a:latin typeface="Aptos"/>
                <a:ea typeface="Aptos"/>
              </a:rPr>
              <a:t>IN STOCK</a:t>
            </a:r>
            <a:endParaRPr b="0" lang="en-US" sz="6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64"/>
          <p:cNvSpPr/>
          <p:nvPr/>
        </p:nvSpPr>
        <p:spPr>
          <a:xfrm>
            <a:off x="4242960" y="4288680"/>
            <a:ext cx="1535760" cy="1572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65"/>
          <p:cNvSpPr/>
          <p:nvPr/>
        </p:nvSpPr>
        <p:spPr>
          <a:xfrm>
            <a:off x="4325040" y="4380120"/>
            <a:ext cx="1371240" cy="703800"/>
          </a:xfrm>
          <a:prstGeom prst="roundRect">
            <a:avLst>
              <a:gd name="adj" fmla="val 5195"/>
            </a:avLst>
          </a:prstGeom>
          <a:solidFill>
            <a:srgbClr val="ece2d2"/>
          </a:solidFill>
          <a:ln w="10160">
            <a:solidFill>
              <a:srgbClr val="f0f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66"/>
          <p:cNvSpPr/>
          <p:nvPr/>
        </p:nvSpPr>
        <p:spPr>
          <a:xfrm>
            <a:off x="4626720" y="4672440"/>
            <a:ext cx="767880" cy="145800"/>
          </a:xfrm>
          <a:prstGeom prst="roundRect">
            <a:avLst>
              <a:gd name="adj" fmla="val 50000"/>
            </a:avLst>
          </a:prstGeom>
          <a:solidFill>
            <a:srgbClr val="26332b"/>
          </a:solidFill>
          <a:ln w="10160">
            <a:solidFill>
              <a:srgbClr val="2633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67"/>
          <p:cNvSpPr/>
          <p:nvPr/>
        </p:nvSpPr>
        <p:spPr>
          <a:xfrm>
            <a:off x="4654440" y="4590360"/>
            <a:ext cx="219240" cy="310680"/>
          </a:xfrm>
          <a:prstGeom prst="roundRect">
            <a:avLst>
              <a:gd name="adj" fmla="val 16667"/>
            </a:avLst>
          </a:prstGeom>
          <a:solidFill>
            <a:srgbClr val="3d5044"/>
          </a:solidFill>
          <a:ln w="10160">
            <a:solidFill>
              <a:srgbClr val="3d5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68"/>
          <p:cNvSpPr/>
          <p:nvPr/>
        </p:nvSpPr>
        <p:spPr>
          <a:xfrm>
            <a:off x="5157360" y="4590360"/>
            <a:ext cx="219240" cy="310680"/>
          </a:xfrm>
          <a:prstGeom prst="roundRect">
            <a:avLst>
              <a:gd name="adj" fmla="val 16667"/>
            </a:avLst>
          </a:prstGeom>
          <a:solidFill>
            <a:srgbClr val="3d5044"/>
          </a:solidFill>
          <a:ln w="10160">
            <a:solidFill>
              <a:srgbClr val="3d50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69"/>
          <p:cNvSpPr/>
          <p:nvPr/>
        </p:nvSpPr>
        <p:spPr>
          <a:xfrm>
            <a:off x="4334400" y="5157360"/>
            <a:ext cx="1352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LIFTING STRAPS</a:t>
            </a:r>
            <a:endParaRPr b="0" lang="en-US" sz="6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70"/>
          <p:cNvSpPr/>
          <p:nvPr/>
        </p:nvSpPr>
        <p:spPr>
          <a:xfrm>
            <a:off x="4334400" y="5367600"/>
            <a:ext cx="987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39.99 LEI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71"/>
          <p:cNvSpPr/>
          <p:nvPr/>
        </p:nvSpPr>
        <p:spPr>
          <a:xfrm>
            <a:off x="4334400" y="5568840"/>
            <a:ext cx="111528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10" strike="noStrike" u="none">
                <a:solidFill>
                  <a:srgbClr val="a56f2a"/>
                </a:solidFill>
                <a:effectLst/>
                <a:uFillTx/>
                <a:latin typeface="Aptos"/>
                <a:ea typeface="Aptos"/>
              </a:rPr>
              <a:t>LOW STOCK</a:t>
            </a:r>
            <a:endParaRPr b="0" lang="en-US" sz="6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72"/>
          <p:cNvSpPr/>
          <p:nvPr/>
        </p:nvSpPr>
        <p:spPr>
          <a:xfrm>
            <a:off x="6492240" y="1700640"/>
            <a:ext cx="5147640" cy="4416120"/>
          </a:xfrm>
          <a:prstGeom prst="roundRect">
            <a:avLst>
              <a:gd name="adj" fmla="val 1656"/>
            </a:avLst>
          </a:prstGeom>
          <a:solidFill>
            <a:srgbClr val="f1f4ec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73"/>
          <p:cNvSpPr/>
          <p:nvPr/>
        </p:nvSpPr>
        <p:spPr>
          <a:xfrm>
            <a:off x="6492240" y="1700640"/>
            <a:ext cx="5147640" cy="282960"/>
          </a:xfrm>
          <a:prstGeom prst="roundRect">
            <a:avLst>
              <a:gd name="adj" fmla="val 22581"/>
            </a:avLst>
          </a:prstGeom>
          <a:solidFill>
            <a:srgbClr val="19231d"/>
          </a:solidFill>
          <a:ln w="10160">
            <a:solidFill>
              <a:srgbClr val="19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74"/>
          <p:cNvSpPr/>
          <p:nvPr/>
        </p:nvSpPr>
        <p:spPr>
          <a:xfrm>
            <a:off x="6620400" y="1801440"/>
            <a:ext cx="63720" cy="63720"/>
          </a:xfrm>
          <a:prstGeom prst="ellipse">
            <a:avLst/>
          </a:prstGeom>
          <a:solidFill>
            <a:srgbClr val="e77c72"/>
          </a:solidFill>
          <a:ln w="12700">
            <a:solidFill>
              <a:srgbClr val="e77c7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75"/>
          <p:cNvSpPr/>
          <p:nvPr/>
        </p:nvSpPr>
        <p:spPr>
          <a:xfrm>
            <a:off x="6729840" y="1801440"/>
            <a:ext cx="63720" cy="63720"/>
          </a:xfrm>
          <a:prstGeom prst="ellipse">
            <a:avLst/>
          </a:prstGeom>
          <a:solidFill>
            <a:srgbClr val="e4bb6d"/>
          </a:solidFill>
          <a:ln w="12700">
            <a:solidFill>
              <a:srgbClr val="e4bb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76"/>
          <p:cNvSpPr/>
          <p:nvPr/>
        </p:nvSpPr>
        <p:spPr>
          <a:xfrm>
            <a:off x="6839640" y="1801440"/>
            <a:ext cx="63720" cy="6372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77"/>
          <p:cNvSpPr/>
          <p:nvPr/>
        </p:nvSpPr>
        <p:spPr>
          <a:xfrm>
            <a:off x="7022520" y="1751040"/>
            <a:ext cx="4507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e4eae2"/>
                </a:solidFill>
                <a:effectLst/>
                <a:uFillTx/>
                <a:latin typeface="Aptos"/>
                <a:ea typeface="Aptos"/>
              </a:rPr>
              <a:t>lift-aesthetics.local/shop/1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78"/>
          <p:cNvSpPr/>
          <p:nvPr/>
        </p:nvSpPr>
        <p:spPr>
          <a:xfrm>
            <a:off x="6638400" y="2094120"/>
            <a:ext cx="4854960" cy="383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79"/>
          <p:cNvSpPr/>
          <p:nvPr/>
        </p:nvSpPr>
        <p:spPr>
          <a:xfrm>
            <a:off x="6757560" y="217620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LIFT &amp; AESTHETICS</a:t>
            </a:r>
            <a:endParaRPr b="0" lang="en-US" sz="8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80"/>
          <p:cNvSpPr/>
          <p:nvPr/>
        </p:nvSpPr>
        <p:spPr>
          <a:xfrm>
            <a:off x="9372600" y="2176200"/>
            <a:ext cx="1782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80" strike="noStrike" u="none">
                <a:solidFill>
                  <a:srgbClr val="4b5a4f"/>
                </a:solidFill>
                <a:effectLst/>
                <a:uFillTx/>
                <a:latin typeface="Aptos"/>
                <a:ea typeface="Aptos"/>
              </a:rPr>
              <a:t>Shop   Categories   Account</a:t>
            </a:r>
            <a:endParaRPr b="0" lang="en-US" sz="6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81"/>
          <p:cNvSpPr/>
          <p:nvPr/>
        </p:nvSpPr>
        <p:spPr>
          <a:xfrm>
            <a:off x="6720840" y="2660760"/>
            <a:ext cx="2102760" cy="2422800"/>
          </a:xfrm>
          <a:prstGeom prst="roundRect">
            <a:avLst>
              <a:gd name="adj" fmla="val 1739"/>
            </a:avLst>
          </a:prstGeom>
          <a:solidFill>
            <a:srgbClr val="e2ebd9"/>
          </a:solidFill>
          <a:ln w="10160">
            <a:solidFill>
              <a:srgbClr val="d2dd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82"/>
          <p:cNvSpPr/>
          <p:nvPr/>
        </p:nvSpPr>
        <p:spPr>
          <a:xfrm>
            <a:off x="7296840" y="3136320"/>
            <a:ext cx="968760" cy="1343880"/>
          </a:xfrm>
          <a:prstGeom prst="roundRect">
            <a:avLst>
              <a:gd name="adj" fmla="val 11321"/>
            </a:avLst>
          </a:prstGeom>
          <a:solidFill>
            <a:srgbClr val="f5f7f1"/>
          </a:solidFill>
          <a:ln w="10160">
            <a:solidFill>
              <a:srgbClr val="aaba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83"/>
          <p:cNvSpPr/>
          <p:nvPr/>
        </p:nvSpPr>
        <p:spPr>
          <a:xfrm>
            <a:off x="7242120" y="3063240"/>
            <a:ext cx="1078560" cy="209880"/>
          </a:xfrm>
          <a:prstGeom prst="roundRect">
            <a:avLst>
              <a:gd name="adj" fmla="val 13043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84"/>
          <p:cNvSpPr/>
          <p:nvPr/>
        </p:nvSpPr>
        <p:spPr>
          <a:xfrm>
            <a:off x="9098280" y="2706480"/>
            <a:ext cx="20844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60" strike="noStrike" u="none">
                <a:solidFill>
                  <a:srgbClr val="101812"/>
                </a:solidFill>
                <a:effectLst/>
                <a:uFillTx/>
                <a:latin typeface="Aptos Display"/>
                <a:ea typeface="Aptos Display"/>
              </a:rPr>
              <a:t>WHEY PROTEIN</a:t>
            </a:r>
            <a:endParaRPr b="0" lang="en-US" sz="12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85"/>
          <p:cNvSpPr/>
          <p:nvPr/>
        </p:nvSpPr>
        <p:spPr>
          <a:xfrm>
            <a:off x="9098280" y="2999160"/>
            <a:ext cx="2084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70" strike="noStrike" u="none">
                <a:solidFill>
                  <a:srgbClr val="607063"/>
                </a:solidFill>
                <a:effectLst/>
                <a:uFillTx/>
                <a:latin typeface="Aptos"/>
                <a:ea typeface="Aptos"/>
              </a:rPr>
              <a:t>Chocolate • 1 kg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86"/>
          <p:cNvSpPr/>
          <p:nvPr/>
        </p:nvSpPr>
        <p:spPr>
          <a:xfrm>
            <a:off x="9098280" y="3374280"/>
            <a:ext cx="20844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01812"/>
                </a:solidFill>
                <a:effectLst/>
                <a:uFillTx/>
                <a:latin typeface="Aptos Display"/>
                <a:ea typeface="Aptos Display"/>
              </a:rPr>
              <a:t>149.99 LEI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87"/>
          <p:cNvSpPr/>
          <p:nvPr/>
        </p:nvSpPr>
        <p:spPr>
          <a:xfrm>
            <a:off x="9098280" y="3749040"/>
            <a:ext cx="914040" cy="237240"/>
          </a:xfrm>
          <a:prstGeom prst="roundRect">
            <a:avLst>
              <a:gd name="adj" fmla="val 30769"/>
            </a:avLst>
          </a:prstGeom>
          <a:solidFill>
            <a:srgbClr val="dcebd5"/>
          </a:solidFill>
          <a:ln w="10160">
            <a:solidFill>
              <a:srgbClr val="dce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88"/>
          <p:cNvSpPr/>
          <p:nvPr/>
        </p:nvSpPr>
        <p:spPr>
          <a:xfrm>
            <a:off x="9153000" y="3803760"/>
            <a:ext cx="8042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466c3e"/>
                </a:solidFill>
                <a:effectLst/>
                <a:uFillTx/>
                <a:latin typeface="Aptos"/>
                <a:ea typeface="Aptos"/>
              </a:rPr>
              <a:t>IN STOCK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89"/>
          <p:cNvSpPr/>
          <p:nvPr/>
        </p:nvSpPr>
        <p:spPr>
          <a:xfrm>
            <a:off x="9098280" y="4187880"/>
            <a:ext cx="20113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1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Product description</a:t>
            </a:r>
            <a:endParaRPr b="0" lang="en-US" sz="8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90"/>
          <p:cNvSpPr/>
          <p:nvPr/>
        </p:nvSpPr>
        <p:spPr>
          <a:xfrm>
            <a:off x="9098280" y="4425840"/>
            <a:ext cx="2130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607063"/>
                </a:solidFill>
                <a:effectLst/>
                <a:uFillTx/>
                <a:latin typeface="Aptos"/>
                <a:ea typeface="Aptos"/>
              </a:rPr>
              <a:t>A simple product summary with key details,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607063"/>
                </a:solidFill>
                <a:effectLst/>
                <a:uFillTx/>
                <a:latin typeface="Aptos"/>
                <a:ea typeface="Aptos"/>
              </a:rPr>
              <a:t>size and usage information.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91"/>
          <p:cNvSpPr/>
          <p:nvPr/>
        </p:nvSpPr>
        <p:spPr>
          <a:xfrm>
            <a:off x="9098280" y="5010840"/>
            <a:ext cx="685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Quantity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92"/>
          <p:cNvSpPr/>
          <p:nvPr/>
        </p:nvSpPr>
        <p:spPr>
          <a:xfrm>
            <a:off x="9893880" y="4965120"/>
            <a:ext cx="767880" cy="26496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cdd6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93"/>
          <p:cNvSpPr/>
          <p:nvPr/>
        </p:nvSpPr>
        <p:spPr>
          <a:xfrm>
            <a:off x="9939600" y="5020200"/>
            <a:ext cx="676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−   1   +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94"/>
          <p:cNvSpPr/>
          <p:nvPr/>
        </p:nvSpPr>
        <p:spPr>
          <a:xfrm>
            <a:off x="9098280" y="5376600"/>
            <a:ext cx="1398600" cy="383760"/>
          </a:xfrm>
          <a:prstGeom prst="roundRect">
            <a:avLst>
              <a:gd name="adj" fmla="val 9524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95"/>
          <p:cNvSpPr/>
          <p:nvPr/>
        </p:nvSpPr>
        <p:spPr>
          <a:xfrm>
            <a:off x="9153000" y="5468040"/>
            <a:ext cx="1288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ADD TO CART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96"/>
          <p:cNvSpPr/>
          <p:nvPr/>
        </p:nvSpPr>
        <p:spPr>
          <a:xfrm>
            <a:off x="10588680" y="5376600"/>
            <a:ext cx="767880" cy="3837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c9d2c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97"/>
          <p:cNvSpPr/>
          <p:nvPr/>
        </p:nvSpPr>
        <p:spPr>
          <a:xfrm>
            <a:off x="10625400" y="5468040"/>
            <a:ext cx="694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♡ SAVE</a:t>
            </a:r>
            <a:endParaRPr b="0" lang="en-US" sz="6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98"/>
          <p:cNvSpPr/>
          <p:nvPr/>
        </p:nvSpPr>
        <p:spPr>
          <a:xfrm>
            <a:off x="631080" y="6190560"/>
            <a:ext cx="987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WIREFRAME 01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99"/>
          <p:cNvSpPr/>
          <p:nvPr/>
        </p:nvSpPr>
        <p:spPr>
          <a:xfrm>
            <a:off x="1664280" y="6190560"/>
            <a:ext cx="2285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Catalog grid + basic search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00"/>
          <p:cNvSpPr/>
          <p:nvPr/>
        </p:nvSpPr>
        <p:spPr>
          <a:xfrm>
            <a:off x="6546960" y="6190560"/>
            <a:ext cx="9871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WIREFRAME 02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01"/>
          <p:cNvSpPr/>
          <p:nvPr/>
        </p:nvSpPr>
        <p:spPr>
          <a:xfrm>
            <a:off x="7589520" y="6190560"/>
            <a:ext cx="29257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Product details + stock status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USER INTERFACE / WIREFRAMES 2 OF 2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Cart, checkout and administration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remaining wireframes make the core purchase and management flow concrete.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12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1"/>
          <p:cNvSpPr/>
          <p:nvPr/>
        </p:nvSpPr>
        <p:spPr>
          <a:xfrm>
            <a:off x="567000" y="1719000"/>
            <a:ext cx="3538440" cy="4407120"/>
          </a:xfrm>
          <a:prstGeom prst="roundRect">
            <a:avLst>
              <a:gd name="adj" fmla="val 2067"/>
            </a:avLst>
          </a:prstGeom>
          <a:solidFill>
            <a:srgbClr val="f1f4ec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12"/>
          <p:cNvSpPr/>
          <p:nvPr/>
        </p:nvSpPr>
        <p:spPr>
          <a:xfrm>
            <a:off x="567000" y="1719000"/>
            <a:ext cx="3538440" cy="282960"/>
          </a:xfrm>
          <a:prstGeom prst="roundRect">
            <a:avLst>
              <a:gd name="adj" fmla="val 22581"/>
            </a:avLst>
          </a:prstGeom>
          <a:solidFill>
            <a:srgbClr val="19231d"/>
          </a:solidFill>
          <a:ln w="10160">
            <a:solidFill>
              <a:srgbClr val="19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13"/>
          <p:cNvSpPr/>
          <p:nvPr/>
        </p:nvSpPr>
        <p:spPr>
          <a:xfrm>
            <a:off x="694800" y="1819800"/>
            <a:ext cx="63720" cy="63720"/>
          </a:xfrm>
          <a:prstGeom prst="ellipse">
            <a:avLst/>
          </a:prstGeom>
          <a:solidFill>
            <a:srgbClr val="e77c72"/>
          </a:solidFill>
          <a:ln w="12700">
            <a:solidFill>
              <a:srgbClr val="e77c7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4"/>
          <p:cNvSpPr/>
          <p:nvPr/>
        </p:nvSpPr>
        <p:spPr>
          <a:xfrm>
            <a:off x="804600" y="1819800"/>
            <a:ext cx="63720" cy="63720"/>
          </a:xfrm>
          <a:prstGeom prst="ellipse">
            <a:avLst/>
          </a:prstGeom>
          <a:solidFill>
            <a:srgbClr val="e4bb6d"/>
          </a:solidFill>
          <a:ln w="12700">
            <a:solidFill>
              <a:srgbClr val="e4bb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15"/>
          <p:cNvSpPr/>
          <p:nvPr/>
        </p:nvSpPr>
        <p:spPr>
          <a:xfrm>
            <a:off x="914400" y="1819800"/>
            <a:ext cx="63720" cy="6372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6"/>
          <p:cNvSpPr/>
          <p:nvPr/>
        </p:nvSpPr>
        <p:spPr>
          <a:xfrm>
            <a:off x="1097280" y="1769400"/>
            <a:ext cx="289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e4eae2"/>
                </a:solidFill>
                <a:effectLst/>
                <a:uFillTx/>
                <a:latin typeface="Aptos"/>
                <a:ea typeface="Aptos"/>
              </a:rPr>
              <a:t>lift-aesthetics.local/cart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17"/>
          <p:cNvSpPr/>
          <p:nvPr/>
        </p:nvSpPr>
        <p:spPr>
          <a:xfrm>
            <a:off x="4325040" y="1719000"/>
            <a:ext cx="3538440" cy="4407120"/>
          </a:xfrm>
          <a:prstGeom prst="roundRect">
            <a:avLst>
              <a:gd name="adj" fmla="val 2067"/>
            </a:avLst>
          </a:prstGeom>
          <a:solidFill>
            <a:srgbClr val="f1f4ec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18"/>
          <p:cNvSpPr/>
          <p:nvPr/>
        </p:nvSpPr>
        <p:spPr>
          <a:xfrm>
            <a:off x="4325040" y="1719000"/>
            <a:ext cx="3538440" cy="282960"/>
          </a:xfrm>
          <a:prstGeom prst="roundRect">
            <a:avLst>
              <a:gd name="adj" fmla="val 22581"/>
            </a:avLst>
          </a:prstGeom>
          <a:solidFill>
            <a:srgbClr val="19231d"/>
          </a:solidFill>
          <a:ln w="10160">
            <a:solidFill>
              <a:srgbClr val="19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9"/>
          <p:cNvSpPr/>
          <p:nvPr/>
        </p:nvSpPr>
        <p:spPr>
          <a:xfrm>
            <a:off x="4453200" y="1819800"/>
            <a:ext cx="63720" cy="63720"/>
          </a:xfrm>
          <a:prstGeom prst="ellipse">
            <a:avLst/>
          </a:prstGeom>
          <a:solidFill>
            <a:srgbClr val="e77c72"/>
          </a:solidFill>
          <a:ln w="12700">
            <a:solidFill>
              <a:srgbClr val="e77c7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0"/>
          <p:cNvSpPr/>
          <p:nvPr/>
        </p:nvSpPr>
        <p:spPr>
          <a:xfrm>
            <a:off x="4563000" y="1819800"/>
            <a:ext cx="63720" cy="63720"/>
          </a:xfrm>
          <a:prstGeom prst="ellipse">
            <a:avLst/>
          </a:prstGeom>
          <a:solidFill>
            <a:srgbClr val="e4bb6d"/>
          </a:solidFill>
          <a:ln w="12700">
            <a:solidFill>
              <a:srgbClr val="e4bb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21"/>
          <p:cNvSpPr/>
          <p:nvPr/>
        </p:nvSpPr>
        <p:spPr>
          <a:xfrm>
            <a:off x="4672440" y="1819800"/>
            <a:ext cx="63720" cy="6372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2"/>
          <p:cNvSpPr/>
          <p:nvPr/>
        </p:nvSpPr>
        <p:spPr>
          <a:xfrm>
            <a:off x="4855320" y="1769400"/>
            <a:ext cx="289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e4eae2"/>
                </a:solidFill>
                <a:effectLst/>
                <a:uFillTx/>
                <a:latin typeface="Aptos"/>
                <a:ea typeface="Aptos"/>
              </a:rPr>
              <a:t>lift-aesthetics.local/checkout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23"/>
          <p:cNvSpPr/>
          <p:nvPr/>
        </p:nvSpPr>
        <p:spPr>
          <a:xfrm>
            <a:off x="8083440" y="1719000"/>
            <a:ext cx="3538440" cy="4407120"/>
          </a:xfrm>
          <a:prstGeom prst="roundRect">
            <a:avLst>
              <a:gd name="adj" fmla="val 2067"/>
            </a:avLst>
          </a:prstGeom>
          <a:solidFill>
            <a:srgbClr val="f1f4ec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24"/>
          <p:cNvSpPr/>
          <p:nvPr/>
        </p:nvSpPr>
        <p:spPr>
          <a:xfrm>
            <a:off x="8083440" y="1719000"/>
            <a:ext cx="3538440" cy="282960"/>
          </a:xfrm>
          <a:prstGeom prst="roundRect">
            <a:avLst>
              <a:gd name="adj" fmla="val 22581"/>
            </a:avLst>
          </a:prstGeom>
          <a:solidFill>
            <a:srgbClr val="19231d"/>
          </a:solidFill>
          <a:ln w="10160">
            <a:solidFill>
              <a:srgbClr val="1923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25"/>
          <p:cNvSpPr/>
          <p:nvPr/>
        </p:nvSpPr>
        <p:spPr>
          <a:xfrm>
            <a:off x="8211240" y="1819800"/>
            <a:ext cx="63720" cy="63720"/>
          </a:xfrm>
          <a:prstGeom prst="ellipse">
            <a:avLst/>
          </a:prstGeom>
          <a:solidFill>
            <a:srgbClr val="e77c72"/>
          </a:solidFill>
          <a:ln w="12700">
            <a:solidFill>
              <a:srgbClr val="e77c7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26"/>
          <p:cNvSpPr/>
          <p:nvPr/>
        </p:nvSpPr>
        <p:spPr>
          <a:xfrm>
            <a:off x="8321040" y="1819800"/>
            <a:ext cx="63720" cy="63720"/>
          </a:xfrm>
          <a:prstGeom prst="ellipse">
            <a:avLst/>
          </a:prstGeom>
          <a:solidFill>
            <a:srgbClr val="e4bb6d"/>
          </a:solidFill>
          <a:ln w="12700">
            <a:solidFill>
              <a:srgbClr val="e4bb6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27"/>
          <p:cNvSpPr/>
          <p:nvPr/>
        </p:nvSpPr>
        <p:spPr>
          <a:xfrm>
            <a:off x="8430840" y="1819800"/>
            <a:ext cx="63720" cy="63720"/>
          </a:xfrm>
          <a:prstGeom prst="ellipse">
            <a:avLst/>
          </a:prstGeom>
          <a:solidFill>
            <a:srgbClr val="8fc79e"/>
          </a:solidFill>
          <a:ln w="12700">
            <a:solidFill>
              <a:srgbClr val="8fc7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28"/>
          <p:cNvSpPr/>
          <p:nvPr/>
        </p:nvSpPr>
        <p:spPr>
          <a:xfrm>
            <a:off x="8613720" y="1769400"/>
            <a:ext cx="289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e4eae2"/>
                </a:solidFill>
                <a:effectLst/>
                <a:uFillTx/>
                <a:latin typeface="Aptos"/>
                <a:ea typeface="Aptos"/>
              </a:rPr>
              <a:t>lift-aesthetics.local/admin</a:t>
            </a:r>
            <a:endParaRPr b="0" lang="en-US" sz="7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29"/>
          <p:cNvSpPr/>
          <p:nvPr/>
        </p:nvSpPr>
        <p:spPr>
          <a:xfrm>
            <a:off x="685800" y="2112120"/>
            <a:ext cx="3300480" cy="356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30"/>
          <p:cNvSpPr/>
          <p:nvPr/>
        </p:nvSpPr>
        <p:spPr>
          <a:xfrm>
            <a:off x="795600" y="2185560"/>
            <a:ext cx="15541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01812"/>
                </a:solidFill>
                <a:effectLst/>
                <a:uFillTx/>
                <a:latin typeface="Aptos Display"/>
                <a:ea typeface="Aptos Display"/>
              </a:rPr>
              <a:t>Your cart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31"/>
          <p:cNvSpPr/>
          <p:nvPr/>
        </p:nvSpPr>
        <p:spPr>
          <a:xfrm>
            <a:off x="749880" y="2633400"/>
            <a:ext cx="317268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32"/>
          <p:cNvSpPr/>
          <p:nvPr/>
        </p:nvSpPr>
        <p:spPr>
          <a:xfrm>
            <a:off x="850320" y="2743200"/>
            <a:ext cx="511560" cy="484200"/>
          </a:xfrm>
          <a:prstGeom prst="roundRect">
            <a:avLst>
              <a:gd name="adj" fmla="val 5660"/>
            </a:avLst>
          </a:prstGeom>
          <a:solidFill>
            <a:srgbClr val="d8e7cb"/>
          </a:solidFill>
          <a:ln w="10160">
            <a:solidFill>
              <a:srgbClr val="d8e0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33"/>
          <p:cNvSpPr/>
          <p:nvPr/>
        </p:nvSpPr>
        <p:spPr>
          <a:xfrm>
            <a:off x="1463040" y="275220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Whey Protein</a:t>
            </a:r>
            <a:endParaRPr b="0" lang="en-US" sz="7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34"/>
          <p:cNvSpPr/>
          <p:nvPr/>
        </p:nvSpPr>
        <p:spPr>
          <a:xfrm>
            <a:off x="1463040" y="2980800"/>
            <a:ext cx="1225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149.99 LEI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35"/>
          <p:cNvSpPr/>
          <p:nvPr/>
        </p:nvSpPr>
        <p:spPr>
          <a:xfrm>
            <a:off x="3063240" y="2880360"/>
            <a:ext cx="667080" cy="219240"/>
          </a:xfrm>
          <a:prstGeom prst="roundRect">
            <a:avLst>
              <a:gd name="adj" fmla="val 12500"/>
            </a:avLst>
          </a:prstGeom>
          <a:solidFill>
            <a:srgbClr val="f2f5f0"/>
          </a:solidFill>
          <a:ln w="10160">
            <a:solidFill>
              <a:srgbClr val="d3db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36"/>
          <p:cNvSpPr/>
          <p:nvPr/>
        </p:nvSpPr>
        <p:spPr>
          <a:xfrm>
            <a:off x="3108960" y="2921400"/>
            <a:ext cx="566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−  1  +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37"/>
          <p:cNvSpPr/>
          <p:nvPr/>
        </p:nvSpPr>
        <p:spPr>
          <a:xfrm>
            <a:off x="749880" y="3474720"/>
            <a:ext cx="3172680" cy="7128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d9e0d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38"/>
          <p:cNvSpPr/>
          <p:nvPr/>
        </p:nvSpPr>
        <p:spPr>
          <a:xfrm>
            <a:off x="850320" y="3584520"/>
            <a:ext cx="511560" cy="484200"/>
          </a:xfrm>
          <a:prstGeom prst="roundRect">
            <a:avLst>
              <a:gd name="adj" fmla="val 5660"/>
            </a:avLst>
          </a:prstGeom>
          <a:solidFill>
            <a:srgbClr val="dde8e8"/>
          </a:solidFill>
          <a:ln w="10160">
            <a:solidFill>
              <a:srgbClr val="d8e0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39"/>
          <p:cNvSpPr/>
          <p:nvPr/>
        </p:nvSpPr>
        <p:spPr>
          <a:xfrm>
            <a:off x="1463040" y="3593520"/>
            <a:ext cx="1416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Training Tee</a:t>
            </a:r>
            <a:endParaRPr b="0" lang="en-US" sz="7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40"/>
          <p:cNvSpPr/>
          <p:nvPr/>
        </p:nvSpPr>
        <p:spPr>
          <a:xfrm>
            <a:off x="1463040" y="3822120"/>
            <a:ext cx="12250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79.99 LEI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41"/>
          <p:cNvSpPr/>
          <p:nvPr/>
        </p:nvSpPr>
        <p:spPr>
          <a:xfrm>
            <a:off x="3063240" y="3721680"/>
            <a:ext cx="667080" cy="219240"/>
          </a:xfrm>
          <a:prstGeom prst="roundRect">
            <a:avLst>
              <a:gd name="adj" fmla="val 12500"/>
            </a:avLst>
          </a:prstGeom>
          <a:solidFill>
            <a:srgbClr val="f2f5f0"/>
          </a:solidFill>
          <a:ln w="10160">
            <a:solidFill>
              <a:srgbClr val="d3db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42"/>
          <p:cNvSpPr/>
          <p:nvPr/>
        </p:nvSpPr>
        <p:spPr>
          <a:xfrm>
            <a:off x="3108960" y="3762720"/>
            <a:ext cx="5666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−  1  +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43"/>
          <p:cNvSpPr/>
          <p:nvPr/>
        </p:nvSpPr>
        <p:spPr>
          <a:xfrm>
            <a:off x="768240" y="4443840"/>
            <a:ext cx="10512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Discount code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44"/>
          <p:cNvSpPr/>
          <p:nvPr/>
        </p:nvSpPr>
        <p:spPr>
          <a:xfrm>
            <a:off x="768240" y="4645080"/>
            <a:ext cx="1965600" cy="3106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0160">
            <a:solidFill>
              <a:srgbClr val="cdd6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45"/>
          <p:cNvSpPr/>
          <p:nvPr/>
        </p:nvSpPr>
        <p:spPr>
          <a:xfrm>
            <a:off x="877680" y="4718160"/>
            <a:ext cx="16455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889388"/>
                </a:solidFill>
                <a:effectLst/>
                <a:uFillTx/>
                <a:latin typeface="Aptos"/>
                <a:ea typeface="Aptos"/>
              </a:rPr>
              <a:t>Enter code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46"/>
          <p:cNvSpPr/>
          <p:nvPr/>
        </p:nvSpPr>
        <p:spPr>
          <a:xfrm>
            <a:off x="2834640" y="4645080"/>
            <a:ext cx="932400" cy="310680"/>
          </a:xfrm>
          <a:prstGeom prst="roundRect">
            <a:avLst>
              <a:gd name="adj" fmla="val 8824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47"/>
          <p:cNvSpPr/>
          <p:nvPr/>
        </p:nvSpPr>
        <p:spPr>
          <a:xfrm>
            <a:off x="2926080" y="47181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Apply</a:t>
            </a:r>
            <a:endParaRPr b="0" lang="en-US" sz="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48"/>
          <p:cNvSpPr/>
          <p:nvPr/>
        </p:nvSpPr>
        <p:spPr>
          <a:xfrm>
            <a:off x="767880" y="5193720"/>
            <a:ext cx="3136320" cy="360"/>
          </a:xfrm>
          <a:prstGeom prst="line">
            <a:avLst/>
          </a:prstGeom>
          <a:ln w="8890">
            <a:solidFill>
              <a:srgbClr val="d7de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49"/>
          <p:cNvSpPr/>
          <p:nvPr/>
        </p:nvSpPr>
        <p:spPr>
          <a:xfrm>
            <a:off x="768240" y="5312520"/>
            <a:ext cx="9140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687469"/>
                </a:solidFill>
                <a:effectLst/>
                <a:uFillTx/>
                <a:latin typeface="Aptos"/>
                <a:ea typeface="Aptos"/>
              </a:rPr>
              <a:t>Subtotal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50"/>
          <p:cNvSpPr/>
          <p:nvPr/>
        </p:nvSpPr>
        <p:spPr>
          <a:xfrm>
            <a:off x="2624400" y="5312520"/>
            <a:ext cx="111528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229.98 LEI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51"/>
          <p:cNvSpPr/>
          <p:nvPr/>
        </p:nvSpPr>
        <p:spPr>
          <a:xfrm>
            <a:off x="768240" y="5577840"/>
            <a:ext cx="3135960" cy="338040"/>
          </a:xfrm>
          <a:prstGeom prst="roundRect">
            <a:avLst>
              <a:gd name="adj" fmla="val 8108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52"/>
          <p:cNvSpPr/>
          <p:nvPr/>
        </p:nvSpPr>
        <p:spPr>
          <a:xfrm>
            <a:off x="887040" y="5660280"/>
            <a:ext cx="2898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PROCEED TO CHECKOUT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53"/>
          <p:cNvSpPr/>
          <p:nvPr/>
        </p:nvSpPr>
        <p:spPr>
          <a:xfrm>
            <a:off x="4443840" y="2112120"/>
            <a:ext cx="3300480" cy="356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54"/>
          <p:cNvSpPr/>
          <p:nvPr/>
        </p:nvSpPr>
        <p:spPr>
          <a:xfrm>
            <a:off x="4553640" y="2185560"/>
            <a:ext cx="15541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20" strike="noStrike" u="none">
                <a:solidFill>
                  <a:srgbClr val="101812"/>
                </a:solidFill>
                <a:effectLst/>
                <a:uFillTx/>
                <a:latin typeface="Aptos Display"/>
                <a:ea typeface="Aptos Display"/>
              </a:rPr>
              <a:t>Checkout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55"/>
          <p:cNvSpPr/>
          <p:nvPr/>
        </p:nvSpPr>
        <p:spPr>
          <a:xfrm>
            <a:off x="4535280" y="262440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Delivery address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56"/>
          <p:cNvSpPr/>
          <p:nvPr/>
        </p:nvSpPr>
        <p:spPr>
          <a:xfrm>
            <a:off x="4526280" y="2834640"/>
            <a:ext cx="3135960" cy="328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5d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57"/>
          <p:cNvSpPr/>
          <p:nvPr/>
        </p:nvSpPr>
        <p:spPr>
          <a:xfrm>
            <a:off x="4636080" y="2921400"/>
            <a:ext cx="28800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889388"/>
                </a:solidFill>
                <a:effectLst/>
                <a:uFillTx/>
                <a:latin typeface="Aptos"/>
                <a:ea typeface="Aptos"/>
              </a:rPr>
              <a:t>Full name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58"/>
          <p:cNvSpPr/>
          <p:nvPr/>
        </p:nvSpPr>
        <p:spPr>
          <a:xfrm>
            <a:off x="4526280" y="3310200"/>
            <a:ext cx="3135960" cy="328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5d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59"/>
          <p:cNvSpPr/>
          <p:nvPr/>
        </p:nvSpPr>
        <p:spPr>
          <a:xfrm>
            <a:off x="4636080" y="3396960"/>
            <a:ext cx="28800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889388"/>
                </a:solidFill>
                <a:effectLst/>
                <a:uFillTx/>
                <a:latin typeface="Aptos"/>
                <a:ea typeface="Aptos"/>
              </a:rPr>
              <a:t>Street address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60"/>
          <p:cNvSpPr/>
          <p:nvPr/>
        </p:nvSpPr>
        <p:spPr>
          <a:xfrm>
            <a:off x="4526280" y="3785760"/>
            <a:ext cx="3135960" cy="328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5d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61"/>
          <p:cNvSpPr/>
          <p:nvPr/>
        </p:nvSpPr>
        <p:spPr>
          <a:xfrm>
            <a:off x="4636080" y="3872520"/>
            <a:ext cx="28800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889388"/>
                </a:solidFill>
                <a:effectLst/>
                <a:uFillTx/>
                <a:latin typeface="Aptos"/>
                <a:ea typeface="Aptos"/>
              </a:rPr>
              <a:t>City / postal code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62"/>
          <p:cNvSpPr/>
          <p:nvPr/>
        </p:nvSpPr>
        <p:spPr>
          <a:xfrm>
            <a:off x="4535280" y="426096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Delivery method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63"/>
          <p:cNvSpPr/>
          <p:nvPr/>
        </p:nvSpPr>
        <p:spPr>
          <a:xfrm>
            <a:off x="4526280" y="4489560"/>
            <a:ext cx="3135960" cy="34704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5dd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64"/>
          <p:cNvSpPr/>
          <p:nvPr/>
        </p:nvSpPr>
        <p:spPr>
          <a:xfrm>
            <a:off x="4636080" y="4581000"/>
            <a:ext cx="28800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7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Standard delivery  •  15 LEI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65"/>
          <p:cNvSpPr/>
          <p:nvPr/>
        </p:nvSpPr>
        <p:spPr>
          <a:xfrm>
            <a:off x="4526280" y="4910400"/>
            <a:ext cx="3135960" cy="347040"/>
          </a:xfrm>
          <a:prstGeom prst="roundRect">
            <a:avLst>
              <a:gd name="adj" fmla="val 7895"/>
            </a:avLst>
          </a:prstGeom>
          <a:solidFill>
            <a:srgbClr val="dcebd5"/>
          </a:solidFill>
          <a:ln w="10160">
            <a:solidFill>
              <a:srgbClr val="9abf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66"/>
          <p:cNvSpPr/>
          <p:nvPr/>
        </p:nvSpPr>
        <p:spPr>
          <a:xfrm>
            <a:off x="4636080" y="5001840"/>
            <a:ext cx="28800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Express delivery  •  25 LEI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67"/>
          <p:cNvSpPr/>
          <p:nvPr/>
        </p:nvSpPr>
        <p:spPr>
          <a:xfrm>
            <a:off x="4526280" y="5294520"/>
            <a:ext cx="3135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2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Order summary  •  2 items  •  Total: 244.98 LEI</a:t>
            </a:r>
            <a:endParaRPr b="0" lang="en-US" sz="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68"/>
          <p:cNvSpPr/>
          <p:nvPr/>
        </p:nvSpPr>
        <p:spPr>
          <a:xfrm>
            <a:off x="4526280" y="5532120"/>
            <a:ext cx="3135960" cy="347040"/>
          </a:xfrm>
          <a:prstGeom prst="roundRect">
            <a:avLst>
              <a:gd name="adj" fmla="val 7895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69"/>
          <p:cNvSpPr/>
          <p:nvPr/>
        </p:nvSpPr>
        <p:spPr>
          <a:xfrm>
            <a:off x="4636080" y="5623560"/>
            <a:ext cx="288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Continue to test payment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70"/>
          <p:cNvSpPr/>
          <p:nvPr/>
        </p:nvSpPr>
        <p:spPr>
          <a:xfrm>
            <a:off x="8202240" y="2112120"/>
            <a:ext cx="3300480" cy="3564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71"/>
          <p:cNvSpPr/>
          <p:nvPr/>
        </p:nvSpPr>
        <p:spPr>
          <a:xfrm>
            <a:off x="8312040" y="2185560"/>
            <a:ext cx="63972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0" strike="noStrike" u="none">
                <a:solidFill>
                  <a:srgbClr val="101812"/>
                </a:solidFill>
                <a:effectLst/>
                <a:uFillTx/>
                <a:latin typeface="Aptos Display"/>
                <a:ea typeface="Aptos Display"/>
              </a:rPr>
              <a:t>Admin</a:t>
            </a:r>
            <a:endParaRPr b="0" lang="en-US" sz="9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72"/>
          <p:cNvSpPr/>
          <p:nvPr/>
        </p:nvSpPr>
        <p:spPr>
          <a:xfrm>
            <a:off x="8979480" y="2217600"/>
            <a:ext cx="143532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" strike="noStrike" u="none">
                <a:solidFill>
                  <a:srgbClr val="4b5a4f"/>
                </a:solidFill>
                <a:effectLst/>
                <a:uFillTx/>
                <a:latin typeface="Aptos"/>
                <a:ea typeface="Aptos"/>
              </a:rPr>
              <a:t>Products  Categories  Orders</a:t>
            </a:r>
            <a:endParaRPr b="0" lang="en-US" sz="5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73"/>
          <p:cNvSpPr/>
          <p:nvPr/>
        </p:nvSpPr>
        <p:spPr>
          <a:xfrm>
            <a:off x="10515600" y="2167200"/>
            <a:ext cx="804240" cy="228240"/>
          </a:xfrm>
          <a:prstGeom prst="roundRect">
            <a:avLst>
              <a:gd name="adj" fmla="val 1200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74"/>
          <p:cNvSpPr/>
          <p:nvPr/>
        </p:nvSpPr>
        <p:spPr>
          <a:xfrm>
            <a:off x="10570320" y="2217600"/>
            <a:ext cx="68544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8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+ Add</a:t>
            </a:r>
            <a:endParaRPr b="0" lang="en-US" sz="6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75"/>
          <p:cNvSpPr/>
          <p:nvPr/>
        </p:nvSpPr>
        <p:spPr>
          <a:xfrm>
            <a:off x="8266320" y="2651760"/>
            <a:ext cx="3172680" cy="292320"/>
          </a:xfrm>
          <a:prstGeom prst="roundRect">
            <a:avLst>
              <a:gd name="adj" fmla="val 9375"/>
            </a:avLst>
          </a:prstGeom>
          <a:solidFill>
            <a:srgbClr val="dde5d9"/>
          </a:solidFill>
          <a:ln w="10160">
            <a:solidFill>
              <a:srgbClr val="dde5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76"/>
          <p:cNvSpPr/>
          <p:nvPr/>
        </p:nvSpPr>
        <p:spPr>
          <a:xfrm>
            <a:off x="8357760" y="2734200"/>
            <a:ext cx="959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455348"/>
                </a:solidFill>
                <a:effectLst/>
                <a:uFillTx/>
                <a:latin typeface="Aptos"/>
                <a:ea typeface="Aptos"/>
              </a:rPr>
              <a:t>PRODUCT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77"/>
          <p:cNvSpPr/>
          <p:nvPr/>
        </p:nvSpPr>
        <p:spPr>
          <a:xfrm>
            <a:off x="9729360" y="2734200"/>
            <a:ext cx="47520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455348"/>
                </a:solidFill>
                <a:effectLst/>
                <a:uFillTx/>
                <a:latin typeface="Aptos"/>
                <a:ea typeface="Aptos"/>
              </a:rPr>
              <a:t>STOCK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78"/>
          <p:cNvSpPr/>
          <p:nvPr/>
        </p:nvSpPr>
        <p:spPr>
          <a:xfrm>
            <a:off x="10314360" y="2734200"/>
            <a:ext cx="8409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50" strike="noStrike" u="none">
                <a:solidFill>
                  <a:srgbClr val="455348"/>
                </a:solidFill>
                <a:effectLst/>
                <a:uFillTx/>
                <a:latin typeface="Aptos"/>
                <a:ea typeface="Aptos"/>
              </a:rPr>
              <a:t>ACTIONS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79"/>
          <p:cNvSpPr/>
          <p:nvPr/>
        </p:nvSpPr>
        <p:spPr>
          <a:xfrm>
            <a:off x="8266320" y="2953440"/>
            <a:ext cx="3172680" cy="438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0e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80"/>
          <p:cNvSpPr/>
          <p:nvPr/>
        </p:nvSpPr>
        <p:spPr>
          <a:xfrm>
            <a:off x="8357760" y="3081600"/>
            <a:ext cx="1261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Whey Protein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81"/>
          <p:cNvSpPr/>
          <p:nvPr/>
        </p:nvSpPr>
        <p:spPr>
          <a:xfrm>
            <a:off x="9784080" y="3081600"/>
            <a:ext cx="3837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24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82"/>
          <p:cNvSpPr/>
          <p:nvPr/>
        </p:nvSpPr>
        <p:spPr>
          <a:xfrm>
            <a:off x="10296000" y="3044880"/>
            <a:ext cx="402120" cy="219240"/>
          </a:xfrm>
          <a:prstGeom prst="roundRect">
            <a:avLst>
              <a:gd name="adj" fmla="val 8333"/>
            </a:avLst>
          </a:prstGeom>
          <a:solidFill>
            <a:srgbClr val="e7efdd"/>
          </a:solidFill>
          <a:ln w="10160">
            <a:solidFill>
              <a:srgbClr val="e7e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83"/>
          <p:cNvSpPr/>
          <p:nvPr/>
        </p:nvSpPr>
        <p:spPr>
          <a:xfrm>
            <a:off x="10314360" y="3090600"/>
            <a:ext cx="3654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42653a"/>
                </a:solidFill>
                <a:effectLst/>
                <a:uFillTx/>
                <a:latin typeface="Aptos"/>
                <a:ea typeface="Aptos"/>
              </a:rPr>
              <a:t>Edit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84"/>
          <p:cNvSpPr/>
          <p:nvPr/>
        </p:nvSpPr>
        <p:spPr>
          <a:xfrm>
            <a:off x="10753200" y="3044880"/>
            <a:ext cx="420120" cy="219240"/>
          </a:xfrm>
          <a:prstGeom prst="roundRect">
            <a:avLst>
              <a:gd name="adj" fmla="val 8333"/>
            </a:avLst>
          </a:prstGeom>
          <a:solidFill>
            <a:srgbClr val="f7e4df"/>
          </a:solidFill>
          <a:ln w="10160">
            <a:solidFill>
              <a:srgbClr val="f7e4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85"/>
          <p:cNvSpPr/>
          <p:nvPr/>
        </p:nvSpPr>
        <p:spPr>
          <a:xfrm>
            <a:off x="10771560" y="309060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944c44"/>
                </a:solidFill>
                <a:effectLst/>
                <a:uFillTx/>
                <a:latin typeface="Aptos"/>
                <a:ea typeface="Aptos"/>
              </a:rPr>
              <a:t>Del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86"/>
          <p:cNvSpPr/>
          <p:nvPr/>
        </p:nvSpPr>
        <p:spPr>
          <a:xfrm>
            <a:off x="8266320" y="3456360"/>
            <a:ext cx="3172680" cy="438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0e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87"/>
          <p:cNvSpPr/>
          <p:nvPr/>
        </p:nvSpPr>
        <p:spPr>
          <a:xfrm>
            <a:off x="8357760" y="3584520"/>
            <a:ext cx="1261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Training Tee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88"/>
          <p:cNvSpPr/>
          <p:nvPr/>
        </p:nvSpPr>
        <p:spPr>
          <a:xfrm>
            <a:off x="9784080" y="3584520"/>
            <a:ext cx="3837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15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89"/>
          <p:cNvSpPr/>
          <p:nvPr/>
        </p:nvSpPr>
        <p:spPr>
          <a:xfrm>
            <a:off x="10296000" y="3547800"/>
            <a:ext cx="402120" cy="219240"/>
          </a:xfrm>
          <a:prstGeom prst="roundRect">
            <a:avLst>
              <a:gd name="adj" fmla="val 8333"/>
            </a:avLst>
          </a:prstGeom>
          <a:solidFill>
            <a:srgbClr val="e7efdd"/>
          </a:solidFill>
          <a:ln w="10160">
            <a:solidFill>
              <a:srgbClr val="e7e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90"/>
          <p:cNvSpPr/>
          <p:nvPr/>
        </p:nvSpPr>
        <p:spPr>
          <a:xfrm>
            <a:off x="10314360" y="3593520"/>
            <a:ext cx="3654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42653a"/>
                </a:solidFill>
                <a:effectLst/>
                <a:uFillTx/>
                <a:latin typeface="Aptos"/>
                <a:ea typeface="Aptos"/>
              </a:rPr>
              <a:t>Edit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91"/>
          <p:cNvSpPr/>
          <p:nvPr/>
        </p:nvSpPr>
        <p:spPr>
          <a:xfrm>
            <a:off x="10753200" y="3547800"/>
            <a:ext cx="420120" cy="219240"/>
          </a:xfrm>
          <a:prstGeom prst="roundRect">
            <a:avLst>
              <a:gd name="adj" fmla="val 8333"/>
            </a:avLst>
          </a:prstGeom>
          <a:solidFill>
            <a:srgbClr val="f7e4df"/>
          </a:solidFill>
          <a:ln w="10160">
            <a:solidFill>
              <a:srgbClr val="f7e4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92"/>
          <p:cNvSpPr/>
          <p:nvPr/>
        </p:nvSpPr>
        <p:spPr>
          <a:xfrm>
            <a:off x="10771560" y="359352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944c44"/>
                </a:solidFill>
                <a:effectLst/>
                <a:uFillTx/>
                <a:latin typeface="Aptos"/>
                <a:ea typeface="Aptos"/>
              </a:rPr>
              <a:t>Del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93"/>
          <p:cNvSpPr/>
          <p:nvPr/>
        </p:nvSpPr>
        <p:spPr>
          <a:xfrm>
            <a:off x="8266320" y="3959280"/>
            <a:ext cx="3172680" cy="438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0e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94"/>
          <p:cNvSpPr/>
          <p:nvPr/>
        </p:nvSpPr>
        <p:spPr>
          <a:xfrm>
            <a:off x="8357760" y="4087440"/>
            <a:ext cx="1261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Lifting Straps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95"/>
          <p:cNvSpPr/>
          <p:nvPr/>
        </p:nvSpPr>
        <p:spPr>
          <a:xfrm>
            <a:off x="9784080" y="4087440"/>
            <a:ext cx="3837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8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96"/>
          <p:cNvSpPr/>
          <p:nvPr/>
        </p:nvSpPr>
        <p:spPr>
          <a:xfrm>
            <a:off x="10296000" y="4050720"/>
            <a:ext cx="402120" cy="219240"/>
          </a:xfrm>
          <a:prstGeom prst="roundRect">
            <a:avLst>
              <a:gd name="adj" fmla="val 8333"/>
            </a:avLst>
          </a:prstGeom>
          <a:solidFill>
            <a:srgbClr val="e7efdd"/>
          </a:solidFill>
          <a:ln w="10160">
            <a:solidFill>
              <a:srgbClr val="e7e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97"/>
          <p:cNvSpPr/>
          <p:nvPr/>
        </p:nvSpPr>
        <p:spPr>
          <a:xfrm>
            <a:off x="10314360" y="4096440"/>
            <a:ext cx="3654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42653a"/>
                </a:solidFill>
                <a:effectLst/>
                <a:uFillTx/>
                <a:latin typeface="Aptos"/>
                <a:ea typeface="Aptos"/>
              </a:rPr>
              <a:t>Edit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98"/>
          <p:cNvSpPr/>
          <p:nvPr/>
        </p:nvSpPr>
        <p:spPr>
          <a:xfrm>
            <a:off x="10753200" y="4050720"/>
            <a:ext cx="420120" cy="219240"/>
          </a:xfrm>
          <a:prstGeom prst="roundRect">
            <a:avLst>
              <a:gd name="adj" fmla="val 8333"/>
            </a:avLst>
          </a:prstGeom>
          <a:solidFill>
            <a:srgbClr val="f7e4df"/>
          </a:solidFill>
          <a:ln w="10160">
            <a:solidFill>
              <a:srgbClr val="f7e4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99"/>
          <p:cNvSpPr/>
          <p:nvPr/>
        </p:nvSpPr>
        <p:spPr>
          <a:xfrm>
            <a:off x="10771560" y="409644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944c44"/>
                </a:solidFill>
                <a:effectLst/>
                <a:uFillTx/>
                <a:latin typeface="Aptos"/>
                <a:ea typeface="Aptos"/>
              </a:rPr>
              <a:t>Del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00"/>
          <p:cNvSpPr/>
          <p:nvPr/>
        </p:nvSpPr>
        <p:spPr>
          <a:xfrm>
            <a:off x="8266320" y="4462200"/>
            <a:ext cx="3172680" cy="4384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e0e6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101"/>
          <p:cNvSpPr/>
          <p:nvPr/>
        </p:nvSpPr>
        <p:spPr>
          <a:xfrm>
            <a:off x="8357760" y="4590360"/>
            <a:ext cx="1261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Creatine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02"/>
          <p:cNvSpPr/>
          <p:nvPr/>
        </p:nvSpPr>
        <p:spPr>
          <a:xfrm>
            <a:off x="9784080" y="4590360"/>
            <a:ext cx="38376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90" strike="noStrike" u="none">
                <a:solidFill>
                  <a:srgbClr val="101812"/>
                </a:solidFill>
                <a:effectLst/>
                <a:uFillTx/>
                <a:latin typeface="Aptos"/>
                <a:ea typeface="Aptos"/>
              </a:rPr>
              <a:t>32</a:t>
            </a:r>
            <a:endParaRPr b="0" lang="en-US" sz="6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103"/>
          <p:cNvSpPr/>
          <p:nvPr/>
        </p:nvSpPr>
        <p:spPr>
          <a:xfrm>
            <a:off x="10296000" y="4553640"/>
            <a:ext cx="402120" cy="219240"/>
          </a:xfrm>
          <a:prstGeom prst="roundRect">
            <a:avLst>
              <a:gd name="adj" fmla="val 8333"/>
            </a:avLst>
          </a:prstGeom>
          <a:solidFill>
            <a:srgbClr val="e7efdd"/>
          </a:solidFill>
          <a:ln w="10160">
            <a:solidFill>
              <a:srgbClr val="e7e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104"/>
          <p:cNvSpPr/>
          <p:nvPr/>
        </p:nvSpPr>
        <p:spPr>
          <a:xfrm>
            <a:off x="10314360" y="4599360"/>
            <a:ext cx="36540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42653a"/>
                </a:solidFill>
                <a:effectLst/>
                <a:uFillTx/>
                <a:latin typeface="Aptos"/>
                <a:ea typeface="Aptos"/>
              </a:rPr>
              <a:t>Edit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05"/>
          <p:cNvSpPr/>
          <p:nvPr/>
        </p:nvSpPr>
        <p:spPr>
          <a:xfrm>
            <a:off x="10753200" y="4553640"/>
            <a:ext cx="420120" cy="219240"/>
          </a:xfrm>
          <a:prstGeom prst="roundRect">
            <a:avLst>
              <a:gd name="adj" fmla="val 8333"/>
            </a:avLst>
          </a:prstGeom>
          <a:solidFill>
            <a:srgbClr val="f7e4df"/>
          </a:solidFill>
          <a:ln w="10160">
            <a:solidFill>
              <a:srgbClr val="f7e4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106"/>
          <p:cNvSpPr/>
          <p:nvPr/>
        </p:nvSpPr>
        <p:spPr>
          <a:xfrm>
            <a:off x="10771560" y="4599360"/>
            <a:ext cx="3837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90" strike="noStrike" u="none">
                <a:solidFill>
                  <a:srgbClr val="944c44"/>
                </a:solidFill>
                <a:effectLst/>
                <a:uFillTx/>
                <a:latin typeface="Aptos"/>
                <a:ea typeface="Aptos"/>
              </a:rPr>
              <a:t>Del</a:t>
            </a:r>
            <a:endParaRPr b="0" lang="en-US" sz="5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107"/>
          <p:cNvSpPr/>
          <p:nvPr/>
        </p:nvSpPr>
        <p:spPr>
          <a:xfrm>
            <a:off x="8266320" y="5083920"/>
            <a:ext cx="3172680" cy="475200"/>
          </a:xfrm>
          <a:prstGeom prst="roundRect">
            <a:avLst>
              <a:gd name="adj" fmla="val 5769"/>
            </a:avLst>
          </a:prstGeom>
          <a:solidFill>
            <a:srgbClr val="e8eee4"/>
          </a:solidFill>
          <a:ln w="10160">
            <a:solidFill>
              <a:srgbClr val="e8ee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08"/>
          <p:cNvSpPr/>
          <p:nvPr/>
        </p:nvSpPr>
        <p:spPr>
          <a:xfrm>
            <a:off x="8366760" y="5221080"/>
            <a:ext cx="2971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70" strike="noStrike" u="none">
                <a:solidFill>
                  <a:srgbClr val="405145"/>
                </a:solidFill>
                <a:effectLst/>
                <a:uFillTx/>
                <a:latin typeface="Aptos"/>
                <a:ea typeface="Aptos"/>
              </a:rPr>
              <a:t>Orders  •  Filter by status  •  Update delivery state</a:t>
            </a:r>
            <a:endParaRPr b="0" lang="en-US" sz="6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109"/>
          <p:cNvSpPr/>
          <p:nvPr/>
        </p:nvSpPr>
        <p:spPr>
          <a:xfrm>
            <a:off x="640080" y="6199560"/>
            <a:ext cx="20113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Customer screens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110"/>
          <p:cNvSpPr/>
          <p:nvPr/>
        </p:nvSpPr>
        <p:spPr>
          <a:xfrm>
            <a:off x="4407480" y="6199560"/>
            <a:ext cx="18284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Purchase flow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11"/>
          <p:cNvSpPr/>
          <p:nvPr/>
        </p:nvSpPr>
        <p:spPr>
          <a:xfrm>
            <a:off x="8174880" y="6199560"/>
            <a:ext cx="2468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" spc="7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Admin-only management</a:t>
            </a:r>
            <a:endParaRPr b="0" lang="en-US" sz="7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WORKING PROTOTYPE / LIVE DEMONSTRATION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What the P2 prototype must prove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3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Keep the live demo focused on the two acceptance points named in the course specification.</a:t>
            </a:r>
            <a:endParaRPr b="0" lang="en-US" sz="10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13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1"/>
          <p:cNvSpPr/>
          <p:nvPr/>
        </p:nvSpPr>
        <p:spPr>
          <a:xfrm>
            <a:off x="567000" y="1737360"/>
            <a:ext cx="6903360" cy="4315680"/>
          </a:xfrm>
          <a:prstGeom prst="roundRect">
            <a:avLst>
              <a:gd name="adj" fmla="val 2754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2"/>
          <p:cNvSpPr/>
          <p:nvPr/>
        </p:nvSpPr>
        <p:spPr>
          <a:xfrm>
            <a:off x="831960" y="1993320"/>
            <a:ext cx="155412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3"/>
          <p:cNvSpPr/>
          <p:nvPr/>
        </p:nvSpPr>
        <p:spPr>
          <a:xfrm>
            <a:off x="887040" y="2007000"/>
            <a:ext cx="1444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LIVE DEMO CHECKLIST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14"/>
          <p:cNvSpPr/>
          <p:nvPr/>
        </p:nvSpPr>
        <p:spPr>
          <a:xfrm>
            <a:off x="841320" y="248724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15"/>
          <p:cNvSpPr/>
          <p:nvPr/>
        </p:nvSpPr>
        <p:spPr>
          <a:xfrm>
            <a:off x="896040" y="250092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6"/>
          <p:cNvSpPr/>
          <p:nvPr/>
        </p:nvSpPr>
        <p:spPr>
          <a:xfrm>
            <a:off x="1417320" y="2477880"/>
            <a:ext cx="2239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Start the app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7"/>
          <p:cNvSpPr/>
          <p:nvPr/>
        </p:nvSpPr>
        <p:spPr>
          <a:xfrm>
            <a:off x="1417320" y="2724840"/>
            <a:ext cx="5440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README should get the project running locally in five commands or fewer.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8"/>
          <p:cNvSpPr/>
          <p:nvPr/>
        </p:nvSpPr>
        <p:spPr>
          <a:xfrm>
            <a:off x="841320" y="324612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19"/>
          <p:cNvSpPr/>
          <p:nvPr/>
        </p:nvSpPr>
        <p:spPr>
          <a:xfrm>
            <a:off x="896040" y="325980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20"/>
          <p:cNvSpPr/>
          <p:nvPr/>
        </p:nvSpPr>
        <p:spPr>
          <a:xfrm>
            <a:off x="1417320" y="3237120"/>
            <a:ext cx="2239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Browse the catalog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21"/>
          <p:cNvSpPr/>
          <p:nvPr/>
        </p:nvSpPr>
        <p:spPr>
          <a:xfrm>
            <a:off x="1417320" y="3483720"/>
            <a:ext cx="5440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Show at least 30 products across 4+ categories, read from MySQL seed data.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22"/>
          <p:cNvSpPr/>
          <p:nvPr/>
        </p:nvSpPr>
        <p:spPr>
          <a:xfrm>
            <a:off x="841320" y="400500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23"/>
          <p:cNvSpPr/>
          <p:nvPr/>
        </p:nvSpPr>
        <p:spPr>
          <a:xfrm>
            <a:off x="896040" y="401868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24"/>
          <p:cNvSpPr/>
          <p:nvPr/>
        </p:nvSpPr>
        <p:spPr>
          <a:xfrm>
            <a:off x="1417320" y="3996000"/>
            <a:ext cx="2239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Open product details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25"/>
          <p:cNvSpPr/>
          <p:nvPr/>
        </p:nvSpPr>
        <p:spPr>
          <a:xfrm>
            <a:off x="1417320" y="4242960"/>
            <a:ext cx="5440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Show a product’s image, name, description, price and stock availability.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26"/>
          <p:cNvSpPr/>
          <p:nvPr/>
        </p:nvSpPr>
        <p:spPr>
          <a:xfrm>
            <a:off x="841320" y="4763880"/>
            <a:ext cx="39276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27"/>
          <p:cNvSpPr/>
          <p:nvPr/>
        </p:nvSpPr>
        <p:spPr>
          <a:xfrm>
            <a:off x="896040" y="4777920"/>
            <a:ext cx="28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6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7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28"/>
          <p:cNvSpPr/>
          <p:nvPr/>
        </p:nvSpPr>
        <p:spPr>
          <a:xfrm>
            <a:off x="1417320" y="4754880"/>
            <a:ext cx="2239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Sign in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29"/>
          <p:cNvSpPr/>
          <p:nvPr/>
        </p:nvSpPr>
        <p:spPr>
          <a:xfrm>
            <a:off x="1417320" y="5001840"/>
            <a:ext cx="5440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Demonstrate working login with the team’s prepared test account.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30"/>
          <p:cNvSpPr/>
          <p:nvPr/>
        </p:nvSpPr>
        <p:spPr>
          <a:xfrm>
            <a:off x="7754040" y="1737360"/>
            <a:ext cx="3913200" cy="1956600"/>
          </a:xfrm>
          <a:prstGeom prst="roundRect">
            <a:avLst>
              <a:gd name="adj" fmla="val 6075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31"/>
          <p:cNvSpPr/>
          <p:nvPr/>
        </p:nvSpPr>
        <p:spPr>
          <a:xfrm>
            <a:off x="8010000" y="1984320"/>
            <a:ext cx="117000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32"/>
          <p:cNvSpPr/>
          <p:nvPr/>
        </p:nvSpPr>
        <p:spPr>
          <a:xfrm>
            <a:off x="8065080" y="1998000"/>
            <a:ext cx="1060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P2 ACCEPTANCE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33"/>
          <p:cNvSpPr/>
          <p:nvPr/>
        </p:nvSpPr>
        <p:spPr>
          <a:xfrm>
            <a:off x="8010000" y="2395800"/>
            <a:ext cx="3126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Catalog + login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34"/>
          <p:cNvSpPr/>
          <p:nvPr/>
        </p:nvSpPr>
        <p:spPr>
          <a:xfrm>
            <a:off x="8010000" y="2853000"/>
            <a:ext cx="3090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The catalog must load seeded data from the database. The customer must be able to sign in.</a:t>
            </a:r>
            <a:endParaRPr b="0" lang="en-US" sz="10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35"/>
          <p:cNvSpPr/>
          <p:nvPr/>
        </p:nvSpPr>
        <p:spPr>
          <a:xfrm>
            <a:off x="7754040" y="3886200"/>
            <a:ext cx="3913200" cy="2166840"/>
          </a:xfrm>
          <a:prstGeom prst="roundRect">
            <a:avLst>
              <a:gd name="adj" fmla="val 5485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36"/>
          <p:cNvSpPr/>
          <p:nvPr/>
        </p:nvSpPr>
        <p:spPr>
          <a:xfrm>
            <a:off x="8010000" y="4133160"/>
            <a:ext cx="185580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37"/>
          <p:cNvSpPr/>
          <p:nvPr/>
        </p:nvSpPr>
        <p:spPr>
          <a:xfrm>
            <a:off x="8065080" y="4146840"/>
            <a:ext cx="1746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4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NEXT IMPLEMENTATION STAGE</a:t>
            </a:r>
            <a:endParaRPr b="0" lang="en-US" sz="7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38"/>
          <p:cNvSpPr/>
          <p:nvPr/>
        </p:nvSpPr>
        <p:spPr>
          <a:xfrm>
            <a:off x="8010000" y="455364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Build toward P3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39"/>
          <p:cNvSpPr/>
          <p:nvPr/>
        </p:nvSpPr>
        <p:spPr>
          <a:xfrm>
            <a:off x="8010000" y="5010840"/>
            <a:ext cx="3062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Cart and checkout • Stripe webhook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Stock and order management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B1 filters • B5 discount codes • B7 wishlist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40"/>
          <p:cNvSpPr/>
          <p:nvPr/>
        </p:nvSpPr>
        <p:spPr>
          <a:xfrm>
            <a:off x="621720" y="6199560"/>
            <a:ext cx="10652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0" strike="noStrike" u="none">
                <a:solidFill>
                  <a:srgbClr val="f0b46b"/>
                </a:solidFill>
                <a:effectLst/>
                <a:uFillTx/>
                <a:latin typeface="Aptos"/>
                <a:ea typeface="Aptos"/>
              </a:rPr>
              <a:t>Only demonstrate features that are actually running in the team’s current build. Do not present planned features as complete.</a:t>
            </a:r>
            <a:endParaRPr b="0" lang="en-US" sz="8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"/>
          <p:cNvSpPr/>
          <p:nvPr/>
        </p:nvSpPr>
        <p:spPr>
          <a:xfrm>
            <a:off x="530280" y="384120"/>
            <a:ext cx="50040" cy="18252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2"/>
          <p:cNvSpPr/>
          <p:nvPr/>
        </p:nvSpPr>
        <p:spPr>
          <a:xfrm>
            <a:off x="667440" y="3567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125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DELIVERY PLAN / TEAM OWNERSHIP</a:t>
            </a:r>
            <a:endParaRPr b="0" lang="en-US" sz="8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3"/>
          <p:cNvSpPr/>
          <p:nvPr/>
        </p:nvSpPr>
        <p:spPr>
          <a:xfrm>
            <a:off x="530280" y="667440"/>
            <a:ext cx="111553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Three leads, one integrated store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4"/>
          <p:cNvSpPr/>
          <p:nvPr/>
        </p:nvSpPr>
        <p:spPr>
          <a:xfrm>
            <a:off x="548640" y="1115640"/>
            <a:ext cx="1101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r>
              <a:rPr sz="1000">
                <a:solidFill>
                  <a:srgbClr val="A7B4AA"/>
                </a:solidFill>
              </a:rPr>
              <a:t>Responsibility colors follow P1; all three members still review and integrate the full store together.</a:t>
            </a:r>
          </a:p>
        </p:txBody>
      </p:sp>
      <p:sp>
        <p:nvSpPr>
          <p:cNvPr id="813" name="Shape 5"/>
          <p:cNvSpPr/>
          <p:nvPr/>
        </p:nvSpPr>
        <p:spPr>
          <a:xfrm>
            <a:off x="530280" y="1417320"/>
            <a:ext cx="1112832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6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7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8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9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0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14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11"/>
          <p:cNvSpPr/>
          <p:nvPr/>
        </p:nvSpPr>
        <p:spPr>
          <a:xfrm>
            <a:off x="567000" y="1700640"/>
            <a:ext cx="3529080" cy="2431800"/>
          </a:xfrm>
          <a:prstGeom prst="roundRect">
            <a:avLst>
              <a:gd name="adj" fmla="val 4511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12"/>
          <p:cNvSpPr/>
          <p:nvPr/>
        </p:nvSpPr>
        <p:spPr>
          <a:xfrm>
            <a:off x="567000" y="1700640"/>
            <a:ext cx="3529080" cy="54360"/>
          </a:xfrm>
          <a:prstGeom prst="roundRect">
            <a:avLst>
              <a:gd name="adj" fmla="val 16667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13"/>
          <p:cNvSpPr/>
          <p:nvPr/>
        </p:nvSpPr>
        <p:spPr>
          <a:xfrm>
            <a:off x="749880" y="1929240"/>
            <a:ext cx="316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Peca Ana Maria Cristina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4"/>
          <p:cNvSpPr/>
          <p:nvPr/>
        </p:nvSpPr>
        <p:spPr>
          <a:xfrm>
            <a:off x="749880" y="2295000"/>
            <a:ext cx="3163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34" strike="noStrike" u="none">
                <a:solidFill>
                  <a:srgbClr val="8AC6E8"/>
                </a:solidFill>
                <a:effectLst/>
                <a:uFillTx/>
                <a:latin typeface="Aptos"/>
                <a:ea typeface="Aptos"/>
              </a:rPr>
              <a:t>FRONTEND &amp; PRODUCT DISCOVERY</a:t>
            </a:r>
            <a:endParaRPr b="0" lang="en-US" sz="7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15"/>
          <p:cNvSpPr/>
          <p:nvPr/>
        </p:nvSpPr>
        <p:spPr>
          <a:xfrm>
            <a:off x="749520" y="2615040"/>
            <a:ext cx="3164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16"/>
          <p:cNvSpPr/>
          <p:nvPr/>
        </p:nvSpPr>
        <p:spPr>
          <a:xfrm>
            <a:off x="768240" y="2797920"/>
            <a:ext cx="63720" cy="63720"/>
          </a:xfrm>
          <a:prstGeom prst="roundRect">
            <a:avLst>
              <a:gd name="adj" fmla="val 28571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7"/>
          <p:cNvSpPr/>
          <p:nvPr/>
        </p:nvSpPr>
        <p:spPr>
          <a:xfrm>
            <a:off x="932760" y="273420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Catalog, categories, product pages (A1)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18"/>
          <p:cNvSpPr/>
          <p:nvPr/>
        </p:nvSpPr>
        <p:spPr>
          <a:xfrm>
            <a:off x="768240" y="3081600"/>
            <a:ext cx="63720" cy="63720"/>
          </a:xfrm>
          <a:prstGeom prst="roundRect">
            <a:avLst>
              <a:gd name="adj" fmla="val 28571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19"/>
          <p:cNvSpPr/>
          <p:nvPr/>
        </p:nvSpPr>
        <p:spPr>
          <a:xfrm>
            <a:off x="932760" y="3017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Search and filtered search (A2, B1)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20"/>
          <p:cNvSpPr/>
          <p:nvPr/>
        </p:nvSpPr>
        <p:spPr>
          <a:xfrm>
            <a:off x="768240" y="3364920"/>
            <a:ext cx="63720" cy="63720"/>
          </a:xfrm>
          <a:prstGeom prst="roundRect">
            <a:avLst>
              <a:gd name="adj" fmla="val 28571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1"/>
          <p:cNvSpPr/>
          <p:nvPr/>
        </p:nvSpPr>
        <p:spPr>
          <a:xfrm>
            <a:off x="932760" y="330084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Responsive layouts (A11)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22"/>
          <p:cNvSpPr/>
          <p:nvPr/>
        </p:nvSpPr>
        <p:spPr>
          <a:xfrm>
            <a:off x="768240" y="3648600"/>
            <a:ext cx="63720" cy="63720"/>
          </a:xfrm>
          <a:prstGeom prst="roundRect">
            <a:avLst>
              <a:gd name="adj" fmla="val 28571"/>
            </a:avLst>
          </a:prstGeom>
          <a:solidFill>
            <a:srgbClr val="8AC6E8"/>
          </a:solidFill>
          <a:ln w="10160">
            <a:solidFill>
              <a:srgbClr val="8AC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23"/>
          <p:cNvSpPr/>
          <p:nvPr/>
        </p:nvSpPr>
        <p:spPr>
          <a:xfrm>
            <a:off x="932760" y="3584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Wishlist interface (B7, with M3)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24"/>
          <p:cNvSpPr/>
          <p:nvPr/>
        </p:nvSpPr>
        <p:spPr>
          <a:xfrm>
            <a:off x="4334400" y="1700640"/>
            <a:ext cx="3529080" cy="2431800"/>
          </a:xfrm>
          <a:prstGeom prst="roundRect">
            <a:avLst>
              <a:gd name="adj" fmla="val 4511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5"/>
          <p:cNvSpPr/>
          <p:nvPr/>
        </p:nvSpPr>
        <p:spPr>
          <a:xfrm>
            <a:off x="4334400" y="1700640"/>
            <a:ext cx="3529080" cy="54360"/>
          </a:xfrm>
          <a:prstGeom prst="roundRect">
            <a:avLst>
              <a:gd name="adj" fmla="val 16667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26"/>
          <p:cNvSpPr/>
          <p:nvPr/>
        </p:nvSpPr>
        <p:spPr>
          <a:xfrm>
            <a:off x="4517280" y="1929240"/>
            <a:ext cx="316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Ploae Darius Adonis Ionuț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27"/>
          <p:cNvSpPr/>
          <p:nvPr/>
        </p:nvSpPr>
        <p:spPr>
          <a:xfrm>
            <a:off x="4517280" y="2295000"/>
            <a:ext cx="3163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34" strike="noStrike" u="none">
                <a:solidFill>
                  <a:srgbClr val="C5F26D"/>
                </a:solidFill>
                <a:effectLst/>
                <a:uFillTx/>
                <a:latin typeface="Aptos"/>
                <a:ea typeface="Aptos"/>
              </a:rPr>
              <a:t>BACKEND, CART &amp; PAYMENTS</a:t>
            </a:r>
            <a:endParaRPr b="0" lang="en-US" sz="7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8"/>
          <p:cNvSpPr/>
          <p:nvPr/>
        </p:nvSpPr>
        <p:spPr>
          <a:xfrm>
            <a:off x="4516920" y="2615040"/>
            <a:ext cx="3164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29"/>
          <p:cNvSpPr/>
          <p:nvPr/>
        </p:nvSpPr>
        <p:spPr>
          <a:xfrm>
            <a:off x="4535280" y="2797920"/>
            <a:ext cx="63720" cy="63720"/>
          </a:xfrm>
          <a:prstGeom prst="roundRect">
            <a:avLst>
              <a:gd name="adj" fmla="val 28571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30"/>
          <p:cNvSpPr/>
          <p:nvPr/>
        </p:nvSpPr>
        <p:spPr>
          <a:xfrm>
            <a:off x="4700160" y="273420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Cart rules and server totals (A3)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31"/>
          <p:cNvSpPr/>
          <p:nvPr/>
        </p:nvSpPr>
        <p:spPr>
          <a:xfrm>
            <a:off x="4535280" y="3081600"/>
            <a:ext cx="63720" cy="63720"/>
          </a:xfrm>
          <a:prstGeom prst="roundRect">
            <a:avLst>
              <a:gd name="adj" fmla="val 28571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32"/>
          <p:cNvSpPr/>
          <p:nvPr/>
        </p:nvSpPr>
        <p:spPr>
          <a:xfrm>
            <a:off x="4700160" y="3017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Checkout and Stripe confirmation (A5–A6)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33"/>
          <p:cNvSpPr/>
          <p:nvPr/>
        </p:nvSpPr>
        <p:spPr>
          <a:xfrm>
            <a:off x="4535280" y="3364920"/>
            <a:ext cx="63720" cy="63720"/>
          </a:xfrm>
          <a:prstGeom prst="roundRect">
            <a:avLst>
              <a:gd name="adj" fmla="val 28571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34"/>
          <p:cNvSpPr/>
          <p:nvPr/>
        </p:nvSpPr>
        <p:spPr>
          <a:xfrm>
            <a:off x="4700160" y="330084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Stock management (A7)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35"/>
          <p:cNvSpPr/>
          <p:nvPr/>
        </p:nvSpPr>
        <p:spPr>
          <a:xfrm>
            <a:off x="4535280" y="3648600"/>
            <a:ext cx="63720" cy="63720"/>
          </a:xfrm>
          <a:prstGeom prst="roundRect">
            <a:avLst>
              <a:gd name="adj" fmla="val 28571"/>
            </a:avLst>
          </a:prstGeom>
          <a:solidFill>
            <a:srgbClr val="C5F26D"/>
          </a:solidFill>
          <a:ln w="10160">
            <a:solidFill>
              <a:srgbClr val="C5F2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36"/>
          <p:cNvSpPr/>
          <p:nvPr/>
        </p:nvSpPr>
        <p:spPr>
          <a:xfrm>
            <a:off x="4700160" y="3584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Discount-code validation (B5)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37"/>
          <p:cNvSpPr/>
          <p:nvPr/>
        </p:nvSpPr>
        <p:spPr>
          <a:xfrm>
            <a:off x="8101440" y="1700640"/>
            <a:ext cx="3529080" cy="2431800"/>
          </a:xfrm>
          <a:prstGeom prst="roundRect">
            <a:avLst>
              <a:gd name="adj" fmla="val 4511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38"/>
          <p:cNvSpPr/>
          <p:nvPr/>
        </p:nvSpPr>
        <p:spPr>
          <a:xfrm>
            <a:off x="8101440" y="1700640"/>
            <a:ext cx="3529080" cy="54360"/>
          </a:xfrm>
          <a:prstGeom prst="roundRect">
            <a:avLst>
              <a:gd name="adj" fmla="val 16667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39"/>
          <p:cNvSpPr/>
          <p:nvPr/>
        </p:nvSpPr>
        <p:spPr>
          <a:xfrm>
            <a:off x="8284320" y="1929240"/>
            <a:ext cx="316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Nică David Andrei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40"/>
          <p:cNvSpPr/>
          <p:nvPr/>
        </p:nvSpPr>
        <p:spPr>
          <a:xfrm>
            <a:off x="8284320" y="2295000"/>
            <a:ext cx="3163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30" spc="34" strike="noStrike" u="none">
                <a:solidFill>
                  <a:srgbClr val="F3A65A"/>
                </a:solidFill>
                <a:effectLst/>
                <a:uFillTx/>
                <a:latin typeface="Aptos"/>
                <a:ea typeface="Aptos"/>
              </a:rPr>
              <a:t>DATABASE, ACCOUNTS &amp; ADMIN</a:t>
            </a:r>
            <a:endParaRPr b="0" lang="en-US" sz="7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41"/>
          <p:cNvSpPr/>
          <p:nvPr/>
        </p:nvSpPr>
        <p:spPr>
          <a:xfrm>
            <a:off x="8284320" y="2615040"/>
            <a:ext cx="316368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42"/>
          <p:cNvSpPr/>
          <p:nvPr/>
        </p:nvSpPr>
        <p:spPr>
          <a:xfrm>
            <a:off x="8302680" y="2797920"/>
            <a:ext cx="63720" cy="63720"/>
          </a:xfrm>
          <a:prstGeom prst="roundRect">
            <a:avLst>
              <a:gd name="adj" fmla="val 28571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43"/>
          <p:cNvSpPr/>
          <p:nvPr/>
        </p:nvSpPr>
        <p:spPr>
          <a:xfrm>
            <a:off x="8467200" y="273420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MySQL schema, migrations and seed data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44"/>
          <p:cNvSpPr/>
          <p:nvPr/>
        </p:nvSpPr>
        <p:spPr>
          <a:xfrm>
            <a:off x="8302680" y="3081600"/>
            <a:ext cx="63720" cy="63720"/>
          </a:xfrm>
          <a:prstGeom prst="roundRect">
            <a:avLst>
              <a:gd name="adj" fmla="val 28571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45"/>
          <p:cNvSpPr/>
          <p:nvPr/>
        </p:nvSpPr>
        <p:spPr>
          <a:xfrm>
            <a:off x="8467200" y="3017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Accounts and addresses (A4); order history (A8)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46"/>
          <p:cNvSpPr/>
          <p:nvPr/>
        </p:nvSpPr>
        <p:spPr>
          <a:xfrm>
            <a:off x="8302680" y="3364920"/>
            <a:ext cx="63720" cy="63720"/>
          </a:xfrm>
          <a:prstGeom prst="roundRect">
            <a:avLst>
              <a:gd name="adj" fmla="val 28571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47"/>
          <p:cNvSpPr/>
          <p:nvPr/>
        </p:nvSpPr>
        <p:spPr>
          <a:xfrm>
            <a:off x="8467200" y="330084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Admin products, categories and orders (A9)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48"/>
          <p:cNvSpPr/>
          <p:nvPr/>
        </p:nvSpPr>
        <p:spPr>
          <a:xfrm>
            <a:off x="8302680" y="3648600"/>
            <a:ext cx="63720" cy="63720"/>
          </a:xfrm>
          <a:prstGeom prst="roundRect">
            <a:avLst>
              <a:gd name="adj" fmla="val 28571"/>
            </a:avLst>
          </a:prstGeom>
          <a:solidFill>
            <a:srgbClr val="F3A65A"/>
          </a:solidFill>
          <a:ln w="10160">
            <a:solidFill>
              <a:srgbClr val="F3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49"/>
          <p:cNvSpPr/>
          <p:nvPr/>
        </p:nvSpPr>
        <p:spPr>
          <a:xfrm>
            <a:off x="8467200" y="3584520"/>
            <a:ext cx="296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Security and test coordination (A10, A12)</a:t>
            </a:r>
            <a:endParaRPr b="0" lang="en-US" sz="8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50"/>
          <p:cNvSpPr/>
          <p:nvPr/>
        </p:nvSpPr>
        <p:spPr>
          <a:xfrm>
            <a:off x="594360" y="446220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9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ROADMAP TO P3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51"/>
          <p:cNvSpPr/>
          <p:nvPr/>
        </p:nvSpPr>
        <p:spPr>
          <a:xfrm>
            <a:off x="567000" y="4809600"/>
            <a:ext cx="2605680" cy="1096920"/>
          </a:xfrm>
          <a:prstGeom prst="roundRect">
            <a:avLst>
              <a:gd name="adj" fmla="val 8333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52"/>
          <p:cNvSpPr/>
          <p:nvPr/>
        </p:nvSpPr>
        <p:spPr>
          <a:xfrm>
            <a:off x="713160" y="4946760"/>
            <a:ext cx="5756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53"/>
          <p:cNvSpPr/>
          <p:nvPr/>
        </p:nvSpPr>
        <p:spPr>
          <a:xfrm>
            <a:off x="768240" y="4960800"/>
            <a:ext cx="46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W8–9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54"/>
          <p:cNvSpPr/>
          <p:nvPr/>
        </p:nvSpPr>
        <p:spPr>
          <a:xfrm>
            <a:off x="713160" y="5285160"/>
            <a:ext cx="23130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Finish core cart, checkout and verified test-payment flow.</a:t>
            </a:r>
            <a:endParaRPr b="0" lang="en-US" sz="88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55"/>
          <p:cNvSpPr/>
          <p:nvPr/>
        </p:nvSpPr>
        <p:spPr>
          <a:xfrm>
            <a:off x="3383280" y="4809600"/>
            <a:ext cx="2605680" cy="1096920"/>
          </a:xfrm>
          <a:prstGeom prst="roundRect">
            <a:avLst>
              <a:gd name="adj" fmla="val 8333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56"/>
          <p:cNvSpPr/>
          <p:nvPr/>
        </p:nvSpPr>
        <p:spPr>
          <a:xfrm>
            <a:off x="3529440" y="4946760"/>
            <a:ext cx="5756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57"/>
          <p:cNvSpPr/>
          <p:nvPr/>
        </p:nvSpPr>
        <p:spPr>
          <a:xfrm>
            <a:off x="3584520" y="4960800"/>
            <a:ext cx="46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W10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58"/>
          <p:cNvSpPr/>
          <p:nvPr/>
        </p:nvSpPr>
        <p:spPr>
          <a:xfrm>
            <a:off x="3529440" y="5285160"/>
            <a:ext cx="23130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Complete admin order handling, history and selected bonuses.</a:t>
            </a:r>
            <a:endParaRPr b="0" lang="en-US" sz="88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59"/>
          <p:cNvSpPr/>
          <p:nvPr/>
        </p:nvSpPr>
        <p:spPr>
          <a:xfrm>
            <a:off x="6199560" y="4809600"/>
            <a:ext cx="2605680" cy="1096920"/>
          </a:xfrm>
          <a:prstGeom prst="roundRect">
            <a:avLst>
              <a:gd name="adj" fmla="val 8333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60"/>
          <p:cNvSpPr/>
          <p:nvPr/>
        </p:nvSpPr>
        <p:spPr>
          <a:xfrm>
            <a:off x="6346080" y="4946760"/>
            <a:ext cx="5756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61"/>
          <p:cNvSpPr/>
          <p:nvPr/>
        </p:nvSpPr>
        <p:spPr>
          <a:xfrm>
            <a:off x="6400800" y="4960800"/>
            <a:ext cx="46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W11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62"/>
          <p:cNvSpPr/>
          <p:nvPr/>
        </p:nvSpPr>
        <p:spPr>
          <a:xfrm>
            <a:off x="6346080" y="5285160"/>
            <a:ext cx="23130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Validate 360 px layouts; add and run 10+ automated tests.</a:t>
            </a:r>
            <a:endParaRPr b="0" lang="en-US" sz="88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63"/>
          <p:cNvSpPr/>
          <p:nvPr/>
        </p:nvSpPr>
        <p:spPr>
          <a:xfrm>
            <a:off x="9015840" y="4809600"/>
            <a:ext cx="2605680" cy="1096920"/>
          </a:xfrm>
          <a:prstGeom prst="roundRect">
            <a:avLst>
              <a:gd name="adj" fmla="val 8333"/>
            </a:avLst>
          </a:prstGeom>
          <a:solidFill>
            <a:srgbClr val="19251f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64"/>
          <p:cNvSpPr/>
          <p:nvPr/>
        </p:nvSpPr>
        <p:spPr>
          <a:xfrm>
            <a:off x="9162360" y="4946760"/>
            <a:ext cx="57564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65"/>
          <p:cNvSpPr/>
          <p:nvPr/>
        </p:nvSpPr>
        <p:spPr>
          <a:xfrm>
            <a:off x="9217080" y="4960800"/>
            <a:ext cx="46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W12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66"/>
          <p:cNvSpPr/>
          <p:nvPr/>
        </p:nvSpPr>
        <p:spPr>
          <a:xfrm>
            <a:off x="9162360" y="5285160"/>
            <a:ext cx="23130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9" strike="noStrike" u="none">
                <a:solidFill>
                  <a:srgbClr val="f3f6f0"/>
                </a:solidFill>
                <a:effectLst/>
                <a:uFillTx/>
                <a:latin typeface="Aptos"/>
                <a:ea typeface="Aptos"/>
              </a:rPr>
              <a:t>Fix integration issues, complete README and rehearse the demo.</a:t>
            </a:r>
            <a:endParaRPr b="0" lang="en-US" sz="88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67"/>
          <p:cNvSpPr/>
          <p:nvPr/>
        </p:nvSpPr>
        <p:spPr>
          <a:xfrm>
            <a:off x="603360" y="6117480"/>
            <a:ext cx="106066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Every member contributes individual Git commits and should be able to explain their own code and the full purchase flow.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Box 875"/>
          <p:cNvSpPr txBox="1"/>
          <p:nvPr/>
        </p:nvSpPr>
        <p:spPr>
          <a:xfrm>
            <a:off x="594360" y="1485900"/>
            <a:ext cx="1170432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70" b="1">
                <a:solidFill>
                  <a:srgbClr val="A7B4AA"/>
                </a:solidFill>
                <a:latin typeface="Aptos"/>
              </a:rPr>
              <a:t>P1 ROLE COLOR KEY</a:t>
            </a:r>
          </a:p>
        </p:txBody>
      </p:sp>
      <p:sp>
        <p:nvSpPr>
          <p:cNvPr id="877" name="Rectangle 876"/>
          <p:cNvSpPr/>
          <p:nvPr/>
        </p:nvSpPr>
        <p:spPr>
          <a:xfrm>
            <a:off x="1764792" y="1522476"/>
            <a:ext cx="86868" cy="86868"/>
          </a:xfrm>
          <a:prstGeom prst="rect">
            <a:avLst/>
          </a:prstGeom>
          <a:solidFill>
            <a:srgbClr val="8AC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8" name="TextBox 877"/>
          <p:cNvSpPr txBox="1"/>
          <p:nvPr/>
        </p:nvSpPr>
        <p:spPr>
          <a:xfrm>
            <a:off x="1901952" y="1485900"/>
            <a:ext cx="2057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A7B4AA"/>
                </a:solidFill>
                <a:latin typeface="Aptos"/>
              </a:rPr>
              <a:t>FRONTEND &amp; PRODUCT DISCOVERY</a:t>
            </a:r>
          </a:p>
        </p:txBody>
      </p:sp>
      <p:sp>
        <p:nvSpPr>
          <p:cNvPr id="879" name="Rectangle 878"/>
          <p:cNvSpPr/>
          <p:nvPr/>
        </p:nvSpPr>
        <p:spPr>
          <a:xfrm>
            <a:off x="4178808" y="1522476"/>
            <a:ext cx="86868" cy="86868"/>
          </a:xfrm>
          <a:prstGeom prst="rect">
            <a:avLst/>
          </a:prstGeom>
          <a:solidFill>
            <a:srgbClr val="C5F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0" name="TextBox 879"/>
          <p:cNvSpPr txBox="1"/>
          <p:nvPr/>
        </p:nvSpPr>
        <p:spPr>
          <a:xfrm>
            <a:off x="4315968" y="1485900"/>
            <a:ext cx="242316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A7B4AA"/>
                </a:solidFill>
                <a:latin typeface="Aptos"/>
              </a:rPr>
              <a:t>BACKEND, CART &amp; PAYMENTS</a:t>
            </a:r>
          </a:p>
        </p:txBody>
      </p:sp>
      <p:sp>
        <p:nvSpPr>
          <p:cNvPr id="881" name="Rectangle 880"/>
          <p:cNvSpPr/>
          <p:nvPr/>
        </p:nvSpPr>
        <p:spPr>
          <a:xfrm>
            <a:off x="6976872" y="1522476"/>
            <a:ext cx="86868" cy="86868"/>
          </a:xfrm>
          <a:prstGeom prst="rect">
            <a:avLst/>
          </a:prstGeom>
          <a:solidFill>
            <a:srgbClr val="F3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2" name="TextBox 881"/>
          <p:cNvSpPr txBox="1"/>
          <p:nvPr/>
        </p:nvSpPr>
        <p:spPr>
          <a:xfrm>
            <a:off x="7114032" y="1485900"/>
            <a:ext cx="30632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A7B4AA"/>
                </a:solidFill>
                <a:latin typeface="Aptos"/>
              </a:rPr>
              <a:t>DATABASE, ACCOUNTS &amp; ADMIN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100d"/>
          </a:solidFill>
          <a:ln w="12700">
            <a:solidFill>
              <a:srgbClr val="0a100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"/>
          <p:cNvSpPr/>
          <p:nvPr/>
        </p:nvSpPr>
        <p:spPr>
          <a:xfrm>
            <a:off x="640080" y="630360"/>
            <a:ext cx="483480" cy="104760"/>
          </a:xfrm>
          <a:prstGeom prst="roundRect">
            <a:avLst>
              <a:gd name="adj" fmla="val 17391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2"/>
          <p:cNvSpPr/>
          <p:nvPr/>
        </p:nvSpPr>
        <p:spPr>
          <a:xfrm>
            <a:off x="660960" y="514800"/>
            <a:ext cx="115200" cy="315000"/>
          </a:xfrm>
          <a:prstGeom prst="roundRect">
            <a:avLst>
              <a:gd name="adj" fmla="val 1581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Shape 3"/>
          <p:cNvSpPr/>
          <p:nvPr/>
        </p:nvSpPr>
        <p:spPr>
          <a:xfrm>
            <a:off x="1008000" y="514800"/>
            <a:ext cx="115200" cy="315000"/>
          </a:xfrm>
          <a:prstGeom prst="roundRect">
            <a:avLst>
              <a:gd name="adj" fmla="val 15810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4"/>
          <p:cNvSpPr/>
          <p:nvPr/>
        </p:nvSpPr>
        <p:spPr>
          <a:xfrm>
            <a:off x="1249920" y="493920"/>
            <a:ext cx="2313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LIFT &amp; AESTHETICS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5"/>
          <p:cNvSpPr/>
          <p:nvPr/>
        </p:nvSpPr>
        <p:spPr>
          <a:xfrm>
            <a:off x="1260360" y="714600"/>
            <a:ext cx="247068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50" spc="111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GYM ESSENTIALS ONLINE STORE</a:t>
            </a:r>
            <a:endParaRPr b="0" lang="en-US" sz="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6"/>
          <p:cNvSpPr/>
          <p:nvPr/>
        </p:nvSpPr>
        <p:spPr>
          <a:xfrm>
            <a:off x="658440" y="1444680"/>
            <a:ext cx="5211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70" spc="136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P2  /  SPECIFICATION &amp; PROTOTYPE</a:t>
            </a:r>
            <a:endParaRPr b="0" lang="en-US" sz="8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7"/>
          <p:cNvSpPr/>
          <p:nvPr/>
        </p:nvSpPr>
        <p:spPr>
          <a:xfrm>
            <a:off x="640080" y="1901880"/>
            <a:ext cx="59889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Questions &amp;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final decisions</a:t>
            </a:r>
            <a:endParaRPr b="0" lang="en-US" sz="3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8"/>
          <p:cNvSpPr/>
          <p:nvPr/>
        </p:nvSpPr>
        <p:spPr>
          <a:xfrm>
            <a:off x="676800" y="3383280"/>
            <a:ext cx="5760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Before the scope is frozen, confirm these three things together.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9"/>
          <p:cNvSpPr/>
          <p:nvPr/>
        </p:nvSpPr>
        <p:spPr>
          <a:xfrm>
            <a:off x="694800" y="3968640"/>
            <a:ext cx="40212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10"/>
          <p:cNvSpPr/>
          <p:nvPr/>
        </p:nvSpPr>
        <p:spPr>
          <a:xfrm>
            <a:off x="749880" y="3982320"/>
            <a:ext cx="292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11"/>
          <p:cNvSpPr/>
          <p:nvPr/>
        </p:nvSpPr>
        <p:spPr>
          <a:xfrm>
            <a:off x="1261800" y="395928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1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Database and routes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12"/>
          <p:cNvSpPr/>
          <p:nvPr/>
        </p:nvSpPr>
        <p:spPr>
          <a:xfrm>
            <a:off x="3474720" y="3959280"/>
            <a:ext cx="304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ERD and endpoint list match the implementation plan.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3"/>
          <p:cNvSpPr/>
          <p:nvPr/>
        </p:nvSpPr>
        <p:spPr>
          <a:xfrm>
            <a:off x="694800" y="4626720"/>
            <a:ext cx="40212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14"/>
          <p:cNvSpPr/>
          <p:nvPr/>
        </p:nvSpPr>
        <p:spPr>
          <a:xfrm>
            <a:off x="749880" y="4640760"/>
            <a:ext cx="292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5"/>
          <p:cNvSpPr/>
          <p:nvPr/>
        </p:nvSpPr>
        <p:spPr>
          <a:xfrm>
            <a:off x="1261800" y="461772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1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Bonus scope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16"/>
          <p:cNvSpPr/>
          <p:nvPr/>
        </p:nvSpPr>
        <p:spPr>
          <a:xfrm>
            <a:off x="3474720" y="4617720"/>
            <a:ext cx="304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B1, B5 and B7 are realistic and approved at P2.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7"/>
          <p:cNvSpPr/>
          <p:nvPr/>
        </p:nvSpPr>
        <p:spPr>
          <a:xfrm>
            <a:off x="694800" y="5285160"/>
            <a:ext cx="40212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8"/>
          <p:cNvSpPr/>
          <p:nvPr/>
        </p:nvSpPr>
        <p:spPr>
          <a:xfrm>
            <a:off x="749880" y="5298840"/>
            <a:ext cx="292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7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7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9"/>
          <p:cNvSpPr/>
          <p:nvPr/>
        </p:nvSpPr>
        <p:spPr>
          <a:xfrm>
            <a:off x="1261800" y="52761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1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Prototype demo</a:t>
            </a:r>
            <a:endParaRPr b="0" lang="en-US" sz="11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20"/>
          <p:cNvSpPr/>
          <p:nvPr/>
        </p:nvSpPr>
        <p:spPr>
          <a:xfrm>
            <a:off x="3474720" y="5276160"/>
            <a:ext cx="3044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trike="noStrike" u="none">
                <a:solidFill>
                  <a:srgbClr val="a7b4aa"/>
                </a:solidFill>
                <a:effectLst/>
                <a:uFillTx/>
                <a:latin typeface="Aptos"/>
                <a:ea typeface="Aptos"/>
              </a:rPr>
              <a:t>Catalog data comes from MySQL and login works live.</a:t>
            </a:r>
            <a:endParaRPr b="0" lang="en-US" sz="9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21"/>
          <p:cNvSpPr/>
          <p:nvPr/>
        </p:nvSpPr>
        <p:spPr>
          <a:xfrm>
            <a:off x="7708320" y="786240"/>
            <a:ext cx="3821760" cy="5230080"/>
          </a:xfrm>
          <a:prstGeom prst="roundRect">
            <a:avLst>
              <a:gd name="adj" fmla="val 4067"/>
            </a:avLst>
          </a:prstGeom>
          <a:solidFill>
            <a:srgbClr val="141d18"/>
          </a:solidFill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22"/>
          <p:cNvSpPr/>
          <p:nvPr/>
        </p:nvSpPr>
        <p:spPr>
          <a:xfrm>
            <a:off x="8046720" y="1134000"/>
            <a:ext cx="1416960" cy="255600"/>
          </a:xfrm>
          <a:prstGeom prst="roundRect">
            <a:avLst>
              <a:gd name="adj" fmla="val 42857"/>
            </a:avLst>
          </a:prstGeom>
          <a:solidFill>
            <a:srgbClr val="202e26"/>
          </a:solidFill>
          <a:ln w="10160">
            <a:solidFill>
              <a:srgbClr val="202e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23"/>
          <p:cNvSpPr/>
          <p:nvPr/>
        </p:nvSpPr>
        <p:spPr>
          <a:xfrm>
            <a:off x="8101440" y="1147680"/>
            <a:ext cx="1307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LIFT &amp; AESTHETICS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24"/>
          <p:cNvSpPr/>
          <p:nvPr/>
        </p:nvSpPr>
        <p:spPr>
          <a:xfrm>
            <a:off x="8046720" y="1746360"/>
            <a:ext cx="29073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Build the plan.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Prove the basics.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3f6f0"/>
                </a:solidFill>
                <a:effectLst/>
                <a:uFillTx/>
                <a:latin typeface="Aptos Display"/>
                <a:ea typeface="Aptos Display"/>
              </a:rPr>
              <a:t>Improve from there.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25"/>
          <p:cNvSpPr/>
          <p:nvPr/>
        </p:nvSpPr>
        <p:spPr>
          <a:xfrm>
            <a:off x="8046720" y="3684960"/>
            <a:ext cx="3108960" cy="360"/>
          </a:xfrm>
          <a:prstGeom prst="line">
            <a:avLst/>
          </a:prstGeom>
          <a:ln w="1016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26"/>
          <p:cNvSpPr/>
          <p:nvPr/>
        </p:nvSpPr>
        <p:spPr>
          <a:xfrm>
            <a:off x="8558640" y="4325040"/>
            <a:ext cx="2166840" cy="164160"/>
          </a:xfrm>
          <a:prstGeom prst="roundRect">
            <a:avLst>
              <a:gd name="adj" fmla="val 2222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27"/>
          <p:cNvSpPr/>
          <p:nvPr/>
        </p:nvSpPr>
        <p:spPr>
          <a:xfrm>
            <a:off x="8302680" y="4069080"/>
            <a:ext cx="319680" cy="676440"/>
          </a:xfrm>
          <a:prstGeom prst="roundRect">
            <a:avLst>
              <a:gd name="adj" fmla="val 14286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28"/>
          <p:cNvSpPr/>
          <p:nvPr/>
        </p:nvSpPr>
        <p:spPr>
          <a:xfrm>
            <a:off x="8677800" y="4178880"/>
            <a:ext cx="200880" cy="45684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29"/>
          <p:cNvSpPr/>
          <p:nvPr/>
        </p:nvSpPr>
        <p:spPr>
          <a:xfrm>
            <a:off x="10661760" y="4069080"/>
            <a:ext cx="319680" cy="676440"/>
          </a:xfrm>
          <a:prstGeom prst="roundRect">
            <a:avLst>
              <a:gd name="adj" fmla="val 14286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30"/>
          <p:cNvSpPr/>
          <p:nvPr/>
        </p:nvSpPr>
        <p:spPr>
          <a:xfrm>
            <a:off x="10460880" y="4178880"/>
            <a:ext cx="200880" cy="456840"/>
          </a:xfrm>
          <a:prstGeom prst="roundRect">
            <a:avLst>
              <a:gd name="adj" fmla="val 18182"/>
            </a:avLst>
          </a:prstGeom>
          <a:solidFill>
            <a:srgbClr val="c8f36d"/>
          </a:solidFill>
          <a:ln w="10160">
            <a:solidFill>
              <a:srgbClr val="c8f3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31"/>
          <p:cNvSpPr/>
          <p:nvPr/>
        </p:nvSpPr>
        <p:spPr>
          <a:xfrm>
            <a:off x="8065080" y="5175360"/>
            <a:ext cx="3017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8f36d"/>
                </a:solidFill>
                <a:effectLst/>
                <a:uFillTx/>
                <a:latin typeface="Aptos Display"/>
                <a:ea typeface="Aptos Display"/>
              </a:rPr>
              <a:t>Thank you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32"/>
          <p:cNvSpPr/>
          <p:nvPr/>
        </p:nvSpPr>
        <p:spPr>
          <a:xfrm>
            <a:off x="502920" y="6428160"/>
            <a:ext cx="11183040" cy="360"/>
          </a:xfrm>
          <a:prstGeom prst="line">
            <a:avLst/>
          </a:prstGeom>
          <a:ln w="8890">
            <a:solidFill>
              <a:srgbClr val="2a39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33"/>
          <p:cNvSpPr/>
          <p:nvPr/>
        </p:nvSpPr>
        <p:spPr>
          <a:xfrm>
            <a:off x="530280" y="6501240"/>
            <a:ext cx="43887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10" spc="31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LIFT &amp; AESTHETICS   /   E-COMMERCE PROJECT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34"/>
          <p:cNvSpPr/>
          <p:nvPr/>
        </p:nvSpPr>
        <p:spPr>
          <a:xfrm>
            <a:off x="7635240" y="6501240"/>
            <a:ext cx="3565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10" strike="noStrike" u="none">
                <a:solidFill>
                  <a:srgbClr val="748278"/>
                </a:solidFill>
                <a:effectLst/>
                <a:uFillTx/>
                <a:latin typeface="Aptos"/>
                <a:ea typeface="Aptos"/>
              </a:rPr>
              <a:t>PRESENTATION 2  •  SPECIFICATION &amp; PROTOTYPE</a:t>
            </a:r>
            <a:endParaRPr b="0" lang="en-US" sz="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35"/>
          <p:cNvSpPr/>
          <p:nvPr/>
        </p:nvSpPr>
        <p:spPr>
          <a:xfrm>
            <a:off x="11338560" y="6473880"/>
            <a:ext cx="328680" cy="255600"/>
          </a:xfrm>
          <a:prstGeom prst="roundRect">
            <a:avLst>
              <a:gd name="adj" fmla="val 42857"/>
            </a:avLst>
          </a:prstGeom>
          <a:solidFill>
            <a:srgbClr val="19251f"/>
          </a:solidFill>
          <a:ln w="10160">
            <a:solidFill>
              <a:srgbClr val="1925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36"/>
          <p:cNvSpPr/>
          <p:nvPr/>
        </p:nvSpPr>
        <p:spPr>
          <a:xfrm>
            <a:off x="11393280" y="648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c8f36d"/>
                </a:solidFill>
                <a:effectLst/>
                <a:uFillTx/>
                <a:latin typeface="Aptos"/>
                <a:ea typeface="Aptos"/>
              </a:rPr>
              <a:t>15</a:t>
            </a:r>
            <a:endParaRPr b="0" lang="en-US" sz="7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Lift and Aesthetics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2026-10-27T17:35:05Z</dcterms:created>
  <dc:creator>Lift &amp; Aesthetics</dc:creator>
  <dc:description/>
  <dc:language>en-US</dc:language>
  <cp:lastModifiedBy>Lift &amp; Aesthetics</cp:lastModifiedBy>
  <dcterms:modified xsi:type="dcterms:W3CDTF">2026-10-27T17:35:05Z</dcterms:modified>
  <cp:revision>1</cp:revision>
  <dc:subject>E-Commerce Semester Project — Presentation 2</dc:subject>
  <dc:title>Lift &amp; Aesthetics — Presentation 2: Specification &amp; Prototype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