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0433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“Our working name is Lift &amp; Aesthetics. We want to build a straightforward online store where someone can find everyday gym essentials without jumping between different websites.” Replace the three member-name placeholders before presenting. The teaching team has approved a three-person group.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store in everyday terms. We are not trying to compete with every sports retailer on size. We are focusing on the products people commonly need for a gym routine and making the shopping process clear. The first catalogue will have at least 30 seed products across at least four categories, as required by the project brief.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observations of the stores’ public category pages, not a full usability study. GymBeam shows a wide assortment across nutrition and clothing; Decathlon has strong fitness-equipment categories; Myprotein groups nutrition, clothes and accessories. We want to borrow clear browsing patterns but keep our own first version focused on gym essentials. The brand names link to the official sites.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customer journey in order: find an item, check product information, use the cart, enter an address, choose one of at least two delivery methods and use the payment test environment. Payment is successful only after the provider confirms it to our backend. We plan to propose three bonus features: B1 combines category, price and availability filters and sorting; B5 adds discount codes with expiry and usage limits; B7 lets signed-in customers save favourites and move them to the cart. The specification says bonus proposals must be approved at P2, so these are planned options, not features we are claiming are already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slide without deep technical detail. The frontend is what the customer sees. The backend is the part that applies the rules and processes actions. MySQL saves the store’s data. Entity Framework Core is the connector between our C# code and the database. Stripe test mode simulates payments.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point is that the store must not trust a browser redirect as proof of payment. Stripe sends a confirmation to the backend. Only then should the order be marked Paid and stock reduced. If payment fails, the order stays Unpaid. If an order is cancelled, the stock should be restored. We will implement and test this as part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three placeholders with the actual names. Member 1 leads the customer-facing experience and catalog discovery, Member 2 leads the server-side purchase and payment logic, and Member 3 leads the database, accounts, administration and test setup. This is a lead-owner split, not a wall between tasks: for example, M1 builds the wishlist interface while M3 handles its saved data, and all three review the integrated result. Every member should make their own Git commits and be ready to explain the full flow.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follows teaching weeks. Weeks 3 and 7 are presentation milestones, and weeks 11–12 are for final testing and delivery. The bonus work is staged after P2 planning: filtered search in week 8, discount codes in week 9, wishlist in week 10. These three features are proposals and should be confirmed with the instructor at P2. Every person commits their own work and the team integrates changes throughout the semester rather than waiting until the 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a lead owner for each mandatory requirement. A1 is led by M1 for catalog screens, with M3 handling the seeded product data. A5 is led by M2 for checkout rules, while M1 handles the screens. A8 is led by M3 for stored order data, while M1 builds the customer view. A12 is led by M3, with M2 contributing the cart and payment tests. The bottom section lists all seven bonus options from the project brief: B1 filtered search, B2 recommendations, B3 reviews and ratings, B4 sales dashboard, B5 discount codes, B6 transactional email, and B7 wishlist. These are possible options for discussion, not features already implemented or a promise to deliver all seven. Bonus work is only awarded once all mandatory requirements A1–A12 are working, and the proposed bonuses must be approved at P2. The team should agree a realistic bonus scope with the instructor; the current roadmap gives priority to B1, B5 and B7.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main risks are payment integration, bugs in cart or stock handling, and taking on too much work. To manage scope, the team should first complete the mandatory A1–A12 requirements; the three bonus features come only after that core store works and should be agreed at P2. Test payment early, validate key rules on the server, use automated tests, and integrate work frequently. Before P1, submit the PDF, repository link/tag, initial README and teaching-staff access. Declare any AI tools used in the README.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0B0F0D"/>
        </a:solidFill>
        <a:effectLst/>
      </p:bgPr>
    </p:bg>
    <p:spTree>
      <p:nvGrpSpPr>
        <p:cNvPr id="1" name=""/>
        <p:cNvGrpSpPr/>
        <p:nvPr/>
      </p:nvGrpSpPr>
      <p:grpSpPr>
        <a:xfrm>
          <a:off x="0" y="0"/>
          <a:ext cx="0" cy="0"/>
          <a:chOff x="0" y="0"/>
          <a:chExt cx="0" cy="0"/>
        </a:xfrm>
      </p:grpSpPr>
      <p:sp>
        <p:nvSpPr>
          <p:cNvPr id="2" name="Shape 0"/>
          <p:cNvSpPr/>
          <p:nvPr/>
        </p:nvSpPr>
        <p:spPr>
          <a:xfrm>
            <a:off x="502920" y="6519672"/>
            <a:ext cx="11183112" cy="0"/>
          </a:xfrm>
          <a:prstGeom prst="line">
            <a:avLst/>
          </a:prstGeom>
          <a:noFill/>
          <a:ln w="12700">
            <a:solidFill>
              <a:srgbClr val="26302B"/>
            </a:solidFill>
            <a:prstDash val="solid"/>
          </a:ln>
        </p:spPr>
      </p:sp>
      <p:sp>
        <p:nvSpPr>
          <p:cNvPr id="3" name="Text 1"/>
          <p:cNvSpPr/>
          <p:nvPr/>
        </p:nvSpPr>
        <p:spPr>
          <a:xfrm>
            <a:off x="530352" y="6565392"/>
            <a:ext cx="5212080" cy="146304"/>
          </a:xfrm>
          <a:prstGeom prst="rect">
            <a:avLst/>
          </a:prstGeom>
          <a:noFill/>
          <a:ln/>
        </p:spPr>
        <p:txBody>
          <a:bodyPr wrap="square" lIns="0" tIns="0" rIns="0" bIns="0" rtlCol="0" anchor="ctr"/>
          <a:lstStyle/>
          <a:p>
            <a:pPr marL="0" indent="0">
              <a:buNone/>
            </a:pPr>
            <a:r>
              <a:rPr lang="en-US" sz="750" kern="0" spc="130" dirty="0">
                <a:solidFill>
                  <a:srgbClr val="758079"/>
                </a:solidFill>
                <a:latin typeface="Aptos" pitchFamily="34" charset="0"/>
                <a:ea typeface="Aptos" pitchFamily="34" charset="-122"/>
                <a:cs typeface="Aptos" pitchFamily="34" charset="-120"/>
              </a:rPr>
              <a:t>LIFT &amp; AESTHETICS  /  E-COMMERCE PROJECT</a:t>
            </a:r>
            <a:endParaRPr lang="en-US" sz="750" dirty="0"/>
          </a:p>
        </p:txBody>
      </p:sp>
      <p:sp>
        <p:nvSpPr>
          <p:cNvPr id="4" name="Text 2"/>
          <p:cNvSpPr/>
          <p:nvPr/>
        </p:nvSpPr>
        <p:spPr>
          <a:xfrm>
            <a:off x="8595360" y="6565392"/>
            <a:ext cx="2834640" cy="146304"/>
          </a:xfrm>
          <a:prstGeom prst="rect">
            <a:avLst/>
          </a:prstGeom>
          <a:noFill/>
          <a:ln/>
        </p:spPr>
        <p:txBody>
          <a:bodyPr wrap="square" lIns="0" tIns="0" rIns="0" bIns="0" rtlCol="0" anchor="ctr"/>
          <a:lstStyle/>
          <a:p>
            <a:pPr marL="0" indent="0" algn="r">
              <a:buNone/>
            </a:pPr>
            <a:r>
              <a:rPr lang="en-US" sz="750" kern="0" spc="110" dirty="0">
                <a:solidFill>
                  <a:srgbClr val="758079"/>
                </a:solidFill>
                <a:latin typeface="Aptos" pitchFamily="34" charset="0"/>
                <a:ea typeface="Aptos" pitchFamily="34" charset="-122"/>
                <a:cs typeface="Aptos" pitchFamily="34" charset="-120"/>
              </a:rPr>
              <a:t>PRESENTATION 1  •  OCT 2026</a:t>
            </a:r>
            <a:endParaRPr lang="en-US" sz="75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www.myprotein.ro/c/our-range/" TargetMode="External"/><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decathlon.ro/toate-sporturile/fitness" TargetMode="External"/><Relationship Id="rId5" Type="http://schemas.openxmlformats.org/officeDocument/2006/relationships/image" Target="../media/image3.png"/><Relationship Id="rId4" Type="http://schemas.openxmlformats.org/officeDocument/2006/relationships/hyperlink" Target="https://gymbeam.ro/"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0D"/>
        </a:solidFill>
        <a:effectLst/>
      </p:bgPr>
    </p:bg>
    <p:spTree>
      <p:nvGrpSpPr>
        <p:cNvPr id="1" name=""/>
        <p:cNvGrpSpPr/>
        <p:nvPr/>
      </p:nvGrpSpPr>
      <p:grpSpPr>
        <a:xfrm>
          <a:off x="0" y="0"/>
          <a:ext cx="0" cy="0"/>
          <a:chOff x="0" y="0"/>
          <a:chExt cx="0" cy="0"/>
        </a:xfrm>
      </p:grpSpPr>
      <p:sp>
        <p:nvSpPr>
          <p:cNvPr id="2" name="Shape 0"/>
          <p:cNvSpPr/>
          <p:nvPr/>
        </p:nvSpPr>
        <p:spPr>
          <a:xfrm>
            <a:off x="8253046" y="0"/>
            <a:ext cx="3959352" cy="6858000"/>
          </a:xfrm>
          <a:prstGeom prst="rect">
            <a:avLst/>
          </a:prstGeom>
          <a:solidFill>
            <a:srgbClr val="101713"/>
          </a:solidFill>
          <a:ln w="12700">
            <a:solidFill>
              <a:srgbClr val="101713">
                <a:alpha val="0"/>
              </a:srgbClr>
            </a:solidFill>
            <a:prstDash val="solid"/>
          </a:ln>
        </p:spPr>
      </p:sp>
      <p:sp>
        <p:nvSpPr>
          <p:cNvPr id="3" name="Shape 1"/>
          <p:cNvSpPr/>
          <p:nvPr/>
        </p:nvSpPr>
        <p:spPr>
          <a:xfrm>
            <a:off x="8229600" y="0"/>
            <a:ext cx="73152" cy="6858000"/>
          </a:xfrm>
          <a:prstGeom prst="rect">
            <a:avLst/>
          </a:prstGeom>
          <a:solidFill>
            <a:srgbClr val="C5F26D"/>
          </a:solidFill>
          <a:ln w="12700">
            <a:solidFill>
              <a:srgbClr val="C5F26D">
                <a:alpha val="0"/>
              </a:srgbClr>
            </a:solidFill>
            <a:prstDash val="solid"/>
          </a:ln>
        </p:spPr>
      </p:sp>
      <p:sp>
        <p:nvSpPr>
          <p:cNvPr id="4" name="Shape 2"/>
          <p:cNvSpPr/>
          <p:nvPr/>
        </p:nvSpPr>
        <p:spPr>
          <a:xfrm>
            <a:off x="8823960" y="1097280"/>
            <a:ext cx="2834640" cy="0"/>
          </a:xfrm>
          <a:prstGeom prst="line">
            <a:avLst/>
          </a:prstGeom>
          <a:noFill/>
          <a:ln w="12700">
            <a:solidFill>
              <a:srgbClr val="26312A"/>
            </a:solidFill>
            <a:prstDash val="solid"/>
            <a:headEnd type="none"/>
            <a:tailEnd type="none"/>
          </a:ln>
        </p:spPr>
      </p:sp>
      <p:sp>
        <p:nvSpPr>
          <p:cNvPr id="5" name="Shape 3"/>
          <p:cNvSpPr/>
          <p:nvPr/>
        </p:nvSpPr>
        <p:spPr>
          <a:xfrm>
            <a:off x="8823960" y="1883664"/>
            <a:ext cx="2834640" cy="0"/>
          </a:xfrm>
          <a:prstGeom prst="line">
            <a:avLst/>
          </a:prstGeom>
          <a:noFill/>
          <a:ln w="12700">
            <a:solidFill>
              <a:srgbClr val="26312A"/>
            </a:solidFill>
            <a:prstDash val="solid"/>
            <a:headEnd type="none"/>
            <a:tailEnd type="none"/>
          </a:ln>
        </p:spPr>
      </p:sp>
      <p:sp>
        <p:nvSpPr>
          <p:cNvPr id="6" name="Shape 4"/>
          <p:cNvSpPr/>
          <p:nvPr/>
        </p:nvSpPr>
        <p:spPr>
          <a:xfrm>
            <a:off x="8823960" y="2670048"/>
            <a:ext cx="2834640" cy="0"/>
          </a:xfrm>
          <a:prstGeom prst="line">
            <a:avLst/>
          </a:prstGeom>
          <a:noFill/>
          <a:ln w="12700">
            <a:solidFill>
              <a:srgbClr val="26312A"/>
            </a:solidFill>
            <a:prstDash val="solid"/>
            <a:headEnd type="none"/>
            <a:tailEnd type="none"/>
          </a:ln>
        </p:spPr>
      </p:sp>
      <p:sp>
        <p:nvSpPr>
          <p:cNvPr id="7" name="Shape 5"/>
          <p:cNvSpPr/>
          <p:nvPr/>
        </p:nvSpPr>
        <p:spPr>
          <a:xfrm>
            <a:off x="8823960" y="3456432"/>
            <a:ext cx="2834640" cy="0"/>
          </a:xfrm>
          <a:prstGeom prst="line">
            <a:avLst/>
          </a:prstGeom>
          <a:noFill/>
          <a:ln w="12700">
            <a:solidFill>
              <a:srgbClr val="26312A"/>
            </a:solidFill>
            <a:prstDash val="solid"/>
            <a:headEnd type="none"/>
            <a:tailEnd type="none"/>
          </a:ln>
        </p:spPr>
      </p:sp>
      <p:sp>
        <p:nvSpPr>
          <p:cNvPr id="8" name="Shape 6"/>
          <p:cNvSpPr/>
          <p:nvPr/>
        </p:nvSpPr>
        <p:spPr>
          <a:xfrm>
            <a:off x="8823960" y="4242816"/>
            <a:ext cx="2834640" cy="0"/>
          </a:xfrm>
          <a:prstGeom prst="line">
            <a:avLst/>
          </a:prstGeom>
          <a:noFill/>
          <a:ln w="12700">
            <a:solidFill>
              <a:srgbClr val="26312A"/>
            </a:solidFill>
            <a:prstDash val="solid"/>
            <a:headEnd type="none"/>
            <a:tailEnd type="none"/>
          </a:ln>
        </p:spPr>
      </p:sp>
      <p:sp>
        <p:nvSpPr>
          <p:cNvPr id="9" name="Shape 7"/>
          <p:cNvSpPr/>
          <p:nvPr/>
        </p:nvSpPr>
        <p:spPr>
          <a:xfrm>
            <a:off x="8823960" y="5029200"/>
            <a:ext cx="2834640" cy="0"/>
          </a:xfrm>
          <a:prstGeom prst="line">
            <a:avLst/>
          </a:prstGeom>
          <a:noFill/>
          <a:ln w="12700">
            <a:solidFill>
              <a:srgbClr val="26312A"/>
            </a:solidFill>
            <a:prstDash val="solid"/>
            <a:headEnd type="none"/>
            <a:tailEnd type="none"/>
          </a:ln>
        </p:spPr>
      </p:sp>
      <p:sp>
        <p:nvSpPr>
          <p:cNvPr id="10" name="Shape 8"/>
          <p:cNvSpPr/>
          <p:nvPr/>
        </p:nvSpPr>
        <p:spPr>
          <a:xfrm>
            <a:off x="9511589" y="2262226"/>
            <a:ext cx="1367942" cy="0"/>
          </a:xfrm>
          <a:prstGeom prst="line">
            <a:avLst/>
          </a:prstGeom>
          <a:noFill/>
          <a:ln w="50800">
            <a:solidFill>
              <a:srgbClr val="C5F26D"/>
            </a:solidFill>
            <a:prstDash val="solid"/>
            <a:headEnd type="none"/>
            <a:tailEnd type="none"/>
          </a:ln>
        </p:spPr>
      </p:sp>
      <p:sp>
        <p:nvSpPr>
          <p:cNvPr id="11" name="Shape 9"/>
          <p:cNvSpPr/>
          <p:nvPr/>
        </p:nvSpPr>
        <p:spPr>
          <a:xfrm>
            <a:off x="9270187" y="1819656"/>
            <a:ext cx="362102" cy="885139"/>
          </a:xfrm>
          <a:prstGeom prst="roundRect">
            <a:avLst>
              <a:gd name="adj" fmla="val 7576"/>
            </a:avLst>
          </a:prstGeom>
          <a:solidFill>
            <a:srgbClr val="C5F26D"/>
          </a:solidFill>
          <a:ln w="12700">
            <a:solidFill>
              <a:srgbClr val="C5F26D">
                <a:alpha val="0"/>
              </a:srgbClr>
            </a:solidFill>
            <a:prstDash val="solid"/>
          </a:ln>
        </p:spPr>
      </p:sp>
      <p:sp>
        <p:nvSpPr>
          <p:cNvPr id="12" name="Shape 10"/>
          <p:cNvSpPr/>
          <p:nvPr/>
        </p:nvSpPr>
        <p:spPr>
          <a:xfrm>
            <a:off x="10758830" y="1819656"/>
            <a:ext cx="362102" cy="885139"/>
          </a:xfrm>
          <a:prstGeom prst="roundRect">
            <a:avLst>
              <a:gd name="adj" fmla="val 7576"/>
            </a:avLst>
          </a:prstGeom>
          <a:solidFill>
            <a:srgbClr val="C5F26D"/>
          </a:solidFill>
          <a:ln w="12700">
            <a:solidFill>
              <a:srgbClr val="C5F26D">
                <a:alpha val="0"/>
              </a:srgbClr>
            </a:solidFill>
            <a:prstDash val="solid"/>
          </a:ln>
        </p:spPr>
      </p:sp>
      <p:sp>
        <p:nvSpPr>
          <p:cNvPr id="13" name="Shape 11"/>
          <p:cNvSpPr/>
          <p:nvPr/>
        </p:nvSpPr>
        <p:spPr>
          <a:xfrm>
            <a:off x="9571939" y="1980590"/>
            <a:ext cx="241402" cy="563270"/>
          </a:xfrm>
          <a:prstGeom prst="roundRect">
            <a:avLst>
              <a:gd name="adj" fmla="val 11364"/>
            </a:avLst>
          </a:prstGeom>
          <a:solidFill>
            <a:srgbClr val="C5F26D"/>
          </a:solidFill>
          <a:ln w="12700">
            <a:solidFill>
              <a:srgbClr val="C5F26D">
                <a:alpha val="0"/>
              </a:srgbClr>
            </a:solidFill>
            <a:prstDash val="solid"/>
          </a:ln>
        </p:spPr>
      </p:sp>
      <p:sp>
        <p:nvSpPr>
          <p:cNvPr id="14" name="Shape 12"/>
          <p:cNvSpPr/>
          <p:nvPr/>
        </p:nvSpPr>
        <p:spPr>
          <a:xfrm>
            <a:off x="10577779" y="1980590"/>
            <a:ext cx="241402" cy="563270"/>
          </a:xfrm>
          <a:prstGeom prst="roundRect">
            <a:avLst>
              <a:gd name="adj" fmla="val 11364"/>
            </a:avLst>
          </a:prstGeom>
          <a:solidFill>
            <a:srgbClr val="C5F26D"/>
          </a:solidFill>
          <a:ln w="12700">
            <a:solidFill>
              <a:srgbClr val="C5F26D">
                <a:alpha val="0"/>
              </a:srgbClr>
            </a:solidFill>
            <a:prstDash val="solid"/>
          </a:ln>
        </p:spPr>
      </p:sp>
      <p:sp>
        <p:nvSpPr>
          <p:cNvPr id="15" name="Shape 13"/>
          <p:cNvSpPr/>
          <p:nvPr/>
        </p:nvSpPr>
        <p:spPr>
          <a:xfrm>
            <a:off x="9189720" y="3794760"/>
            <a:ext cx="1965960" cy="1170432"/>
          </a:xfrm>
          <a:prstGeom prst="roundRect">
            <a:avLst>
              <a:gd name="adj" fmla="val 14063"/>
            </a:avLst>
          </a:prstGeom>
          <a:solidFill>
            <a:srgbClr val="19211D"/>
          </a:solidFill>
          <a:ln w="12700">
            <a:solidFill>
              <a:srgbClr val="19211D">
                <a:alpha val="0"/>
              </a:srgbClr>
            </a:solidFill>
            <a:prstDash val="solid"/>
          </a:ln>
        </p:spPr>
      </p:sp>
      <p:sp>
        <p:nvSpPr>
          <p:cNvPr id="16" name="Shape 14"/>
          <p:cNvSpPr/>
          <p:nvPr/>
        </p:nvSpPr>
        <p:spPr>
          <a:xfrm>
            <a:off x="9516618" y="4069080"/>
            <a:ext cx="342900" cy="452628"/>
          </a:xfrm>
          <a:prstGeom prst="roundRect">
            <a:avLst>
              <a:gd name="adj" fmla="val 21333"/>
            </a:avLst>
          </a:prstGeom>
          <a:solidFill>
            <a:srgbClr val="F3A65A"/>
          </a:solidFill>
          <a:ln w="12700">
            <a:solidFill>
              <a:srgbClr val="F3A65A">
                <a:alpha val="0"/>
              </a:srgbClr>
            </a:solidFill>
            <a:prstDash val="solid"/>
          </a:ln>
        </p:spPr>
      </p:sp>
      <p:sp>
        <p:nvSpPr>
          <p:cNvPr id="17" name="Shape 15"/>
          <p:cNvSpPr/>
          <p:nvPr/>
        </p:nvSpPr>
        <p:spPr>
          <a:xfrm>
            <a:off x="9598914" y="3959352"/>
            <a:ext cx="178308" cy="130302"/>
          </a:xfrm>
          <a:prstGeom prst="roundRect">
            <a:avLst>
              <a:gd name="adj" fmla="val 21053"/>
            </a:avLst>
          </a:prstGeom>
          <a:solidFill>
            <a:srgbClr val="F3A65A"/>
          </a:solidFill>
          <a:ln w="12700">
            <a:solidFill>
              <a:srgbClr val="F3A65A">
                <a:alpha val="0"/>
              </a:srgbClr>
            </a:solidFill>
            <a:prstDash val="solid"/>
          </a:ln>
        </p:spPr>
      </p:sp>
      <p:sp>
        <p:nvSpPr>
          <p:cNvPr id="18" name="Shape 16"/>
          <p:cNvSpPr/>
          <p:nvPr/>
        </p:nvSpPr>
        <p:spPr>
          <a:xfrm>
            <a:off x="9550908" y="4274820"/>
            <a:ext cx="274320" cy="0"/>
          </a:xfrm>
          <a:prstGeom prst="line">
            <a:avLst/>
          </a:prstGeom>
          <a:noFill/>
          <a:ln w="22860">
            <a:solidFill>
              <a:srgbClr val="0B0F0D"/>
            </a:solidFill>
            <a:prstDash val="solid"/>
            <a:headEnd type="none"/>
            <a:tailEnd type="none"/>
          </a:ln>
        </p:spPr>
      </p:sp>
      <p:sp>
        <p:nvSpPr>
          <p:cNvPr id="20" name="Text 17"/>
          <p:cNvSpPr/>
          <p:nvPr/>
        </p:nvSpPr>
        <p:spPr>
          <a:xfrm>
            <a:off x="658368" y="594360"/>
            <a:ext cx="6035040" cy="256032"/>
          </a:xfrm>
          <a:prstGeom prst="rect">
            <a:avLst/>
          </a:prstGeom>
          <a:noFill/>
          <a:ln/>
        </p:spPr>
        <p:txBody>
          <a:bodyPr wrap="square" lIns="0" tIns="0" rIns="0" bIns="0" rtlCol="0" anchor="ctr">
            <a:normAutofit/>
          </a:bodyPr>
          <a:lstStyle/>
          <a:p>
            <a:pPr marL="0" indent="0">
              <a:buNone/>
            </a:pPr>
            <a:r>
              <a:rPr lang="en-US" sz="1000" b="1" kern="0" spc="220" dirty="0">
                <a:solidFill>
                  <a:srgbClr val="C5F26D"/>
                </a:solidFill>
                <a:latin typeface="Aptos" pitchFamily="34" charset="0"/>
                <a:ea typeface="Aptos" pitchFamily="34" charset="-122"/>
                <a:cs typeface="Aptos" pitchFamily="34" charset="-120"/>
              </a:rPr>
              <a:t>E-COMMERCE  /  SEMESTER PROJECT</a:t>
            </a:r>
            <a:endParaRPr lang="en-US" sz="1000" dirty="0"/>
          </a:p>
        </p:txBody>
      </p:sp>
      <p:sp>
        <p:nvSpPr>
          <p:cNvPr id="21" name="Text 18"/>
          <p:cNvSpPr/>
          <p:nvPr/>
        </p:nvSpPr>
        <p:spPr>
          <a:xfrm>
            <a:off x="621792" y="1353312"/>
            <a:ext cx="6858000" cy="777240"/>
          </a:xfrm>
          <a:prstGeom prst="rect">
            <a:avLst/>
          </a:prstGeom>
          <a:noFill/>
          <a:ln/>
        </p:spPr>
        <p:txBody>
          <a:bodyPr wrap="square" lIns="0" tIns="0" rIns="0" bIns="0" rtlCol="0" anchor="ctr">
            <a:normAutofit/>
          </a:bodyPr>
          <a:lstStyle/>
          <a:p>
            <a:pPr marL="0" indent="0">
              <a:buNone/>
            </a:pPr>
            <a:r>
              <a:rPr lang="en-US" sz="4600" b="1" kern="0" spc="-70" dirty="0" err="1">
                <a:solidFill>
                  <a:srgbClr val="F3F5F1"/>
                </a:solidFill>
                <a:latin typeface="Aptos Display" pitchFamily="34" charset="0"/>
                <a:ea typeface="Aptos Display" pitchFamily="34" charset="-122"/>
                <a:cs typeface="Aptos Display" pitchFamily="34" charset="-120"/>
              </a:rPr>
              <a:t>Lift &amp; Aesthetics</a:t>
            </a:r>
            <a:endParaRPr lang="en-US" sz="4600" dirty="0"/>
          </a:p>
        </p:txBody>
      </p:sp>
      <p:sp>
        <p:nvSpPr>
          <p:cNvPr id="22" name="Text 19"/>
          <p:cNvSpPr/>
          <p:nvPr/>
        </p:nvSpPr>
        <p:spPr>
          <a:xfrm>
            <a:off x="676656" y="2267712"/>
            <a:ext cx="6583680" cy="429768"/>
          </a:xfrm>
          <a:prstGeom prst="rect">
            <a:avLst/>
          </a:prstGeom>
          <a:noFill/>
          <a:ln/>
        </p:spPr>
        <p:txBody>
          <a:bodyPr wrap="square" lIns="0" tIns="0" rIns="0" bIns="0" rtlCol="0" anchor="ctr">
            <a:normAutofit/>
          </a:bodyPr>
          <a:lstStyle/>
          <a:p>
            <a:pPr marL="0" indent="0">
              <a:buNone/>
            </a:pPr>
            <a:r>
              <a:rPr lang="en-US" sz="2200" b="1" dirty="0">
                <a:solidFill>
                  <a:srgbClr val="C5F26D"/>
                </a:solidFill>
                <a:latin typeface="Aptos" pitchFamily="34" charset="0"/>
                <a:ea typeface="Aptos" pitchFamily="34" charset="-122"/>
                <a:cs typeface="Aptos" pitchFamily="34" charset="-120"/>
              </a:rPr>
              <a:t>Gym essentials, all in one place.</a:t>
            </a:r>
            <a:endParaRPr lang="en-US" sz="2200" dirty="0"/>
          </a:p>
        </p:txBody>
      </p:sp>
      <p:sp>
        <p:nvSpPr>
          <p:cNvPr id="23" name="Text 20"/>
          <p:cNvSpPr/>
          <p:nvPr/>
        </p:nvSpPr>
        <p:spPr>
          <a:xfrm>
            <a:off x="676656" y="2862072"/>
            <a:ext cx="6446520" cy="685800"/>
          </a:xfrm>
          <a:prstGeom prst="rect">
            <a:avLst/>
          </a:prstGeom>
          <a:noFill/>
          <a:ln/>
        </p:spPr>
        <p:txBody>
          <a:bodyPr wrap="square" lIns="0" tIns="0" rIns="0" bIns="0" rtlCol="0" anchor="t">
            <a:normAutofit/>
          </a:bodyPr>
          <a:lstStyle/>
          <a:p>
            <a:pPr marL="0" indent="0">
              <a:buNone/>
            </a:pPr>
            <a:r>
              <a:rPr lang="en-US" sz="1600" dirty="0">
                <a:solidFill>
                  <a:srgbClr val="A8B1AB"/>
                </a:solidFill>
                <a:latin typeface="Aptos" pitchFamily="34" charset="0"/>
                <a:ea typeface="Aptos" pitchFamily="34" charset="-122"/>
                <a:cs typeface="Aptos" pitchFamily="34" charset="-120"/>
              </a:rPr>
              <a:t>A student-built online store for supplements, training clothes and gym equipment.</a:t>
            </a:r>
            <a:endParaRPr lang="en-US" sz="1600" dirty="0"/>
          </a:p>
        </p:txBody>
      </p:sp>
      <p:sp>
        <p:nvSpPr>
          <p:cNvPr id="24" name="Shape 21"/>
          <p:cNvSpPr/>
          <p:nvPr/>
        </p:nvSpPr>
        <p:spPr>
          <a:xfrm>
            <a:off x="676656" y="3840480"/>
            <a:ext cx="6227064" cy="0"/>
          </a:xfrm>
          <a:prstGeom prst="line">
            <a:avLst/>
          </a:prstGeom>
          <a:noFill/>
          <a:ln w="15240">
            <a:solidFill>
              <a:srgbClr val="2B352F"/>
            </a:solidFill>
            <a:prstDash val="solid"/>
            <a:headEnd type="none"/>
            <a:tailEnd type="none"/>
          </a:ln>
        </p:spPr>
      </p:sp>
      <p:sp>
        <p:nvSpPr>
          <p:cNvPr id="25" name="Text 22"/>
          <p:cNvSpPr/>
          <p:nvPr/>
        </p:nvSpPr>
        <p:spPr>
          <a:xfrm>
            <a:off x="676656" y="4160520"/>
            <a:ext cx="1188720" cy="164592"/>
          </a:xfrm>
          <a:prstGeom prst="rect">
            <a:avLst/>
          </a:prstGeom>
          <a:noFill/>
          <a:ln/>
        </p:spPr>
        <p:txBody>
          <a:bodyPr wrap="square" lIns="0" tIns="0" rIns="0" bIns="0" rtlCol="0" anchor="ctr">
            <a:normAutofit/>
          </a:bodyPr>
          <a:lstStyle/>
          <a:p>
            <a:pPr marL="0" indent="0">
              <a:buNone/>
            </a:pPr>
            <a:r>
              <a:rPr lang="en-US" sz="850" b="1" kern="0" spc="150" dirty="0">
                <a:solidFill>
                  <a:srgbClr val="758079"/>
                </a:solidFill>
                <a:latin typeface="Aptos" pitchFamily="34" charset="0"/>
                <a:ea typeface="Aptos" pitchFamily="34" charset="-122"/>
                <a:cs typeface="Aptos" pitchFamily="34" charset="-120"/>
              </a:rPr>
              <a:t>TECHNOLOGY</a:t>
            </a:r>
            <a:endParaRPr lang="en-US" sz="850" dirty="0"/>
          </a:p>
        </p:txBody>
      </p:sp>
      <p:sp>
        <p:nvSpPr>
          <p:cNvPr id="26" name="Shape 23"/>
          <p:cNvSpPr/>
          <p:nvPr/>
        </p:nvSpPr>
        <p:spPr>
          <a:xfrm>
            <a:off x="676656" y="4425696"/>
            <a:ext cx="1664208" cy="283464"/>
          </a:xfrm>
          <a:prstGeom prst="roundRect">
            <a:avLst>
              <a:gd name="adj" fmla="val 38710"/>
            </a:avLst>
          </a:prstGeom>
          <a:solidFill>
            <a:srgbClr val="19211D"/>
          </a:solidFill>
          <a:ln w="12700">
            <a:solidFill>
              <a:srgbClr val="19211D">
                <a:alpha val="0"/>
              </a:srgbClr>
            </a:solidFill>
            <a:prstDash val="solid"/>
          </a:ln>
        </p:spPr>
      </p:sp>
      <p:sp>
        <p:nvSpPr>
          <p:cNvPr id="27" name="Text 24"/>
          <p:cNvSpPr/>
          <p:nvPr/>
        </p:nvSpPr>
        <p:spPr>
          <a:xfrm>
            <a:off x="777240" y="4443984"/>
            <a:ext cx="1463040" cy="228600"/>
          </a:xfrm>
          <a:prstGeom prst="rect">
            <a:avLst/>
          </a:prstGeom>
          <a:noFill/>
          <a:ln/>
        </p:spPr>
        <p:txBody>
          <a:bodyPr wrap="square" lIns="0" tIns="0" rIns="0" bIns="0" rtlCol="0" anchor="ctr">
            <a:normAutofit/>
          </a:bodyPr>
          <a:lstStyle/>
          <a:p>
            <a:pPr marL="0" indent="0" algn="ctr">
              <a:buNone/>
            </a:pPr>
            <a:r>
              <a:rPr lang="en-US" sz="900" b="1" kern="0" spc="40" dirty="0">
                <a:solidFill>
                  <a:srgbClr val="C5F26D"/>
                </a:solidFill>
                <a:latin typeface="Aptos" pitchFamily="34" charset="0"/>
                <a:ea typeface="Aptos" pitchFamily="34" charset="-122"/>
                <a:cs typeface="Aptos" pitchFamily="34" charset="-120"/>
              </a:rPr>
              <a:t>ASP.NET CORE / C#</a:t>
            </a:r>
            <a:endParaRPr lang="en-US" sz="900" dirty="0"/>
          </a:p>
        </p:txBody>
      </p:sp>
      <p:sp>
        <p:nvSpPr>
          <p:cNvPr id="28" name="Shape 25"/>
          <p:cNvSpPr/>
          <p:nvPr/>
        </p:nvSpPr>
        <p:spPr>
          <a:xfrm>
            <a:off x="2487168" y="4425696"/>
            <a:ext cx="1572768" cy="283464"/>
          </a:xfrm>
          <a:prstGeom prst="roundRect">
            <a:avLst>
              <a:gd name="adj" fmla="val 38710"/>
            </a:avLst>
          </a:prstGeom>
          <a:solidFill>
            <a:srgbClr val="19211D"/>
          </a:solidFill>
          <a:ln w="12700">
            <a:solidFill>
              <a:srgbClr val="19211D">
                <a:alpha val="0"/>
              </a:srgbClr>
            </a:solidFill>
            <a:prstDash val="solid"/>
          </a:ln>
        </p:spPr>
      </p:sp>
      <p:sp>
        <p:nvSpPr>
          <p:cNvPr id="29" name="Text 26"/>
          <p:cNvSpPr/>
          <p:nvPr/>
        </p:nvSpPr>
        <p:spPr>
          <a:xfrm>
            <a:off x="2587752" y="4443984"/>
            <a:ext cx="1371600" cy="228600"/>
          </a:xfrm>
          <a:prstGeom prst="rect">
            <a:avLst/>
          </a:prstGeom>
          <a:noFill/>
          <a:ln/>
        </p:spPr>
        <p:txBody>
          <a:bodyPr wrap="square" lIns="0" tIns="0" rIns="0" bIns="0" rtlCol="0" anchor="ctr">
            <a:normAutofit/>
          </a:bodyPr>
          <a:lstStyle/>
          <a:p>
            <a:pPr marL="0" indent="0" algn="ctr">
              <a:buNone/>
            </a:pPr>
            <a:r>
              <a:rPr lang="en-US" sz="900" b="1" kern="0" spc="40" dirty="0">
                <a:solidFill>
                  <a:srgbClr val="8AC6E8"/>
                </a:solidFill>
                <a:latin typeface="Aptos" pitchFamily="34" charset="0"/>
                <a:ea typeface="Aptos" pitchFamily="34" charset="-122"/>
                <a:cs typeface="Aptos" pitchFamily="34" charset="-120"/>
              </a:rPr>
              <a:t>HTML · CSS · JS</a:t>
            </a:r>
            <a:endParaRPr lang="en-US" sz="900" dirty="0"/>
          </a:p>
        </p:txBody>
      </p:sp>
      <p:sp>
        <p:nvSpPr>
          <p:cNvPr id="30" name="Shape 27"/>
          <p:cNvSpPr/>
          <p:nvPr/>
        </p:nvSpPr>
        <p:spPr>
          <a:xfrm>
            <a:off x="4197096" y="4425696"/>
            <a:ext cx="932688" cy="283464"/>
          </a:xfrm>
          <a:prstGeom prst="roundRect">
            <a:avLst>
              <a:gd name="adj" fmla="val 38710"/>
            </a:avLst>
          </a:prstGeom>
          <a:solidFill>
            <a:srgbClr val="19211D"/>
          </a:solidFill>
          <a:ln w="12700">
            <a:solidFill>
              <a:srgbClr val="19211D">
                <a:alpha val="0"/>
              </a:srgbClr>
            </a:solidFill>
            <a:prstDash val="solid"/>
          </a:ln>
        </p:spPr>
      </p:sp>
      <p:sp>
        <p:nvSpPr>
          <p:cNvPr id="31" name="Text 28"/>
          <p:cNvSpPr/>
          <p:nvPr/>
        </p:nvSpPr>
        <p:spPr>
          <a:xfrm>
            <a:off x="4297680" y="4443984"/>
            <a:ext cx="731520" cy="228600"/>
          </a:xfrm>
          <a:prstGeom prst="rect">
            <a:avLst/>
          </a:prstGeom>
          <a:noFill/>
          <a:ln/>
        </p:spPr>
        <p:txBody>
          <a:bodyPr wrap="square" lIns="0" tIns="0" rIns="0" bIns="0" rtlCol="0" anchor="ctr">
            <a:normAutofit/>
          </a:bodyPr>
          <a:lstStyle/>
          <a:p>
            <a:pPr marL="0" indent="0" algn="ctr">
              <a:buNone/>
            </a:pPr>
            <a:r>
              <a:rPr lang="en-US" sz="900" b="1" kern="0" spc="40" dirty="0">
                <a:solidFill>
                  <a:srgbClr val="F3A65A"/>
                </a:solidFill>
                <a:latin typeface="Aptos" pitchFamily="34" charset="0"/>
                <a:ea typeface="Aptos" pitchFamily="34" charset="-122"/>
                <a:cs typeface="Aptos" pitchFamily="34" charset="-120"/>
              </a:rPr>
              <a:t>MYSQL</a:t>
            </a:r>
            <a:endParaRPr lang="en-US" sz="900" dirty="0"/>
          </a:p>
        </p:txBody>
      </p:sp>
      <p:sp>
        <p:nvSpPr>
          <p:cNvPr id="32" name="Text 29"/>
          <p:cNvSpPr/>
          <p:nvPr/>
        </p:nvSpPr>
        <p:spPr>
          <a:xfrm>
            <a:off x="676656" y="5760720"/>
            <a:ext cx="7223760" cy="256032"/>
          </a:xfrm>
          <a:prstGeom prst="rect">
            <a:avLst/>
          </a:prstGeom>
          <a:noFill/>
          <a:ln/>
        </p:spPr>
        <p:txBody>
          <a:bodyPr wrap="square" lIns="0" tIns="0" rIns="0" bIns="0" rtlCol="0" anchor="ctr">
            <a:normAutofit/>
          </a:bodyPr>
          <a:lstStyle/>
          <a:p>
            <a:pPr marL="0" indent="0">
              <a:buNone/>
            </a:pPr>
            <a:r>
              <a:rPr lang="en-US" sz="1120" b="1" dirty="0">
                <a:solidFill>
                  <a:srgbClr val="F3F5F1"/>
                </a:solidFill>
                <a:latin typeface="Aptos" pitchFamily="34" charset="0"/>
                <a:ea typeface="Aptos" pitchFamily="34" charset="-122"/>
                <a:cs typeface="Aptos" pitchFamily="34" charset="-120"/>
              </a:rPr>
              <a:t>Team: Nica David Andrei  +  </a:t>
            </a:r>
            <a:r>
              <a:rPr lang="en-US" sz="1120" b="1" dirty="0" err="1">
                <a:solidFill>
                  <a:srgbClr val="F3F5F1"/>
                </a:solidFill>
                <a:latin typeface="Aptos" pitchFamily="34" charset="0"/>
                <a:ea typeface="Aptos" pitchFamily="34" charset="-122"/>
                <a:cs typeface="Aptos" pitchFamily="34" charset="-120"/>
              </a:rPr>
              <a:t>Ploae</a:t>
            </a:r>
            <a:r>
              <a:rPr lang="en-US" sz="1120" b="1" dirty="0">
                <a:solidFill>
                  <a:srgbClr val="F3F5F1"/>
                </a:solidFill>
                <a:latin typeface="Aptos" pitchFamily="34" charset="0"/>
                <a:ea typeface="Aptos" pitchFamily="34" charset="-122"/>
                <a:cs typeface="Aptos" pitchFamily="34" charset="-120"/>
              </a:rPr>
              <a:t> Darius Adonis </a:t>
            </a:r>
            <a:r>
              <a:rPr lang="en-US" sz="1120" b="1" dirty="0" err="1">
                <a:solidFill>
                  <a:srgbClr val="F3F5F1"/>
                </a:solidFill>
                <a:latin typeface="Aptos" pitchFamily="34" charset="0"/>
                <a:ea typeface="Aptos" pitchFamily="34" charset="-122"/>
                <a:cs typeface="Aptos" pitchFamily="34" charset="-120"/>
              </a:rPr>
              <a:t>Ionut</a:t>
            </a:r>
            <a:r>
              <a:rPr lang="en-US" sz="1120" b="1" dirty="0">
                <a:solidFill>
                  <a:srgbClr val="F3F5F1"/>
                </a:solidFill>
                <a:latin typeface="Aptos" pitchFamily="34" charset="0"/>
                <a:ea typeface="Aptos" pitchFamily="34" charset="-122"/>
                <a:cs typeface="Aptos" pitchFamily="34" charset="-120"/>
              </a:rPr>
              <a:t>  +  </a:t>
            </a:r>
            <a:r>
              <a:rPr lang="en-US" sz="1120" b="1" dirty="0" err="1">
                <a:solidFill>
                  <a:srgbClr val="F3F5F1"/>
                </a:solidFill>
                <a:latin typeface="Aptos" pitchFamily="34" charset="0"/>
                <a:ea typeface="Aptos" pitchFamily="34" charset="-122"/>
                <a:cs typeface="Aptos" pitchFamily="34" charset="-120"/>
              </a:rPr>
              <a:t>Peca</a:t>
            </a:r>
            <a:r>
              <a:rPr lang="en-US" sz="1120" b="1" dirty="0">
                <a:solidFill>
                  <a:srgbClr val="F3F5F1"/>
                </a:solidFill>
                <a:latin typeface="Aptos" pitchFamily="34" charset="0"/>
                <a:ea typeface="Aptos" pitchFamily="34" charset="-122"/>
                <a:cs typeface="Aptos" pitchFamily="34" charset="-120"/>
              </a:rPr>
              <a:t> Ana Maria Cristina</a:t>
            </a:r>
            <a:endParaRPr lang="en-US" sz="1120" dirty="0"/>
          </a:p>
        </p:txBody>
      </p:sp>
      <p:sp>
        <p:nvSpPr>
          <p:cNvPr id="33" name="Text 30"/>
          <p:cNvSpPr/>
          <p:nvPr/>
        </p:nvSpPr>
        <p:spPr>
          <a:xfrm>
            <a:off x="676656" y="6108192"/>
            <a:ext cx="6858000" cy="201168"/>
          </a:xfrm>
          <a:prstGeom prst="rect">
            <a:avLst/>
          </a:prstGeom>
          <a:noFill/>
          <a:ln/>
        </p:spPr>
        <p:txBody>
          <a:bodyPr wrap="square" lIns="0" tIns="0" rIns="0" bIns="0" rtlCol="0" anchor="ctr">
            <a:normAutofit/>
          </a:bodyPr>
          <a:lstStyle/>
          <a:p>
            <a:pPr marL="0" indent="0">
              <a:buNone/>
            </a:pPr>
            <a:r>
              <a:rPr lang="en-US" sz="1000" dirty="0">
                <a:solidFill>
                  <a:srgbClr val="758079"/>
                </a:solidFill>
                <a:latin typeface="Aptos" pitchFamily="34" charset="0"/>
                <a:ea typeface="Aptos" pitchFamily="34" charset="-122"/>
                <a:cs typeface="Aptos" pitchFamily="34" charset="-120"/>
              </a:rPr>
              <a:t>Presentation 1 — Team setup &amp; planning</a:t>
            </a:r>
            <a:endParaRPr lang="en-US" sz="1000" dirty="0"/>
          </a:p>
        </p:txBody>
      </p:sp>
      <p:pic>
        <p:nvPicPr>
          <p:cNvPr id="37" name="Picture 36">
            <a:extLst>
              <a:ext uri="{FF2B5EF4-FFF2-40B4-BE49-F238E27FC236}">
                <a16:creationId xmlns:a16="http://schemas.microsoft.com/office/drawing/2014/main" id="{46B82F51-48B6-450A-85B1-3B7369CAF3F2}"/>
              </a:ext>
            </a:extLst>
          </p:cNvPr>
          <p:cNvPicPr>
            <a:picLocks noChangeAspect="1"/>
          </p:cNvPicPr>
          <p:nvPr/>
        </p:nvPicPr>
        <p:blipFill>
          <a:blip r:embed="rId3"/>
          <a:stretch>
            <a:fillRect/>
          </a:stretch>
        </p:blipFill>
        <p:spPr>
          <a:xfrm>
            <a:off x="10251976" y="3895774"/>
            <a:ext cx="627555" cy="6291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01 / THE IDEA</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A practical store for people who train</a:t>
            </a:r>
            <a:endParaRPr lang="en-US" sz="2700" dirty="0"/>
          </a:p>
        </p:txBody>
      </p:sp>
      <p:sp>
        <p:nvSpPr>
          <p:cNvPr id="4" name="Text 2"/>
          <p:cNvSpPr/>
          <p:nvPr/>
        </p:nvSpPr>
        <p:spPr>
          <a:xfrm>
            <a:off x="585216" y="1225296"/>
            <a:ext cx="10881360" cy="320040"/>
          </a:xfrm>
          <a:prstGeom prst="rect">
            <a:avLst/>
          </a:prstGeom>
          <a:noFill/>
          <a:ln/>
        </p:spPr>
        <p:txBody>
          <a:bodyPr wrap="square" lIns="0" tIns="0" rIns="0" bIns="0" rtlCol="0" anchor="ctr">
            <a:normAutofit/>
          </a:bodyPr>
          <a:lstStyle/>
          <a:p>
            <a:pPr marL="0" indent="0">
              <a:buNone/>
            </a:pPr>
            <a:r>
              <a:rPr lang="en-US" sz="1250" dirty="0">
                <a:solidFill>
                  <a:srgbClr val="A8B1AB"/>
                </a:solidFill>
                <a:latin typeface="Aptos" pitchFamily="34" charset="0"/>
                <a:ea typeface="Aptos" pitchFamily="34" charset="-122"/>
                <a:cs typeface="Aptos" pitchFamily="34" charset="-120"/>
              </a:rPr>
              <a:t>The goal is convenience: the basics for a gym routine in one place.</a:t>
            </a:r>
            <a:endParaRPr lang="en-US" sz="1250" dirty="0"/>
          </a:p>
        </p:txBody>
      </p:sp>
      <p:sp>
        <p:nvSpPr>
          <p:cNvPr id="5" name="Shape 3"/>
          <p:cNvSpPr/>
          <p:nvPr/>
        </p:nvSpPr>
        <p:spPr>
          <a:xfrm>
            <a:off x="566928" y="1783080"/>
            <a:ext cx="6858000" cy="4315968"/>
          </a:xfrm>
          <a:prstGeom prst="roundRect">
            <a:avLst>
              <a:gd name="adj" fmla="val 3390"/>
            </a:avLst>
          </a:prstGeom>
          <a:solidFill>
            <a:srgbClr val="141A17"/>
          </a:solidFill>
          <a:ln w="12700">
            <a:solidFill>
              <a:srgbClr val="141A17">
                <a:alpha val="0"/>
              </a:srgbClr>
            </a:solidFill>
            <a:prstDash val="solid"/>
          </a:ln>
        </p:spPr>
      </p:sp>
      <p:sp>
        <p:nvSpPr>
          <p:cNvPr id="6" name="Text 4"/>
          <p:cNvSpPr/>
          <p:nvPr/>
        </p:nvSpPr>
        <p:spPr>
          <a:xfrm>
            <a:off x="841248" y="2011680"/>
            <a:ext cx="2743200" cy="164592"/>
          </a:xfrm>
          <a:prstGeom prst="rect">
            <a:avLst/>
          </a:prstGeom>
          <a:noFill/>
          <a:ln/>
        </p:spPr>
        <p:txBody>
          <a:bodyPr wrap="square" lIns="0" tIns="0" rIns="0" bIns="0" rtlCol="0" anchor="ctr">
            <a:normAutofit/>
          </a:bodyPr>
          <a:lstStyle/>
          <a:p>
            <a:pPr marL="0" indent="0">
              <a:buNone/>
            </a:pPr>
            <a:r>
              <a:rPr lang="en-US" sz="850" b="1" kern="0" spc="150" dirty="0">
                <a:solidFill>
                  <a:srgbClr val="C5F26D"/>
                </a:solidFill>
                <a:latin typeface="Aptos" pitchFamily="34" charset="0"/>
                <a:ea typeface="Aptos" pitchFamily="34" charset="-122"/>
                <a:cs typeface="Aptos" pitchFamily="34" charset="-120"/>
              </a:rPr>
              <a:t>MAIN PRODUCT GROUPS</a:t>
            </a:r>
            <a:endParaRPr lang="en-US" sz="850" dirty="0"/>
          </a:p>
        </p:txBody>
      </p:sp>
      <p:sp>
        <p:nvSpPr>
          <p:cNvPr id="7" name="Shape 5"/>
          <p:cNvSpPr/>
          <p:nvPr/>
        </p:nvSpPr>
        <p:spPr>
          <a:xfrm>
            <a:off x="841248" y="2432304"/>
            <a:ext cx="1956816" cy="2084832"/>
          </a:xfrm>
          <a:prstGeom prst="roundRect">
            <a:avLst>
              <a:gd name="adj" fmla="val 6542"/>
            </a:avLst>
          </a:prstGeom>
          <a:solidFill>
            <a:srgbClr val="19211D"/>
          </a:solidFill>
          <a:ln w="12700">
            <a:solidFill>
              <a:srgbClr val="19211D">
                <a:alpha val="0"/>
              </a:srgbClr>
            </a:solidFill>
            <a:prstDash val="solid"/>
          </a:ln>
        </p:spPr>
      </p:sp>
      <p:sp>
        <p:nvSpPr>
          <p:cNvPr id="8" name="Shape 6"/>
          <p:cNvSpPr/>
          <p:nvPr/>
        </p:nvSpPr>
        <p:spPr>
          <a:xfrm>
            <a:off x="1641348" y="2804648"/>
            <a:ext cx="356616" cy="470733"/>
          </a:xfrm>
          <a:prstGeom prst="roundRect">
            <a:avLst>
              <a:gd name="adj" fmla="val 20513"/>
            </a:avLst>
          </a:prstGeom>
          <a:solidFill>
            <a:srgbClr val="C5F26D"/>
          </a:solidFill>
          <a:ln w="12700">
            <a:solidFill>
              <a:srgbClr val="C5F26D">
                <a:alpha val="0"/>
              </a:srgbClr>
            </a:solidFill>
            <a:prstDash val="solid"/>
          </a:ln>
        </p:spPr>
      </p:sp>
      <p:sp>
        <p:nvSpPr>
          <p:cNvPr id="9" name="Shape 7"/>
          <p:cNvSpPr/>
          <p:nvPr/>
        </p:nvSpPr>
        <p:spPr>
          <a:xfrm>
            <a:off x="1726936" y="2690531"/>
            <a:ext cx="185440" cy="135514"/>
          </a:xfrm>
          <a:prstGeom prst="roundRect">
            <a:avLst>
              <a:gd name="adj" fmla="val 20243"/>
            </a:avLst>
          </a:prstGeom>
          <a:solidFill>
            <a:srgbClr val="C5F26D"/>
          </a:solidFill>
          <a:ln w="12700">
            <a:solidFill>
              <a:srgbClr val="C5F26D">
                <a:alpha val="0"/>
              </a:srgbClr>
            </a:solidFill>
            <a:prstDash val="solid"/>
          </a:ln>
        </p:spPr>
      </p:sp>
      <p:sp>
        <p:nvSpPr>
          <p:cNvPr id="10" name="Shape 8"/>
          <p:cNvSpPr/>
          <p:nvPr/>
        </p:nvSpPr>
        <p:spPr>
          <a:xfrm>
            <a:off x="1677010" y="3018617"/>
            <a:ext cx="285293" cy="0"/>
          </a:xfrm>
          <a:prstGeom prst="line">
            <a:avLst/>
          </a:prstGeom>
          <a:noFill/>
          <a:ln w="22860">
            <a:solidFill>
              <a:srgbClr val="0B0F0D"/>
            </a:solidFill>
            <a:prstDash val="solid"/>
            <a:headEnd type="none"/>
            <a:tailEnd type="none"/>
          </a:ln>
        </p:spPr>
      </p:sp>
      <p:sp>
        <p:nvSpPr>
          <p:cNvPr id="11" name="Text 9"/>
          <p:cNvSpPr/>
          <p:nvPr/>
        </p:nvSpPr>
        <p:spPr>
          <a:xfrm>
            <a:off x="987552" y="3675888"/>
            <a:ext cx="1664208" cy="274320"/>
          </a:xfrm>
          <a:prstGeom prst="rect">
            <a:avLst/>
          </a:prstGeom>
          <a:noFill/>
          <a:ln/>
        </p:spPr>
        <p:txBody>
          <a:bodyPr wrap="square" lIns="0" tIns="0" rIns="0" bIns="0" rtlCol="0" anchor="ctr">
            <a:normAutofit/>
          </a:bodyPr>
          <a:lstStyle/>
          <a:p>
            <a:pPr marL="0" indent="0" algn="ctr">
              <a:buNone/>
            </a:pPr>
            <a:r>
              <a:rPr lang="en-US" sz="1500" b="1" dirty="0">
                <a:solidFill>
                  <a:srgbClr val="F3F5F1"/>
                </a:solidFill>
                <a:latin typeface="Aptos" pitchFamily="34" charset="0"/>
                <a:ea typeface="Aptos" pitchFamily="34" charset="-122"/>
                <a:cs typeface="Aptos" pitchFamily="34" charset="-120"/>
              </a:rPr>
              <a:t>Supplements</a:t>
            </a:r>
            <a:endParaRPr lang="en-US" sz="1500" dirty="0"/>
          </a:p>
        </p:txBody>
      </p:sp>
      <p:sp>
        <p:nvSpPr>
          <p:cNvPr id="12" name="Text 10"/>
          <p:cNvSpPr/>
          <p:nvPr/>
        </p:nvSpPr>
        <p:spPr>
          <a:xfrm>
            <a:off x="978408" y="4023360"/>
            <a:ext cx="1682496" cy="365760"/>
          </a:xfrm>
          <a:prstGeom prst="rect">
            <a:avLst/>
          </a:prstGeom>
          <a:noFill/>
          <a:ln/>
        </p:spPr>
        <p:txBody>
          <a:bodyPr wrap="square" lIns="0" tIns="0" rIns="0" bIns="0" rtlCol="0" anchor="t">
            <a:normAutofit/>
          </a:bodyPr>
          <a:lstStyle/>
          <a:p>
            <a:pPr marL="0" indent="0" algn="ctr">
              <a:buNone/>
            </a:pPr>
            <a:r>
              <a:rPr lang="en-US" sz="1050" dirty="0">
                <a:solidFill>
                  <a:srgbClr val="A8B1AB"/>
                </a:solidFill>
                <a:latin typeface="Aptos" pitchFamily="34" charset="0"/>
                <a:ea typeface="Aptos" pitchFamily="34" charset="-122"/>
                <a:cs typeface="Aptos" pitchFamily="34" charset="-120"/>
              </a:rPr>
              <a:t>Protein, creatine, vitamins</a:t>
            </a:r>
            <a:endParaRPr lang="en-US" sz="1050" dirty="0"/>
          </a:p>
        </p:txBody>
      </p:sp>
      <p:sp>
        <p:nvSpPr>
          <p:cNvPr id="13" name="Shape 11"/>
          <p:cNvSpPr/>
          <p:nvPr/>
        </p:nvSpPr>
        <p:spPr>
          <a:xfrm>
            <a:off x="2980944" y="2432304"/>
            <a:ext cx="1956816" cy="2084832"/>
          </a:xfrm>
          <a:prstGeom prst="roundRect">
            <a:avLst>
              <a:gd name="adj" fmla="val 6542"/>
            </a:avLst>
          </a:prstGeom>
          <a:solidFill>
            <a:srgbClr val="19211D"/>
          </a:solidFill>
          <a:ln w="12700">
            <a:solidFill>
              <a:srgbClr val="19211D">
                <a:alpha val="0"/>
              </a:srgbClr>
            </a:solidFill>
            <a:prstDash val="solid"/>
          </a:ln>
        </p:spPr>
      </p:sp>
      <p:sp>
        <p:nvSpPr>
          <p:cNvPr id="15" name="Text 12"/>
          <p:cNvSpPr/>
          <p:nvPr/>
        </p:nvSpPr>
        <p:spPr>
          <a:xfrm>
            <a:off x="3127248" y="3675888"/>
            <a:ext cx="1664208" cy="274320"/>
          </a:xfrm>
          <a:prstGeom prst="rect">
            <a:avLst/>
          </a:prstGeom>
          <a:noFill/>
          <a:ln/>
        </p:spPr>
        <p:txBody>
          <a:bodyPr wrap="square" lIns="0" tIns="0" rIns="0" bIns="0" rtlCol="0" anchor="ctr">
            <a:normAutofit/>
          </a:bodyPr>
          <a:lstStyle/>
          <a:p>
            <a:pPr marL="0" indent="0" algn="ctr">
              <a:buNone/>
            </a:pPr>
            <a:r>
              <a:rPr lang="en-US" sz="1500" b="1" dirty="0">
                <a:solidFill>
                  <a:srgbClr val="F3F5F1"/>
                </a:solidFill>
                <a:latin typeface="Aptos" pitchFamily="34" charset="0"/>
                <a:ea typeface="Aptos" pitchFamily="34" charset="-122"/>
                <a:cs typeface="Aptos" pitchFamily="34" charset="-120"/>
              </a:rPr>
              <a:t>Gym clothing</a:t>
            </a:r>
            <a:endParaRPr lang="en-US" sz="1500" dirty="0"/>
          </a:p>
        </p:txBody>
      </p:sp>
      <p:sp>
        <p:nvSpPr>
          <p:cNvPr id="16" name="Text 13"/>
          <p:cNvSpPr/>
          <p:nvPr/>
        </p:nvSpPr>
        <p:spPr>
          <a:xfrm>
            <a:off x="3118104" y="4023360"/>
            <a:ext cx="1682496" cy="365760"/>
          </a:xfrm>
          <a:prstGeom prst="rect">
            <a:avLst/>
          </a:prstGeom>
          <a:noFill/>
          <a:ln/>
        </p:spPr>
        <p:txBody>
          <a:bodyPr wrap="square" lIns="0" tIns="0" rIns="0" bIns="0" rtlCol="0" anchor="t">
            <a:normAutofit/>
          </a:bodyPr>
          <a:lstStyle/>
          <a:p>
            <a:pPr marL="0" indent="0" algn="ctr">
              <a:buNone/>
            </a:pPr>
            <a:r>
              <a:rPr lang="en-US" sz="1050" dirty="0">
                <a:solidFill>
                  <a:srgbClr val="A8B1AB"/>
                </a:solidFill>
                <a:latin typeface="Aptos" pitchFamily="34" charset="0"/>
                <a:ea typeface="Aptos" pitchFamily="34" charset="-122"/>
                <a:cs typeface="Aptos" pitchFamily="34" charset="-120"/>
              </a:rPr>
              <a:t>T-shirts, shorts, leggings</a:t>
            </a:r>
            <a:endParaRPr lang="en-US" sz="1050" dirty="0"/>
          </a:p>
        </p:txBody>
      </p:sp>
      <p:sp>
        <p:nvSpPr>
          <p:cNvPr id="17" name="Shape 14"/>
          <p:cNvSpPr/>
          <p:nvPr/>
        </p:nvSpPr>
        <p:spPr>
          <a:xfrm>
            <a:off x="5120640" y="2432304"/>
            <a:ext cx="1956816" cy="2084832"/>
          </a:xfrm>
          <a:prstGeom prst="roundRect">
            <a:avLst>
              <a:gd name="adj" fmla="val 6542"/>
            </a:avLst>
          </a:prstGeom>
          <a:solidFill>
            <a:srgbClr val="19211D"/>
          </a:solidFill>
          <a:ln w="12700">
            <a:solidFill>
              <a:srgbClr val="19211D">
                <a:alpha val="0"/>
              </a:srgbClr>
            </a:solidFill>
            <a:prstDash val="solid"/>
          </a:ln>
        </p:spPr>
      </p:sp>
      <p:sp>
        <p:nvSpPr>
          <p:cNvPr id="18" name="Shape 15"/>
          <p:cNvSpPr/>
          <p:nvPr/>
        </p:nvSpPr>
        <p:spPr>
          <a:xfrm>
            <a:off x="5841187" y="3068726"/>
            <a:ext cx="497434" cy="0"/>
          </a:xfrm>
          <a:prstGeom prst="line">
            <a:avLst/>
          </a:prstGeom>
          <a:noFill/>
          <a:ln w="50800">
            <a:solidFill>
              <a:srgbClr val="F3A65A"/>
            </a:solidFill>
            <a:prstDash val="solid"/>
            <a:headEnd type="none"/>
            <a:tailEnd type="none"/>
          </a:ln>
        </p:spPr>
      </p:sp>
      <p:sp>
        <p:nvSpPr>
          <p:cNvPr id="19" name="Shape 16"/>
          <p:cNvSpPr/>
          <p:nvPr/>
        </p:nvSpPr>
        <p:spPr>
          <a:xfrm>
            <a:off x="5753405" y="2907792"/>
            <a:ext cx="131674" cy="321869"/>
          </a:xfrm>
          <a:prstGeom prst="roundRect">
            <a:avLst>
              <a:gd name="adj" fmla="val 20833"/>
            </a:avLst>
          </a:prstGeom>
          <a:solidFill>
            <a:srgbClr val="F3A65A"/>
          </a:solidFill>
          <a:ln w="12700">
            <a:solidFill>
              <a:srgbClr val="F3A65A">
                <a:alpha val="0"/>
              </a:srgbClr>
            </a:solidFill>
            <a:prstDash val="solid"/>
          </a:ln>
        </p:spPr>
      </p:sp>
      <p:sp>
        <p:nvSpPr>
          <p:cNvPr id="20" name="Shape 17"/>
          <p:cNvSpPr/>
          <p:nvPr/>
        </p:nvSpPr>
        <p:spPr>
          <a:xfrm>
            <a:off x="6294730" y="2907792"/>
            <a:ext cx="131674" cy="321869"/>
          </a:xfrm>
          <a:prstGeom prst="roundRect">
            <a:avLst>
              <a:gd name="adj" fmla="val 20833"/>
            </a:avLst>
          </a:prstGeom>
          <a:solidFill>
            <a:srgbClr val="F3A65A"/>
          </a:solidFill>
          <a:ln w="12700">
            <a:solidFill>
              <a:srgbClr val="F3A65A">
                <a:alpha val="0"/>
              </a:srgbClr>
            </a:solidFill>
            <a:prstDash val="solid"/>
          </a:ln>
        </p:spPr>
      </p:sp>
      <p:sp>
        <p:nvSpPr>
          <p:cNvPr id="21" name="Shape 18"/>
          <p:cNvSpPr/>
          <p:nvPr/>
        </p:nvSpPr>
        <p:spPr>
          <a:xfrm>
            <a:off x="5863133" y="2966314"/>
            <a:ext cx="87782" cy="204826"/>
          </a:xfrm>
          <a:prstGeom prst="roundRect">
            <a:avLst>
              <a:gd name="adj" fmla="val 31250"/>
            </a:avLst>
          </a:prstGeom>
          <a:solidFill>
            <a:srgbClr val="F3A65A"/>
          </a:solidFill>
          <a:ln w="12700">
            <a:solidFill>
              <a:srgbClr val="F3A65A">
                <a:alpha val="0"/>
              </a:srgbClr>
            </a:solidFill>
            <a:prstDash val="solid"/>
          </a:ln>
        </p:spPr>
      </p:sp>
      <p:sp>
        <p:nvSpPr>
          <p:cNvPr id="22" name="Shape 19"/>
          <p:cNvSpPr/>
          <p:nvPr/>
        </p:nvSpPr>
        <p:spPr>
          <a:xfrm>
            <a:off x="6228893" y="2966314"/>
            <a:ext cx="87782" cy="204826"/>
          </a:xfrm>
          <a:prstGeom prst="roundRect">
            <a:avLst>
              <a:gd name="adj" fmla="val 31250"/>
            </a:avLst>
          </a:prstGeom>
          <a:solidFill>
            <a:srgbClr val="F3A65A"/>
          </a:solidFill>
          <a:ln w="12700">
            <a:solidFill>
              <a:srgbClr val="F3A65A">
                <a:alpha val="0"/>
              </a:srgbClr>
            </a:solidFill>
            <a:prstDash val="solid"/>
          </a:ln>
        </p:spPr>
      </p:sp>
      <p:sp>
        <p:nvSpPr>
          <p:cNvPr id="23" name="Text 20"/>
          <p:cNvSpPr/>
          <p:nvPr/>
        </p:nvSpPr>
        <p:spPr>
          <a:xfrm>
            <a:off x="5266944" y="3675888"/>
            <a:ext cx="1664208" cy="274320"/>
          </a:xfrm>
          <a:prstGeom prst="rect">
            <a:avLst/>
          </a:prstGeom>
          <a:noFill/>
          <a:ln/>
        </p:spPr>
        <p:txBody>
          <a:bodyPr wrap="square" lIns="0" tIns="0" rIns="0" bIns="0" rtlCol="0" anchor="ctr">
            <a:normAutofit/>
          </a:bodyPr>
          <a:lstStyle/>
          <a:p>
            <a:pPr marL="0" indent="0" algn="ctr">
              <a:buNone/>
            </a:pPr>
            <a:r>
              <a:rPr lang="en-US" sz="1500" b="1" dirty="0">
                <a:solidFill>
                  <a:srgbClr val="F3F5F1"/>
                </a:solidFill>
                <a:latin typeface="Aptos" pitchFamily="34" charset="0"/>
                <a:ea typeface="Aptos" pitchFamily="34" charset="-122"/>
                <a:cs typeface="Aptos" pitchFamily="34" charset="-120"/>
              </a:rPr>
              <a:t>Equipment</a:t>
            </a:r>
            <a:endParaRPr lang="en-US" sz="1500" dirty="0"/>
          </a:p>
        </p:txBody>
      </p:sp>
      <p:sp>
        <p:nvSpPr>
          <p:cNvPr id="24" name="Text 21"/>
          <p:cNvSpPr/>
          <p:nvPr/>
        </p:nvSpPr>
        <p:spPr>
          <a:xfrm>
            <a:off x="5257800" y="4023360"/>
            <a:ext cx="1682496" cy="365760"/>
          </a:xfrm>
          <a:prstGeom prst="rect">
            <a:avLst/>
          </a:prstGeom>
          <a:noFill/>
          <a:ln/>
        </p:spPr>
        <p:txBody>
          <a:bodyPr wrap="square" lIns="0" tIns="0" rIns="0" bIns="0" rtlCol="0" anchor="t">
            <a:normAutofit/>
          </a:bodyPr>
          <a:lstStyle/>
          <a:p>
            <a:pPr marL="0" indent="0" algn="ctr">
              <a:buNone/>
            </a:pPr>
            <a:r>
              <a:rPr lang="en-US" sz="1050" dirty="0">
                <a:solidFill>
                  <a:srgbClr val="A8B1AB"/>
                </a:solidFill>
                <a:latin typeface="Aptos" pitchFamily="34" charset="0"/>
                <a:ea typeface="Aptos" pitchFamily="34" charset="-122"/>
                <a:cs typeface="Aptos" pitchFamily="34" charset="-120"/>
              </a:rPr>
              <a:t>Bands, straps, bottles</a:t>
            </a:r>
            <a:endParaRPr lang="en-US" sz="1050" dirty="0"/>
          </a:p>
        </p:txBody>
      </p:sp>
      <p:sp>
        <p:nvSpPr>
          <p:cNvPr id="25" name="Text 22"/>
          <p:cNvSpPr/>
          <p:nvPr/>
        </p:nvSpPr>
        <p:spPr>
          <a:xfrm>
            <a:off x="850392" y="4992624"/>
            <a:ext cx="6309360" cy="292608"/>
          </a:xfrm>
          <a:prstGeom prst="rect">
            <a:avLst/>
          </a:prstGeom>
          <a:noFill/>
          <a:ln/>
        </p:spPr>
        <p:txBody>
          <a:bodyPr wrap="square" lIns="0" tIns="0" rIns="0" bIns="0" rtlCol="0" anchor="ctr">
            <a:normAutofit/>
          </a:bodyPr>
          <a:lstStyle/>
          <a:p>
            <a:pPr marL="0" indent="0">
              <a:buNone/>
            </a:pPr>
            <a:r>
              <a:rPr lang="en-US" sz="1250" b="1" dirty="0">
                <a:solidFill>
                  <a:srgbClr val="C5F26D"/>
                </a:solidFill>
                <a:latin typeface="Aptos" pitchFamily="34" charset="0"/>
                <a:ea typeface="Aptos" pitchFamily="34" charset="-122"/>
                <a:cs typeface="Aptos" pitchFamily="34" charset="-120"/>
              </a:rPr>
              <a:t>Initial catalogue target: at least 30 products across 4 or more categories.</a:t>
            </a:r>
            <a:endParaRPr lang="en-US" sz="1250" dirty="0"/>
          </a:p>
        </p:txBody>
      </p:sp>
      <p:sp>
        <p:nvSpPr>
          <p:cNvPr id="26" name="Text 23"/>
          <p:cNvSpPr/>
          <p:nvPr/>
        </p:nvSpPr>
        <p:spPr>
          <a:xfrm>
            <a:off x="850392" y="5404104"/>
            <a:ext cx="6309360" cy="237744"/>
          </a:xfrm>
          <a:prstGeom prst="rect">
            <a:avLst/>
          </a:prstGeom>
          <a:noFill/>
          <a:ln/>
        </p:spPr>
        <p:txBody>
          <a:bodyPr wrap="square" lIns="0" tIns="0" rIns="0" bIns="0" rtlCol="0" anchor="ctr">
            <a:normAutofit/>
          </a:bodyPr>
          <a:lstStyle/>
          <a:p>
            <a:pPr marL="0" indent="0">
              <a:buNone/>
            </a:pPr>
            <a:r>
              <a:rPr lang="en-US" sz="1150" dirty="0">
                <a:solidFill>
                  <a:srgbClr val="A8B1AB"/>
                </a:solidFill>
                <a:latin typeface="Aptos" pitchFamily="34" charset="0"/>
                <a:ea typeface="Aptos" pitchFamily="34" charset="-122"/>
                <a:cs typeface="Aptos" pitchFamily="34" charset="-120"/>
              </a:rPr>
              <a:t>Each product will have an image, price and stock level.</a:t>
            </a:r>
            <a:endParaRPr lang="en-US" sz="1150" dirty="0"/>
          </a:p>
        </p:txBody>
      </p:sp>
      <p:sp>
        <p:nvSpPr>
          <p:cNvPr id="27" name="Shape 24"/>
          <p:cNvSpPr/>
          <p:nvPr/>
        </p:nvSpPr>
        <p:spPr>
          <a:xfrm>
            <a:off x="7699248" y="1783080"/>
            <a:ext cx="3913632" cy="4315968"/>
          </a:xfrm>
          <a:prstGeom prst="roundRect">
            <a:avLst>
              <a:gd name="adj" fmla="val 3738"/>
            </a:avLst>
          </a:prstGeom>
          <a:solidFill>
            <a:srgbClr val="19211D"/>
          </a:solidFill>
          <a:ln w="12700">
            <a:solidFill>
              <a:srgbClr val="19211D">
                <a:alpha val="0"/>
              </a:srgbClr>
            </a:solidFill>
            <a:prstDash val="solid"/>
          </a:ln>
        </p:spPr>
      </p:sp>
      <p:sp>
        <p:nvSpPr>
          <p:cNvPr id="28" name="Text 25"/>
          <p:cNvSpPr/>
          <p:nvPr/>
        </p:nvSpPr>
        <p:spPr>
          <a:xfrm>
            <a:off x="8001000" y="2029968"/>
            <a:ext cx="2377440" cy="164592"/>
          </a:xfrm>
          <a:prstGeom prst="rect">
            <a:avLst/>
          </a:prstGeom>
          <a:noFill/>
          <a:ln/>
        </p:spPr>
        <p:txBody>
          <a:bodyPr wrap="square" lIns="0" tIns="0" rIns="0" bIns="0" rtlCol="0" anchor="ctr">
            <a:normAutofit/>
          </a:bodyPr>
          <a:lstStyle/>
          <a:p>
            <a:pPr marL="0" indent="0">
              <a:buNone/>
            </a:pPr>
            <a:r>
              <a:rPr lang="en-US" sz="850" b="1" kern="0" spc="150" dirty="0">
                <a:solidFill>
                  <a:srgbClr val="C5F26D"/>
                </a:solidFill>
                <a:latin typeface="Aptos" pitchFamily="34" charset="0"/>
                <a:ea typeface="Aptos" pitchFamily="34" charset="-122"/>
                <a:cs typeface="Aptos" pitchFamily="34" charset="-120"/>
              </a:rPr>
              <a:t>WHO IT IS FOR</a:t>
            </a:r>
            <a:endParaRPr lang="en-US" sz="850" dirty="0"/>
          </a:p>
        </p:txBody>
      </p:sp>
      <p:sp>
        <p:nvSpPr>
          <p:cNvPr id="29" name="Text 26"/>
          <p:cNvSpPr/>
          <p:nvPr/>
        </p:nvSpPr>
        <p:spPr>
          <a:xfrm>
            <a:off x="8001000" y="2432304"/>
            <a:ext cx="3246120" cy="384048"/>
          </a:xfrm>
          <a:prstGeom prst="rect">
            <a:avLst/>
          </a:prstGeom>
          <a:noFill/>
          <a:ln/>
        </p:spPr>
        <p:txBody>
          <a:bodyPr wrap="square" lIns="0" tIns="0" rIns="0" bIns="0" rtlCol="0" anchor="ctr">
            <a:normAutofit/>
          </a:bodyPr>
          <a:lstStyle/>
          <a:p>
            <a:pPr marL="0" indent="0">
              <a:buNone/>
            </a:pPr>
            <a:r>
              <a:rPr lang="en-US" sz="2000" b="1" dirty="0">
                <a:solidFill>
                  <a:srgbClr val="F3F5F1"/>
                </a:solidFill>
                <a:latin typeface="Aptos" pitchFamily="34" charset="0"/>
                <a:ea typeface="Aptos" pitchFamily="34" charset="-122"/>
                <a:cs typeface="Aptos" pitchFamily="34" charset="-120"/>
              </a:rPr>
              <a:t>Gym-goers and home trainers</a:t>
            </a:r>
            <a:endParaRPr lang="en-US" sz="2000" dirty="0"/>
          </a:p>
        </p:txBody>
      </p:sp>
      <p:sp>
        <p:nvSpPr>
          <p:cNvPr id="30" name="Text 27"/>
          <p:cNvSpPr/>
          <p:nvPr/>
        </p:nvSpPr>
        <p:spPr>
          <a:xfrm>
            <a:off x="8001000" y="2944368"/>
            <a:ext cx="3154680" cy="768096"/>
          </a:xfrm>
          <a:prstGeom prst="rect">
            <a:avLst/>
          </a:prstGeom>
          <a:noFill/>
          <a:ln/>
        </p:spPr>
        <p:txBody>
          <a:bodyPr wrap="square" lIns="0" tIns="0" rIns="0" bIns="0" rtlCol="0" anchor="t">
            <a:normAutofit/>
          </a:bodyPr>
          <a:lstStyle/>
          <a:p>
            <a:pPr marL="0" indent="0">
              <a:buNone/>
            </a:pPr>
            <a:r>
              <a:rPr lang="en-US" sz="1350" dirty="0">
                <a:solidFill>
                  <a:srgbClr val="A8B1AB"/>
                </a:solidFill>
                <a:latin typeface="Aptos" pitchFamily="34" charset="0"/>
                <a:ea typeface="Aptos" pitchFamily="34" charset="-122"/>
                <a:cs typeface="Aptos" pitchFamily="34" charset="-120"/>
              </a:rPr>
              <a:t>Beginners and regular lifters who want clear product information and a simple buying process.</a:t>
            </a:r>
            <a:endParaRPr lang="en-US" sz="1350" dirty="0"/>
          </a:p>
        </p:txBody>
      </p:sp>
      <p:sp>
        <p:nvSpPr>
          <p:cNvPr id="31" name="Shape 28"/>
          <p:cNvSpPr/>
          <p:nvPr/>
        </p:nvSpPr>
        <p:spPr>
          <a:xfrm>
            <a:off x="8001000" y="3867912"/>
            <a:ext cx="3227832" cy="0"/>
          </a:xfrm>
          <a:prstGeom prst="line">
            <a:avLst/>
          </a:prstGeom>
          <a:noFill/>
          <a:ln w="12700">
            <a:solidFill>
              <a:srgbClr val="354038"/>
            </a:solidFill>
            <a:prstDash val="solid"/>
            <a:headEnd type="none"/>
            <a:tailEnd type="none"/>
          </a:ln>
        </p:spPr>
      </p:sp>
      <p:sp>
        <p:nvSpPr>
          <p:cNvPr id="32" name="Text 29"/>
          <p:cNvSpPr/>
          <p:nvPr/>
        </p:nvSpPr>
        <p:spPr>
          <a:xfrm>
            <a:off x="8001000" y="4096512"/>
            <a:ext cx="2834640" cy="164592"/>
          </a:xfrm>
          <a:prstGeom prst="rect">
            <a:avLst/>
          </a:prstGeom>
          <a:noFill/>
          <a:ln/>
        </p:spPr>
        <p:txBody>
          <a:bodyPr wrap="square" lIns="0" tIns="0" rIns="0" bIns="0" rtlCol="0" anchor="ctr">
            <a:normAutofit/>
          </a:bodyPr>
          <a:lstStyle/>
          <a:p>
            <a:pPr marL="0" indent="0">
              <a:buNone/>
            </a:pPr>
            <a:r>
              <a:rPr lang="en-US" sz="850" b="1" kern="0" spc="150" dirty="0">
                <a:solidFill>
                  <a:srgbClr val="C5F26D"/>
                </a:solidFill>
                <a:latin typeface="Aptos" pitchFamily="34" charset="0"/>
                <a:ea typeface="Aptos" pitchFamily="34" charset="-122"/>
                <a:cs typeface="Aptos" pitchFamily="34" charset="-120"/>
              </a:rPr>
              <a:t>WHAT WE WANT TO DO WELL</a:t>
            </a:r>
            <a:endParaRPr lang="en-US" sz="850" dirty="0"/>
          </a:p>
        </p:txBody>
      </p:sp>
      <p:sp>
        <p:nvSpPr>
          <p:cNvPr id="33" name="Shape 30"/>
          <p:cNvSpPr/>
          <p:nvPr/>
        </p:nvSpPr>
        <p:spPr>
          <a:xfrm>
            <a:off x="8028432" y="4453128"/>
            <a:ext cx="82296" cy="82296"/>
          </a:xfrm>
          <a:prstGeom prst="ellipse">
            <a:avLst/>
          </a:prstGeom>
          <a:solidFill>
            <a:srgbClr val="C5F26D"/>
          </a:solidFill>
          <a:ln w="12700">
            <a:solidFill>
              <a:srgbClr val="C5F26D">
                <a:alpha val="0"/>
              </a:srgbClr>
            </a:solidFill>
            <a:prstDash val="solid"/>
          </a:ln>
        </p:spPr>
      </p:sp>
      <p:sp>
        <p:nvSpPr>
          <p:cNvPr id="34" name="Text 31"/>
          <p:cNvSpPr/>
          <p:nvPr/>
        </p:nvSpPr>
        <p:spPr>
          <a:xfrm>
            <a:off x="8220456" y="4389120"/>
            <a:ext cx="2880360" cy="256032"/>
          </a:xfrm>
          <a:prstGeom prst="rect">
            <a:avLst/>
          </a:prstGeom>
          <a:noFill/>
          <a:ln/>
        </p:spPr>
        <p:txBody>
          <a:bodyPr wrap="square" lIns="0" tIns="0" rIns="0" bIns="0" rtlCol="0" anchor="ctr">
            <a:normAutofit/>
          </a:bodyPr>
          <a:lstStyle/>
          <a:p>
            <a:pPr marL="0" indent="0">
              <a:buNone/>
            </a:pPr>
            <a:r>
              <a:rPr lang="en-US" sz="1150" dirty="0">
                <a:solidFill>
                  <a:srgbClr val="F3F5F1"/>
                </a:solidFill>
                <a:latin typeface="Aptos" pitchFamily="34" charset="0"/>
                <a:ea typeface="Aptos" pitchFamily="34" charset="-122"/>
                <a:cs typeface="Aptos" pitchFamily="34" charset="-120"/>
              </a:rPr>
              <a:t>Make categories easy to browse.</a:t>
            </a:r>
            <a:endParaRPr lang="en-US" sz="1150" dirty="0"/>
          </a:p>
        </p:txBody>
      </p:sp>
      <p:sp>
        <p:nvSpPr>
          <p:cNvPr id="35" name="Shape 32"/>
          <p:cNvSpPr/>
          <p:nvPr/>
        </p:nvSpPr>
        <p:spPr>
          <a:xfrm>
            <a:off x="8028432" y="4882896"/>
            <a:ext cx="82296" cy="82296"/>
          </a:xfrm>
          <a:prstGeom prst="ellipse">
            <a:avLst/>
          </a:prstGeom>
          <a:solidFill>
            <a:srgbClr val="C5F26D"/>
          </a:solidFill>
          <a:ln w="12700">
            <a:solidFill>
              <a:srgbClr val="C5F26D">
                <a:alpha val="0"/>
              </a:srgbClr>
            </a:solidFill>
            <a:prstDash val="solid"/>
          </a:ln>
        </p:spPr>
      </p:sp>
      <p:sp>
        <p:nvSpPr>
          <p:cNvPr id="36" name="Text 33"/>
          <p:cNvSpPr/>
          <p:nvPr/>
        </p:nvSpPr>
        <p:spPr>
          <a:xfrm>
            <a:off x="8220456" y="4818888"/>
            <a:ext cx="2880360" cy="256032"/>
          </a:xfrm>
          <a:prstGeom prst="rect">
            <a:avLst/>
          </a:prstGeom>
          <a:noFill/>
          <a:ln/>
        </p:spPr>
        <p:txBody>
          <a:bodyPr wrap="square" lIns="0" tIns="0" rIns="0" bIns="0" rtlCol="0" anchor="ctr">
            <a:normAutofit/>
          </a:bodyPr>
          <a:lstStyle/>
          <a:p>
            <a:pPr marL="0" indent="0">
              <a:buNone/>
            </a:pPr>
            <a:r>
              <a:rPr lang="en-US" sz="1150" dirty="0">
                <a:solidFill>
                  <a:srgbClr val="F3F5F1"/>
                </a:solidFill>
                <a:latin typeface="Aptos" pitchFamily="34" charset="0"/>
                <a:ea typeface="Aptos" pitchFamily="34" charset="-122"/>
                <a:cs typeface="Aptos" pitchFamily="34" charset="-120"/>
              </a:rPr>
              <a:t>Show price and availability clearly.</a:t>
            </a:r>
            <a:endParaRPr lang="en-US" sz="1150" dirty="0"/>
          </a:p>
        </p:txBody>
      </p:sp>
      <p:sp>
        <p:nvSpPr>
          <p:cNvPr id="37" name="Shape 34"/>
          <p:cNvSpPr/>
          <p:nvPr/>
        </p:nvSpPr>
        <p:spPr>
          <a:xfrm>
            <a:off x="8028432" y="5312664"/>
            <a:ext cx="82296" cy="82296"/>
          </a:xfrm>
          <a:prstGeom prst="ellipse">
            <a:avLst/>
          </a:prstGeom>
          <a:solidFill>
            <a:srgbClr val="C5F26D"/>
          </a:solidFill>
          <a:ln w="12700">
            <a:solidFill>
              <a:srgbClr val="C5F26D">
                <a:alpha val="0"/>
              </a:srgbClr>
            </a:solidFill>
            <a:prstDash val="solid"/>
          </a:ln>
        </p:spPr>
      </p:sp>
      <p:sp>
        <p:nvSpPr>
          <p:cNvPr id="38" name="Text 35"/>
          <p:cNvSpPr/>
          <p:nvPr/>
        </p:nvSpPr>
        <p:spPr>
          <a:xfrm>
            <a:off x="8220456" y="5248656"/>
            <a:ext cx="2880360" cy="256032"/>
          </a:xfrm>
          <a:prstGeom prst="rect">
            <a:avLst/>
          </a:prstGeom>
          <a:noFill/>
          <a:ln/>
        </p:spPr>
        <p:txBody>
          <a:bodyPr wrap="square" lIns="0" tIns="0" rIns="0" bIns="0" rtlCol="0" anchor="ctr">
            <a:normAutofit/>
          </a:bodyPr>
          <a:lstStyle/>
          <a:p>
            <a:pPr marL="0" indent="0">
              <a:buNone/>
            </a:pPr>
            <a:r>
              <a:rPr lang="en-US" sz="1150" dirty="0">
                <a:solidFill>
                  <a:srgbClr val="F3F5F1"/>
                </a:solidFill>
                <a:latin typeface="Aptos" pitchFamily="34" charset="0"/>
                <a:ea typeface="Aptos" pitchFamily="34" charset="-122"/>
                <a:cs typeface="Aptos" pitchFamily="34" charset="-120"/>
              </a:rPr>
              <a:t>Keep checkout simple and predictable.</a:t>
            </a:r>
            <a:endParaRPr lang="en-US" sz="1150" dirty="0"/>
          </a:p>
        </p:txBody>
      </p:sp>
      <p:sp>
        <p:nvSpPr>
          <p:cNvPr id="39"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2</a:t>
            </a:fld>
            <a:endParaRPr lang="en-US"/>
          </a:p>
        </p:txBody>
      </p:sp>
      <p:pic>
        <p:nvPicPr>
          <p:cNvPr id="40" name="Picture 39">
            <a:extLst>
              <a:ext uri="{FF2B5EF4-FFF2-40B4-BE49-F238E27FC236}">
                <a16:creationId xmlns:a16="http://schemas.microsoft.com/office/drawing/2014/main" id="{745C65C2-2548-4AF7-829D-BAEC687F255D}"/>
              </a:ext>
            </a:extLst>
          </p:cNvPr>
          <p:cNvPicPr>
            <a:picLocks noChangeAspect="1"/>
          </p:cNvPicPr>
          <p:nvPr/>
        </p:nvPicPr>
        <p:blipFill>
          <a:blip r:embed="rId3"/>
          <a:stretch>
            <a:fillRect/>
          </a:stretch>
        </p:blipFill>
        <p:spPr>
          <a:xfrm>
            <a:off x="3645574" y="2704058"/>
            <a:ext cx="627555" cy="6291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02 / MARKET CHECK</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Three real stores we can learn from</a:t>
            </a:r>
            <a:endParaRPr lang="en-US" sz="2700" dirty="0"/>
          </a:p>
        </p:txBody>
      </p:sp>
      <p:sp>
        <p:nvSpPr>
          <p:cNvPr id="4" name="Text 2"/>
          <p:cNvSpPr/>
          <p:nvPr/>
        </p:nvSpPr>
        <p:spPr>
          <a:xfrm>
            <a:off x="585216" y="1225296"/>
            <a:ext cx="10881360" cy="320040"/>
          </a:xfrm>
          <a:prstGeom prst="rect">
            <a:avLst/>
          </a:prstGeom>
          <a:noFill/>
          <a:ln/>
        </p:spPr>
        <p:txBody>
          <a:bodyPr wrap="square" lIns="0" tIns="0" rIns="0" bIns="0" rtlCol="0" anchor="ctr">
            <a:normAutofit/>
          </a:bodyPr>
          <a:lstStyle/>
          <a:p>
            <a:pPr marL="0" indent="0">
              <a:buNone/>
            </a:pPr>
            <a:r>
              <a:rPr lang="en-US" sz="1250" dirty="0">
                <a:solidFill>
                  <a:srgbClr val="A8B1AB"/>
                </a:solidFill>
                <a:latin typeface="Aptos" pitchFamily="34" charset="0"/>
                <a:ea typeface="Aptos" pitchFamily="34" charset="-122"/>
                <a:cs typeface="Aptos" pitchFamily="34" charset="-120"/>
              </a:rPr>
              <a:t>This is a quick look at what already works  and where our student project can stay focused.</a:t>
            </a:r>
            <a:endParaRPr lang="en-US" sz="1250" dirty="0"/>
          </a:p>
        </p:txBody>
      </p:sp>
      <p:sp>
        <p:nvSpPr>
          <p:cNvPr id="5" name="Shape 3"/>
          <p:cNvSpPr/>
          <p:nvPr/>
        </p:nvSpPr>
        <p:spPr>
          <a:xfrm>
            <a:off x="566928" y="1810512"/>
            <a:ext cx="11045952" cy="429768"/>
          </a:xfrm>
          <a:prstGeom prst="roundRect">
            <a:avLst>
              <a:gd name="adj" fmla="val 17021"/>
            </a:avLst>
          </a:prstGeom>
          <a:solidFill>
            <a:srgbClr val="202923"/>
          </a:solidFill>
          <a:ln w="12700">
            <a:solidFill>
              <a:srgbClr val="202923">
                <a:alpha val="0"/>
              </a:srgbClr>
            </a:solidFill>
            <a:prstDash val="solid"/>
          </a:ln>
        </p:spPr>
      </p:sp>
      <p:sp>
        <p:nvSpPr>
          <p:cNvPr id="6" name="Text 4"/>
          <p:cNvSpPr/>
          <p:nvPr/>
        </p:nvSpPr>
        <p:spPr>
          <a:xfrm>
            <a:off x="786384" y="1883664"/>
            <a:ext cx="1920240" cy="228600"/>
          </a:xfrm>
          <a:prstGeom prst="rect">
            <a:avLst/>
          </a:prstGeom>
          <a:noFill/>
          <a:ln/>
        </p:spPr>
        <p:txBody>
          <a:bodyPr wrap="square" lIns="0" tIns="0" rIns="0" bIns="0" rtlCol="0" anchor="ctr">
            <a:normAutofit/>
          </a:bodyPr>
          <a:lstStyle/>
          <a:p>
            <a:pPr marL="0" indent="0">
              <a:buNone/>
            </a:pPr>
            <a:r>
              <a:rPr lang="en-US" sz="900" b="1" kern="0" spc="150" dirty="0">
                <a:solidFill>
                  <a:srgbClr val="C5F26D"/>
                </a:solidFill>
                <a:latin typeface="Aptos" pitchFamily="34" charset="0"/>
                <a:ea typeface="Aptos" pitchFamily="34" charset="-122"/>
                <a:cs typeface="Aptos" pitchFamily="34" charset="-120"/>
              </a:rPr>
              <a:t>STORE</a:t>
            </a:r>
            <a:endParaRPr lang="en-US" sz="900" dirty="0"/>
          </a:p>
        </p:txBody>
      </p:sp>
      <p:sp>
        <p:nvSpPr>
          <p:cNvPr id="7" name="Text 5"/>
          <p:cNvSpPr/>
          <p:nvPr/>
        </p:nvSpPr>
        <p:spPr>
          <a:xfrm>
            <a:off x="2743200" y="1883664"/>
            <a:ext cx="3383280" cy="228600"/>
          </a:xfrm>
          <a:prstGeom prst="rect">
            <a:avLst/>
          </a:prstGeom>
          <a:noFill/>
          <a:ln/>
        </p:spPr>
        <p:txBody>
          <a:bodyPr wrap="square" lIns="0" tIns="0" rIns="0" bIns="0" rtlCol="0" anchor="ctr">
            <a:normAutofit/>
          </a:bodyPr>
          <a:lstStyle/>
          <a:p>
            <a:pPr marL="0" indent="0">
              <a:buNone/>
            </a:pPr>
            <a:r>
              <a:rPr lang="en-US" sz="900" b="1" kern="0" spc="150" dirty="0">
                <a:solidFill>
                  <a:srgbClr val="C5F26D"/>
                </a:solidFill>
                <a:latin typeface="Aptos" pitchFamily="34" charset="0"/>
                <a:ea typeface="Aptos" pitchFamily="34" charset="-122"/>
                <a:cs typeface="Aptos" pitchFamily="34" charset="-120"/>
              </a:rPr>
              <a:t>WHAT IT DOES WELL</a:t>
            </a:r>
            <a:endParaRPr lang="en-US" sz="900" dirty="0"/>
          </a:p>
        </p:txBody>
      </p:sp>
      <p:sp>
        <p:nvSpPr>
          <p:cNvPr id="8" name="Text 6"/>
          <p:cNvSpPr/>
          <p:nvPr/>
        </p:nvSpPr>
        <p:spPr>
          <a:xfrm>
            <a:off x="6172200" y="1883664"/>
            <a:ext cx="2331720" cy="228600"/>
          </a:xfrm>
          <a:prstGeom prst="rect">
            <a:avLst/>
          </a:prstGeom>
          <a:noFill/>
          <a:ln/>
        </p:spPr>
        <p:txBody>
          <a:bodyPr wrap="square" lIns="0" tIns="0" rIns="0" bIns="0" rtlCol="0" anchor="ctr">
            <a:normAutofit/>
          </a:bodyPr>
          <a:lstStyle/>
          <a:p>
            <a:pPr marL="0" indent="0">
              <a:buNone/>
            </a:pPr>
            <a:r>
              <a:rPr lang="en-US" sz="900" b="1" kern="0" spc="150" dirty="0">
                <a:solidFill>
                  <a:srgbClr val="C5F26D"/>
                </a:solidFill>
                <a:latin typeface="Aptos" pitchFamily="34" charset="0"/>
                <a:ea typeface="Aptos" pitchFamily="34" charset="-122"/>
                <a:cs typeface="Aptos" pitchFamily="34" charset="-120"/>
              </a:rPr>
              <a:t>WHAT WE CAN ADOPT</a:t>
            </a:r>
            <a:endParaRPr lang="en-US" sz="900" dirty="0"/>
          </a:p>
        </p:txBody>
      </p:sp>
      <p:sp>
        <p:nvSpPr>
          <p:cNvPr id="9" name="Text 7"/>
          <p:cNvSpPr/>
          <p:nvPr/>
        </p:nvSpPr>
        <p:spPr>
          <a:xfrm>
            <a:off x="8641080" y="1883664"/>
            <a:ext cx="2606040" cy="228600"/>
          </a:xfrm>
          <a:prstGeom prst="rect">
            <a:avLst/>
          </a:prstGeom>
          <a:noFill/>
          <a:ln/>
        </p:spPr>
        <p:txBody>
          <a:bodyPr wrap="square" lIns="0" tIns="0" rIns="0" bIns="0" rtlCol="0" anchor="ctr">
            <a:normAutofit/>
          </a:bodyPr>
          <a:lstStyle/>
          <a:p>
            <a:pPr marL="0" indent="0">
              <a:buNone/>
            </a:pPr>
            <a:r>
              <a:rPr lang="en-US" sz="900" b="1" kern="0" spc="150" dirty="0">
                <a:solidFill>
                  <a:srgbClr val="C5F26D"/>
                </a:solidFill>
                <a:latin typeface="Aptos" pitchFamily="34" charset="0"/>
                <a:ea typeface="Aptos" pitchFamily="34" charset="-122"/>
                <a:cs typeface="Aptos" pitchFamily="34" charset="-120"/>
              </a:rPr>
              <a:t>OUR DIFFERENCE</a:t>
            </a:r>
            <a:endParaRPr lang="en-US" sz="900" dirty="0"/>
          </a:p>
        </p:txBody>
      </p:sp>
      <p:sp>
        <p:nvSpPr>
          <p:cNvPr id="10" name="Shape 8"/>
          <p:cNvSpPr/>
          <p:nvPr/>
        </p:nvSpPr>
        <p:spPr>
          <a:xfrm>
            <a:off x="566928" y="2322576"/>
            <a:ext cx="11045952" cy="960120"/>
          </a:xfrm>
          <a:prstGeom prst="roundRect">
            <a:avLst>
              <a:gd name="adj" fmla="val 9524"/>
            </a:avLst>
          </a:prstGeom>
          <a:solidFill>
            <a:srgbClr val="141A17"/>
          </a:solidFill>
          <a:ln w="12700">
            <a:solidFill>
              <a:srgbClr val="141A17">
                <a:alpha val="0"/>
              </a:srgbClr>
            </a:solidFill>
            <a:prstDash val="solid"/>
          </a:ln>
        </p:spPr>
      </p:sp>
      <p:sp>
        <p:nvSpPr>
          <p:cNvPr id="200" name="Logo tile gym"/>
          <p:cNvSpPr/>
          <p:nvPr/>
        </p:nvSpPr>
        <p:spPr>
          <a:xfrm>
            <a:off x="786384" y="2519172"/>
            <a:ext cx="777240" cy="566928"/>
          </a:xfrm>
          <a:prstGeom prst="roundRect">
            <a:avLst>
              <a:gd name="adj" fmla="val 14000"/>
            </a:avLst>
          </a:prstGeom>
          <a:solidFill>
            <a:srgbClr val="FFFFFF"/>
          </a:solidFill>
          <a:ln>
            <a:noFill/>
          </a:ln>
        </p:spPr>
        <p:txBody>
          <a:bodyPr/>
          <a:lstStyle/>
          <a:p>
            <a:endParaRPr lang="en-US"/>
          </a:p>
        </p:txBody>
      </p:sp>
      <p:pic>
        <p:nvPicPr>
          <p:cNvPr id="201" name="Logo gym" descr="GymBeam logo"/>
          <p:cNvPicPr>
            <a:picLocks noChangeAspect="1"/>
          </p:cNvPicPr>
          <p:nvPr/>
        </p:nvPicPr>
        <p:blipFill>
          <a:blip r:embed="rId3"/>
          <a:stretch>
            <a:fillRect/>
          </a:stretch>
        </p:blipFill>
        <p:spPr>
          <a:xfrm>
            <a:off x="868680" y="2736747"/>
            <a:ext cx="612647" cy="131777"/>
          </a:xfrm>
          <a:prstGeom prst="rect">
            <a:avLst/>
          </a:prstGeom>
        </p:spPr>
      </p:pic>
      <p:sp>
        <p:nvSpPr>
          <p:cNvPr id="13" name="Text 11"/>
          <p:cNvSpPr/>
          <p:nvPr/>
        </p:nvSpPr>
        <p:spPr>
          <a:xfrm>
            <a:off x="1645920" y="2478024"/>
            <a:ext cx="1024128" cy="566928"/>
          </a:xfrm>
          <a:prstGeom prst="rect">
            <a:avLst/>
          </a:prstGeom>
          <a:noFill/>
          <a:ln/>
        </p:spPr>
        <p:txBody>
          <a:bodyPr wrap="square" lIns="0" tIns="0" rIns="0" bIns="0" rtlCol="0" anchor="ctr">
            <a:normAutofit/>
          </a:bodyPr>
          <a:lstStyle/>
          <a:p>
            <a:pPr marL="0" indent="0">
              <a:buNone/>
            </a:pPr>
            <a:r>
              <a:rPr lang="en-US" sz="1300" b="1" dirty="0">
                <a:solidFill>
                  <a:srgbClr val="F3F5F1"/>
                </a:solidFill>
                <a:latin typeface="Aptos" pitchFamily="34" charset="0"/>
                <a:ea typeface="Aptos" pitchFamily="34" charset="-122"/>
                <a:cs typeface="Aptos" pitchFamily="34" charset="-120"/>
              </a:rPr>
              <a:t>GymBeam</a:t>
            </a:r>
            <a:endParaRPr lang="en-US" sz="1300" dirty="0"/>
          </a:p>
          <a:p>
            <a:pPr marL="0" indent="0">
              <a:buNone/>
            </a:pPr>
            <a:r>
              <a:rPr lang="en-US" sz="900" u="sng" dirty="0">
                <a:solidFill>
                  <a:srgbClr val="A8B1AB"/>
                </a:solid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gymbeam.ro</a:t>
            </a:r>
            <a:endParaRPr lang="en-US" sz="1300" dirty="0"/>
          </a:p>
        </p:txBody>
      </p:sp>
      <p:sp>
        <p:nvSpPr>
          <p:cNvPr id="14" name="Text 12"/>
          <p:cNvSpPr/>
          <p:nvPr/>
        </p:nvSpPr>
        <p:spPr>
          <a:xfrm>
            <a:off x="2743200" y="2478024"/>
            <a:ext cx="3182112" cy="621792"/>
          </a:xfrm>
          <a:prstGeom prst="rect">
            <a:avLst/>
          </a:prstGeom>
          <a:noFill/>
          <a:ln/>
        </p:spPr>
        <p:txBody>
          <a:bodyPr wrap="square" lIns="0" tIns="0" rIns="0" bIns="0" rtlCol="0" anchor="ctr">
            <a:normAutofit/>
          </a:bodyPr>
          <a:lstStyle/>
          <a:p>
            <a:pPr marL="0" indent="0">
              <a:buNone/>
            </a:pPr>
            <a:r>
              <a:rPr lang="en-US" sz="1130" dirty="0">
                <a:solidFill>
                  <a:srgbClr val="F3F5F1"/>
                </a:solidFill>
                <a:latin typeface="Aptos" pitchFamily="34" charset="0"/>
                <a:ea typeface="Aptos" pitchFamily="34" charset="-122"/>
                <a:cs typeface="Aptos" pitchFamily="34" charset="-120"/>
              </a:rPr>
              <a:t>Wide range of sports nutrition, snacks and clothing.</a:t>
            </a:r>
            <a:endParaRPr lang="en-US" sz="1130" dirty="0"/>
          </a:p>
        </p:txBody>
      </p:sp>
      <p:sp>
        <p:nvSpPr>
          <p:cNvPr id="15" name="Text 13"/>
          <p:cNvSpPr/>
          <p:nvPr/>
        </p:nvSpPr>
        <p:spPr>
          <a:xfrm>
            <a:off x="6172200" y="2478024"/>
            <a:ext cx="2212848" cy="621792"/>
          </a:xfrm>
          <a:prstGeom prst="rect">
            <a:avLst/>
          </a:prstGeom>
          <a:noFill/>
          <a:ln/>
        </p:spPr>
        <p:txBody>
          <a:bodyPr wrap="square" lIns="0" tIns="0" rIns="0" bIns="0" rtlCol="0" anchor="ctr">
            <a:normAutofit/>
          </a:bodyPr>
          <a:lstStyle/>
          <a:p>
            <a:pPr marL="0" indent="0">
              <a:buNone/>
            </a:pPr>
            <a:r>
              <a:rPr lang="en-US" sz="1110" dirty="0">
                <a:solidFill>
                  <a:srgbClr val="A8B1AB"/>
                </a:solidFill>
                <a:latin typeface="Aptos" pitchFamily="34" charset="0"/>
                <a:ea typeface="Aptos" pitchFamily="34" charset="-122"/>
                <a:cs typeface="Aptos" pitchFamily="34" charset="-120"/>
              </a:rPr>
              <a:t>Clear product groups and product details.</a:t>
            </a:r>
            <a:endParaRPr lang="en-US" sz="1110" dirty="0"/>
          </a:p>
        </p:txBody>
      </p:sp>
      <p:sp>
        <p:nvSpPr>
          <p:cNvPr id="16" name="Text 14"/>
          <p:cNvSpPr/>
          <p:nvPr/>
        </p:nvSpPr>
        <p:spPr>
          <a:xfrm>
            <a:off x="8641080" y="2478024"/>
            <a:ext cx="2642616" cy="621792"/>
          </a:xfrm>
          <a:prstGeom prst="rect">
            <a:avLst/>
          </a:prstGeom>
          <a:noFill/>
          <a:ln/>
        </p:spPr>
        <p:txBody>
          <a:bodyPr wrap="square" lIns="0" tIns="0" rIns="0" bIns="0" rtlCol="0" anchor="ctr">
            <a:normAutofit/>
          </a:bodyPr>
          <a:lstStyle/>
          <a:p>
            <a:pPr marL="0" indent="0">
              <a:buNone/>
            </a:pPr>
            <a:r>
              <a:rPr lang="en-US" sz="1110" dirty="0">
                <a:solidFill>
                  <a:srgbClr val="F3F5F1"/>
                </a:solidFill>
                <a:latin typeface="Aptos" pitchFamily="34" charset="0"/>
                <a:ea typeface="Aptos" pitchFamily="34" charset="-122"/>
                <a:cs typeface="Aptos" pitchFamily="34" charset="-120"/>
              </a:rPr>
              <a:t>Keep the first version smaller and easy to navigate.</a:t>
            </a:r>
            <a:endParaRPr lang="en-US" sz="1110" dirty="0"/>
          </a:p>
        </p:txBody>
      </p:sp>
      <p:sp>
        <p:nvSpPr>
          <p:cNvPr id="17" name="Shape 15"/>
          <p:cNvSpPr/>
          <p:nvPr/>
        </p:nvSpPr>
        <p:spPr>
          <a:xfrm>
            <a:off x="566928" y="3438144"/>
            <a:ext cx="11045952" cy="960120"/>
          </a:xfrm>
          <a:prstGeom prst="roundRect">
            <a:avLst>
              <a:gd name="adj" fmla="val 9524"/>
            </a:avLst>
          </a:prstGeom>
          <a:solidFill>
            <a:srgbClr val="141A17"/>
          </a:solidFill>
          <a:ln w="12700">
            <a:solidFill>
              <a:srgbClr val="141A17">
                <a:alpha val="0"/>
              </a:srgbClr>
            </a:solidFill>
            <a:prstDash val="solid"/>
          </a:ln>
        </p:spPr>
      </p:sp>
      <p:sp>
        <p:nvSpPr>
          <p:cNvPr id="202" name="Logo tile dec"/>
          <p:cNvSpPr/>
          <p:nvPr/>
        </p:nvSpPr>
        <p:spPr>
          <a:xfrm>
            <a:off x="786384" y="3634739"/>
            <a:ext cx="777240" cy="566928"/>
          </a:xfrm>
          <a:prstGeom prst="roundRect">
            <a:avLst>
              <a:gd name="adj" fmla="val 14000"/>
            </a:avLst>
          </a:prstGeom>
          <a:solidFill>
            <a:srgbClr val="FFFFFF"/>
          </a:solidFill>
          <a:ln>
            <a:noFill/>
          </a:ln>
        </p:spPr>
        <p:txBody>
          <a:bodyPr/>
          <a:lstStyle/>
          <a:p>
            <a:endParaRPr lang="en-US"/>
          </a:p>
        </p:txBody>
      </p:sp>
      <p:pic>
        <p:nvPicPr>
          <p:cNvPr id="203" name="Logo dec" descr="Decathlon logo"/>
          <p:cNvPicPr>
            <a:picLocks noChangeAspect="1"/>
          </p:cNvPicPr>
          <p:nvPr/>
        </p:nvPicPr>
        <p:blipFill>
          <a:blip r:embed="rId5"/>
          <a:stretch>
            <a:fillRect/>
          </a:stretch>
        </p:blipFill>
        <p:spPr>
          <a:xfrm>
            <a:off x="868680" y="3718218"/>
            <a:ext cx="612647" cy="399971"/>
          </a:xfrm>
          <a:prstGeom prst="rect">
            <a:avLst/>
          </a:prstGeom>
        </p:spPr>
      </p:pic>
      <p:sp>
        <p:nvSpPr>
          <p:cNvPr id="20" name="Text 18"/>
          <p:cNvSpPr/>
          <p:nvPr/>
        </p:nvSpPr>
        <p:spPr>
          <a:xfrm>
            <a:off x="1645920" y="3593592"/>
            <a:ext cx="1024128" cy="566928"/>
          </a:xfrm>
          <a:prstGeom prst="rect">
            <a:avLst/>
          </a:prstGeom>
          <a:noFill/>
          <a:ln/>
        </p:spPr>
        <p:txBody>
          <a:bodyPr wrap="square" lIns="0" tIns="0" rIns="0" bIns="0" rtlCol="0" anchor="ctr">
            <a:normAutofit/>
          </a:bodyPr>
          <a:lstStyle/>
          <a:p>
            <a:pPr marL="0" indent="0">
              <a:buNone/>
            </a:pPr>
            <a:r>
              <a:rPr lang="en-US" sz="1300" b="1" dirty="0">
                <a:solidFill>
                  <a:srgbClr val="F3F5F1"/>
                </a:solidFill>
                <a:latin typeface="Aptos" pitchFamily="34" charset="0"/>
                <a:ea typeface="Aptos" pitchFamily="34" charset="-122"/>
                <a:cs typeface="Aptos" pitchFamily="34" charset="-120"/>
              </a:rPr>
              <a:t>Decathlon</a:t>
            </a:r>
            <a:endParaRPr lang="en-US" sz="1300" dirty="0"/>
          </a:p>
          <a:p>
            <a:pPr marL="0" indent="0">
              <a:buNone/>
            </a:pPr>
            <a:r>
              <a:rPr lang="en-US" sz="900" u="sng" dirty="0">
                <a:solidFill>
                  <a:srgbClr val="A8B1AB"/>
                </a:solidFill>
                <a:latin typeface="Aptos" pitchFamily="34" charset="0"/>
                <a:ea typeface="Aptos" pitchFamily="34" charset="-122"/>
                <a:cs typeface="Aptos" pitchFamily="34" charset="-120"/>
                <a:hlinkClick r:id="rId6">
                  <a:extLst>
                    <a:ext uri="{A12FA001-AC4F-418D-AE19-62706E023703}">
                      <ahyp:hlinkClr xmlns:ahyp="http://schemas.microsoft.com/office/drawing/2018/hyperlinkcolor" val="tx"/>
                    </a:ext>
                  </a:extLst>
                </a:hlinkClick>
              </a:rPr>
              <a:t>decathlon.ro</a:t>
            </a:r>
            <a:endParaRPr lang="en-US" sz="1300" dirty="0"/>
          </a:p>
        </p:txBody>
      </p:sp>
      <p:sp>
        <p:nvSpPr>
          <p:cNvPr id="21" name="Text 19"/>
          <p:cNvSpPr/>
          <p:nvPr/>
        </p:nvSpPr>
        <p:spPr>
          <a:xfrm>
            <a:off x="2743200" y="3593592"/>
            <a:ext cx="3182112" cy="621792"/>
          </a:xfrm>
          <a:prstGeom prst="rect">
            <a:avLst/>
          </a:prstGeom>
          <a:noFill/>
          <a:ln/>
        </p:spPr>
        <p:txBody>
          <a:bodyPr wrap="square" lIns="0" tIns="0" rIns="0" bIns="0" rtlCol="0" anchor="ctr">
            <a:normAutofit/>
          </a:bodyPr>
          <a:lstStyle/>
          <a:p>
            <a:pPr marL="0" indent="0">
              <a:buNone/>
            </a:pPr>
            <a:r>
              <a:rPr lang="en-US" sz="1130" dirty="0">
                <a:solidFill>
                  <a:srgbClr val="F3F5F1"/>
                </a:solidFill>
                <a:latin typeface="Aptos" pitchFamily="34" charset="0"/>
                <a:ea typeface="Aptos" pitchFamily="34" charset="-122"/>
                <a:cs typeface="Aptos" pitchFamily="34" charset="-120"/>
              </a:rPr>
              <a:t>Strong focus on practical fitness equipment and accessories.</a:t>
            </a:r>
            <a:endParaRPr lang="en-US" sz="1130" dirty="0"/>
          </a:p>
        </p:txBody>
      </p:sp>
      <p:sp>
        <p:nvSpPr>
          <p:cNvPr id="22" name="Text 20"/>
          <p:cNvSpPr/>
          <p:nvPr/>
        </p:nvSpPr>
        <p:spPr>
          <a:xfrm>
            <a:off x="6172200" y="3593592"/>
            <a:ext cx="2212848" cy="621792"/>
          </a:xfrm>
          <a:prstGeom prst="rect">
            <a:avLst/>
          </a:prstGeom>
          <a:noFill/>
          <a:ln/>
        </p:spPr>
        <p:txBody>
          <a:bodyPr wrap="square" lIns="0" tIns="0" rIns="0" bIns="0" rtlCol="0" anchor="ctr">
            <a:normAutofit/>
          </a:bodyPr>
          <a:lstStyle/>
          <a:p>
            <a:pPr marL="0" indent="0">
              <a:buNone/>
            </a:pPr>
            <a:r>
              <a:rPr lang="en-US" sz="1110" dirty="0">
                <a:solidFill>
                  <a:srgbClr val="A8B1AB"/>
                </a:solidFill>
                <a:latin typeface="Aptos" pitchFamily="34" charset="0"/>
                <a:ea typeface="Aptos" pitchFamily="34" charset="-122"/>
                <a:cs typeface="Aptos" pitchFamily="34" charset="-120"/>
              </a:rPr>
              <a:t>Useful categories and straightforward product browsing.</a:t>
            </a:r>
            <a:endParaRPr lang="en-US" sz="1110" dirty="0"/>
          </a:p>
        </p:txBody>
      </p:sp>
      <p:sp>
        <p:nvSpPr>
          <p:cNvPr id="23" name="Text 21"/>
          <p:cNvSpPr/>
          <p:nvPr/>
        </p:nvSpPr>
        <p:spPr>
          <a:xfrm>
            <a:off x="8641080" y="3593592"/>
            <a:ext cx="2642616" cy="621792"/>
          </a:xfrm>
          <a:prstGeom prst="rect">
            <a:avLst/>
          </a:prstGeom>
          <a:noFill/>
          <a:ln/>
        </p:spPr>
        <p:txBody>
          <a:bodyPr wrap="square" lIns="0" tIns="0" rIns="0" bIns="0" rtlCol="0" anchor="ctr">
            <a:normAutofit/>
          </a:bodyPr>
          <a:lstStyle/>
          <a:p>
            <a:pPr marL="0" indent="0">
              <a:buNone/>
            </a:pPr>
            <a:r>
              <a:rPr lang="en-US" sz="1110" dirty="0">
                <a:solidFill>
                  <a:srgbClr val="F3F5F1"/>
                </a:solidFill>
                <a:latin typeface="Aptos" pitchFamily="34" charset="0"/>
                <a:ea typeface="Aptos" pitchFamily="34" charset="-122"/>
                <a:cs typeface="Aptos" pitchFamily="34" charset="-120"/>
              </a:rPr>
              <a:t>Focus on gym needs rather than every sport.</a:t>
            </a:r>
            <a:endParaRPr lang="en-US" sz="1110" dirty="0"/>
          </a:p>
        </p:txBody>
      </p:sp>
      <p:sp>
        <p:nvSpPr>
          <p:cNvPr id="24" name="Shape 22"/>
          <p:cNvSpPr/>
          <p:nvPr/>
        </p:nvSpPr>
        <p:spPr>
          <a:xfrm>
            <a:off x="566928" y="4553712"/>
            <a:ext cx="11045952" cy="960120"/>
          </a:xfrm>
          <a:prstGeom prst="roundRect">
            <a:avLst>
              <a:gd name="adj" fmla="val 9524"/>
            </a:avLst>
          </a:prstGeom>
          <a:solidFill>
            <a:srgbClr val="141A17"/>
          </a:solidFill>
          <a:ln w="12700">
            <a:solidFill>
              <a:srgbClr val="141A17">
                <a:alpha val="0"/>
              </a:srgbClr>
            </a:solidFill>
            <a:prstDash val="solid"/>
          </a:ln>
        </p:spPr>
      </p:sp>
      <p:sp>
        <p:nvSpPr>
          <p:cNvPr id="204" name="Logo tile my"/>
          <p:cNvSpPr/>
          <p:nvPr/>
        </p:nvSpPr>
        <p:spPr>
          <a:xfrm>
            <a:off x="786384" y="4750308"/>
            <a:ext cx="777240" cy="566928"/>
          </a:xfrm>
          <a:prstGeom prst="roundRect">
            <a:avLst>
              <a:gd name="adj" fmla="val 14000"/>
            </a:avLst>
          </a:prstGeom>
          <a:solidFill>
            <a:srgbClr val="FFFFFF"/>
          </a:solidFill>
          <a:ln>
            <a:noFill/>
          </a:ln>
        </p:spPr>
        <p:txBody>
          <a:bodyPr/>
          <a:lstStyle/>
          <a:p>
            <a:endParaRPr lang="en-US"/>
          </a:p>
        </p:txBody>
      </p:sp>
      <p:pic>
        <p:nvPicPr>
          <p:cNvPr id="205" name="Logo my" descr="Myprotein logo"/>
          <p:cNvPicPr>
            <a:picLocks noChangeAspect="1"/>
          </p:cNvPicPr>
          <p:nvPr/>
        </p:nvPicPr>
        <p:blipFill>
          <a:blip r:embed="rId7"/>
          <a:stretch>
            <a:fillRect/>
          </a:stretch>
        </p:blipFill>
        <p:spPr>
          <a:xfrm>
            <a:off x="868680" y="4879384"/>
            <a:ext cx="612647" cy="308774"/>
          </a:xfrm>
          <a:prstGeom prst="rect">
            <a:avLst/>
          </a:prstGeom>
        </p:spPr>
      </p:pic>
      <p:sp>
        <p:nvSpPr>
          <p:cNvPr id="27" name="Text 25"/>
          <p:cNvSpPr/>
          <p:nvPr/>
        </p:nvSpPr>
        <p:spPr>
          <a:xfrm>
            <a:off x="1645920" y="4709160"/>
            <a:ext cx="1024128" cy="566928"/>
          </a:xfrm>
          <a:prstGeom prst="rect">
            <a:avLst/>
          </a:prstGeom>
          <a:noFill/>
          <a:ln/>
        </p:spPr>
        <p:txBody>
          <a:bodyPr wrap="square" lIns="0" tIns="0" rIns="0" bIns="0" rtlCol="0" anchor="ctr">
            <a:normAutofit/>
          </a:bodyPr>
          <a:lstStyle/>
          <a:p>
            <a:pPr marL="0" indent="0">
              <a:buNone/>
            </a:pPr>
            <a:r>
              <a:rPr lang="en-US" sz="1300" b="1" dirty="0">
                <a:solidFill>
                  <a:srgbClr val="F3F5F1"/>
                </a:solidFill>
                <a:latin typeface="Aptos" pitchFamily="34" charset="0"/>
                <a:ea typeface="Aptos" pitchFamily="34" charset="-122"/>
                <a:cs typeface="Aptos" pitchFamily="34" charset="-120"/>
              </a:rPr>
              <a:t>Myprotein</a:t>
            </a:r>
            <a:endParaRPr lang="en-US" sz="1300" dirty="0"/>
          </a:p>
          <a:p>
            <a:pPr marL="0" indent="0">
              <a:buNone/>
            </a:pPr>
            <a:r>
              <a:rPr lang="en-US" sz="900" u="sng" dirty="0">
                <a:solidFill>
                  <a:srgbClr val="A8B1AB"/>
                </a:solidFill>
                <a:latin typeface="Aptos" pitchFamily="34" charset="0"/>
                <a:ea typeface="Aptos" pitchFamily="34" charset="-122"/>
                <a:cs typeface="Aptos" pitchFamily="34" charset="-120"/>
                <a:hlinkClick r:id="rId8">
                  <a:extLst>
                    <a:ext uri="{A12FA001-AC4F-418D-AE19-62706E023703}">
                      <ahyp:hlinkClr xmlns:ahyp="http://schemas.microsoft.com/office/drawing/2018/hyperlinkcolor" val="tx"/>
                    </a:ext>
                  </a:extLst>
                </a:hlinkClick>
              </a:rPr>
              <a:t>myprotein.ro</a:t>
            </a:r>
            <a:endParaRPr lang="en-US" sz="1300" dirty="0"/>
          </a:p>
        </p:txBody>
      </p:sp>
      <p:sp>
        <p:nvSpPr>
          <p:cNvPr id="28" name="Text 26"/>
          <p:cNvSpPr/>
          <p:nvPr/>
        </p:nvSpPr>
        <p:spPr>
          <a:xfrm>
            <a:off x="2743200" y="4709160"/>
            <a:ext cx="3182112" cy="621792"/>
          </a:xfrm>
          <a:prstGeom prst="rect">
            <a:avLst/>
          </a:prstGeom>
          <a:noFill/>
          <a:ln/>
        </p:spPr>
        <p:txBody>
          <a:bodyPr wrap="square" lIns="0" tIns="0" rIns="0" bIns="0" rtlCol="0" anchor="ctr">
            <a:normAutofit/>
          </a:bodyPr>
          <a:lstStyle/>
          <a:p>
            <a:pPr marL="0" indent="0">
              <a:buNone/>
            </a:pPr>
            <a:r>
              <a:rPr lang="en-US" sz="1130" dirty="0">
                <a:solidFill>
                  <a:srgbClr val="F3F5F1"/>
                </a:solidFill>
                <a:latin typeface="Aptos" pitchFamily="34" charset="0"/>
                <a:ea typeface="Aptos" pitchFamily="34" charset="-122"/>
                <a:cs typeface="Aptos" pitchFamily="34" charset="-120"/>
              </a:rPr>
              <a:t>Combines sports nutrition, activewear and training accessories.</a:t>
            </a:r>
            <a:endParaRPr lang="en-US" sz="1130" dirty="0"/>
          </a:p>
        </p:txBody>
      </p:sp>
      <p:sp>
        <p:nvSpPr>
          <p:cNvPr id="29" name="Text 27"/>
          <p:cNvSpPr/>
          <p:nvPr/>
        </p:nvSpPr>
        <p:spPr>
          <a:xfrm>
            <a:off x="6172200" y="4709160"/>
            <a:ext cx="2212848" cy="621792"/>
          </a:xfrm>
          <a:prstGeom prst="rect">
            <a:avLst/>
          </a:prstGeom>
          <a:noFill/>
          <a:ln/>
        </p:spPr>
        <p:txBody>
          <a:bodyPr wrap="square" lIns="0" tIns="0" rIns="0" bIns="0" rtlCol="0" anchor="ctr">
            <a:normAutofit/>
          </a:bodyPr>
          <a:lstStyle/>
          <a:p>
            <a:pPr marL="0" indent="0">
              <a:buNone/>
            </a:pPr>
            <a:r>
              <a:rPr lang="en-US" sz="1110" dirty="0">
                <a:solidFill>
                  <a:srgbClr val="A8B1AB"/>
                </a:solidFill>
                <a:latin typeface="Aptos" pitchFamily="34" charset="0"/>
                <a:ea typeface="Aptos" pitchFamily="34" charset="-122"/>
                <a:cs typeface="Aptos" pitchFamily="34" charset="-120"/>
              </a:rPr>
              <a:t>Separate nutrition, clothing and accessory sections.</a:t>
            </a:r>
            <a:endParaRPr lang="en-US" sz="1110" dirty="0"/>
          </a:p>
        </p:txBody>
      </p:sp>
      <p:sp>
        <p:nvSpPr>
          <p:cNvPr id="30" name="Text 28"/>
          <p:cNvSpPr/>
          <p:nvPr/>
        </p:nvSpPr>
        <p:spPr>
          <a:xfrm>
            <a:off x="8641080" y="4709160"/>
            <a:ext cx="2642616" cy="621792"/>
          </a:xfrm>
          <a:prstGeom prst="rect">
            <a:avLst/>
          </a:prstGeom>
          <a:noFill/>
          <a:ln/>
        </p:spPr>
        <p:txBody>
          <a:bodyPr wrap="square" lIns="0" tIns="0" rIns="0" bIns="0" rtlCol="0" anchor="ctr">
            <a:normAutofit/>
          </a:bodyPr>
          <a:lstStyle/>
          <a:p>
            <a:pPr marL="0" indent="0">
              <a:buNone/>
            </a:pPr>
            <a:r>
              <a:rPr lang="en-US" sz="1110" dirty="0">
                <a:solidFill>
                  <a:srgbClr val="F3F5F1"/>
                </a:solidFill>
                <a:latin typeface="Aptos" pitchFamily="34" charset="0"/>
                <a:ea typeface="Aptos" pitchFamily="34" charset="-122"/>
                <a:cs typeface="Aptos" pitchFamily="34" charset="-120"/>
              </a:rPr>
              <a:t>Bring essential categories together with a simpler checkout.</a:t>
            </a:r>
            <a:endParaRPr lang="en-US" sz="1110" dirty="0"/>
          </a:p>
        </p:txBody>
      </p:sp>
      <p:sp>
        <p:nvSpPr>
          <p:cNvPr id="32"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03 / PLANNED EXPERIENCE</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From finding a product to a confirmed order</a:t>
            </a:r>
            <a:endParaRPr lang="en-US" sz="2700" dirty="0"/>
          </a:p>
        </p:txBody>
      </p:sp>
      <p:sp>
        <p:nvSpPr>
          <p:cNvPr id="4" name="Text 2"/>
          <p:cNvSpPr/>
          <p:nvPr/>
        </p:nvSpPr>
        <p:spPr>
          <a:xfrm>
            <a:off x="585216" y="1225296"/>
            <a:ext cx="10881360" cy="320040"/>
          </a:xfrm>
          <a:prstGeom prst="rect">
            <a:avLst/>
          </a:prstGeom>
          <a:noFill/>
          <a:ln/>
        </p:spPr>
        <p:txBody>
          <a:bodyPr wrap="square" lIns="0" tIns="0" rIns="0" bIns="0" rtlCol="0" anchor="ctr">
            <a:normAutofit/>
          </a:bodyPr>
          <a:lstStyle/>
          <a:p>
            <a:pPr marL="0" indent="0">
              <a:buNone/>
            </a:pPr>
            <a:r>
              <a:rPr lang="en-US" sz="1250" dirty="0">
                <a:solidFill>
                  <a:srgbClr val="A8B1AB"/>
                </a:solidFill>
                <a:latin typeface="Aptos" pitchFamily="34" charset="0"/>
                <a:ea typeface="Aptos" pitchFamily="34" charset="-122"/>
                <a:cs typeface="Aptos" pitchFamily="34" charset="-120"/>
              </a:rPr>
              <a:t>The website must support both sides of a store: customers buying, and an admin managing stock and orders.</a:t>
            </a:r>
            <a:endParaRPr lang="en-US" sz="1250" dirty="0"/>
          </a:p>
        </p:txBody>
      </p:sp>
      <p:sp>
        <p:nvSpPr>
          <p:cNvPr id="5" name="Shape 3"/>
          <p:cNvSpPr/>
          <p:nvPr/>
        </p:nvSpPr>
        <p:spPr>
          <a:xfrm>
            <a:off x="658368" y="1947672"/>
            <a:ext cx="1536192" cy="1444752"/>
          </a:xfrm>
          <a:prstGeom prst="roundRect">
            <a:avLst>
              <a:gd name="adj" fmla="val 7595"/>
            </a:avLst>
          </a:prstGeom>
          <a:solidFill>
            <a:srgbClr val="141A17"/>
          </a:solidFill>
          <a:ln w="12700">
            <a:solidFill>
              <a:srgbClr val="141A17">
                <a:alpha val="0"/>
              </a:srgbClr>
            </a:solidFill>
            <a:prstDash val="solid"/>
          </a:ln>
        </p:spPr>
      </p:sp>
      <p:sp>
        <p:nvSpPr>
          <p:cNvPr id="6" name="Text 4"/>
          <p:cNvSpPr/>
          <p:nvPr/>
        </p:nvSpPr>
        <p:spPr>
          <a:xfrm>
            <a:off x="804672" y="2084832"/>
            <a:ext cx="502920" cy="219456"/>
          </a:xfrm>
          <a:prstGeom prst="rect">
            <a:avLst/>
          </a:prstGeom>
          <a:noFill/>
          <a:ln/>
        </p:spPr>
        <p:txBody>
          <a:bodyPr wrap="square" lIns="0" tIns="0" rIns="0" bIns="0" rtlCol="0" anchor="ctr">
            <a:normAutofit/>
          </a:bodyPr>
          <a:lstStyle/>
          <a:p>
            <a:pPr marL="0" indent="0">
              <a:buNone/>
            </a:pPr>
            <a:r>
              <a:rPr lang="en-US" sz="1100" b="1" kern="0" spc="120" dirty="0">
                <a:solidFill>
                  <a:srgbClr val="C5F26D"/>
                </a:solidFill>
                <a:latin typeface="Aptos" pitchFamily="34" charset="0"/>
                <a:ea typeface="Aptos" pitchFamily="34" charset="-122"/>
                <a:cs typeface="Aptos" pitchFamily="34" charset="-120"/>
              </a:rPr>
              <a:t>01</a:t>
            </a:r>
            <a:endParaRPr lang="en-US" sz="1100" dirty="0"/>
          </a:p>
        </p:txBody>
      </p:sp>
      <p:sp>
        <p:nvSpPr>
          <p:cNvPr id="7" name="Text 5"/>
          <p:cNvSpPr/>
          <p:nvPr/>
        </p:nvSpPr>
        <p:spPr>
          <a:xfrm>
            <a:off x="804672" y="2459736"/>
            <a:ext cx="1261872" cy="274320"/>
          </a:xfrm>
          <a:prstGeom prst="rect">
            <a:avLst/>
          </a:prstGeom>
          <a:noFill/>
          <a:ln/>
        </p:spPr>
        <p:txBody>
          <a:bodyPr wrap="square" lIns="0" tIns="0" rIns="0" bIns="0" rtlCol="0" anchor="ctr">
            <a:normAutofit/>
          </a:bodyPr>
          <a:lstStyle/>
          <a:p>
            <a:pPr marL="0" indent="0">
              <a:buNone/>
            </a:pPr>
            <a:r>
              <a:rPr lang="en-US" sz="1330" b="1" dirty="0">
                <a:solidFill>
                  <a:srgbClr val="F3F5F1"/>
                </a:solidFill>
                <a:latin typeface="Aptos" pitchFamily="34" charset="0"/>
                <a:ea typeface="Aptos" pitchFamily="34" charset="-122"/>
                <a:cs typeface="Aptos" pitchFamily="34" charset="-120"/>
              </a:rPr>
              <a:t>Browse</a:t>
            </a:r>
            <a:endParaRPr lang="en-US" sz="1330" dirty="0"/>
          </a:p>
        </p:txBody>
      </p:sp>
      <p:sp>
        <p:nvSpPr>
          <p:cNvPr id="8" name="Text 6"/>
          <p:cNvSpPr/>
          <p:nvPr/>
        </p:nvSpPr>
        <p:spPr>
          <a:xfrm>
            <a:off x="804672" y="2807208"/>
            <a:ext cx="1261872" cy="393192"/>
          </a:xfrm>
          <a:prstGeom prst="rect">
            <a:avLst/>
          </a:prstGeom>
          <a:noFill/>
          <a:ln/>
        </p:spPr>
        <p:txBody>
          <a:bodyPr wrap="square" lIns="0" tIns="0" rIns="0" bIns="0" rtlCol="0" anchor="t">
            <a:normAutofit/>
          </a:bodyPr>
          <a:lstStyle/>
          <a:p>
            <a:pPr marL="0" indent="0">
              <a:buNone/>
            </a:pPr>
            <a:r>
              <a:rPr lang="en-US" sz="1000" dirty="0">
                <a:solidFill>
                  <a:srgbClr val="A8B1AB"/>
                </a:solidFill>
                <a:latin typeface="Aptos" pitchFamily="34" charset="0"/>
                <a:ea typeface="Aptos" pitchFamily="34" charset="-122"/>
                <a:cs typeface="Aptos" pitchFamily="34" charset="-120"/>
              </a:rPr>
              <a:t>Categories and search</a:t>
            </a:r>
            <a:endParaRPr lang="en-US" sz="1000" dirty="0"/>
          </a:p>
        </p:txBody>
      </p:sp>
      <p:sp>
        <p:nvSpPr>
          <p:cNvPr id="9" name="Shape 7"/>
          <p:cNvSpPr/>
          <p:nvPr/>
        </p:nvSpPr>
        <p:spPr>
          <a:xfrm>
            <a:off x="2221992" y="2670048"/>
            <a:ext cx="246888" cy="0"/>
          </a:xfrm>
          <a:prstGeom prst="line">
            <a:avLst/>
          </a:prstGeom>
          <a:noFill/>
          <a:ln w="19050">
            <a:solidFill>
              <a:srgbClr val="C5F26D"/>
            </a:solidFill>
            <a:prstDash val="solid"/>
            <a:headEnd type="none"/>
            <a:tailEnd type="none"/>
          </a:ln>
        </p:spPr>
      </p:sp>
      <p:sp>
        <p:nvSpPr>
          <p:cNvPr id="10" name="Shape 8"/>
          <p:cNvSpPr/>
          <p:nvPr/>
        </p:nvSpPr>
        <p:spPr>
          <a:xfrm>
            <a:off x="2532888" y="1947672"/>
            <a:ext cx="1536192" cy="1444752"/>
          </a:xfrm>
          <a:prstGeom prst="roundRect">
            <a:avLst>
              <a:gd name="adj" fmla="val 7595"/>
            </a:avLst>
          </a:prstGeom>
          <a:solidFill>
            <a:srgbClr val="141A17"/>
          </a:solidFill>
          <a:ln w="12700">
            <a:solidFill>
              <a:srgbClr val="141A17">
                <a:alpha val="0"/>
              </a:srgbClr>
            </a:solidFill>
            <a:prstDash val="solid"/>
          </a:ln>
        </p:spPr>
      </p:sp>
      <p:sp>
        <p:nvSpPr>
          <p:cNvPr id="11" name="Text 9"/>
          <p:cNvSpPr/>
          <p:nvPr/>
        </p:nvSpPr>
        <p:spPr>
          <a:xfrm>
            <a:off x="2679192" y="2084832"/>
            <a:ext cx="502920" cy="219456"/>
          </a:xfrm>
          <a:prstGeom prst="rect">
            <a:avLst/>
          </a:prstGeom>
          <a:noFill/>
          <a:ln/>
        </p:spPr>
        <p:txBody>
          <a:bodyPr wrap="square" lIns="0" tIns="0" rIns="0" bIns="0" rtlCol="0" anchor="ctr">
            <a:normAutofit/>
          </a:bodyPr>
          <a:lstStyle/>
          <a:p>
            <a:pPr marL="0" indent="0">
              <a:buNone/>
            </a:pPr>
            <a:r>
              <a:rPr lang="en-US" sz="1100" b="1" kern="0" spc="120" dirty="0">
                <a:solidFill>
                  <a:srgbClr val="8AC6E8"/>
                </a:solidFill>
                <a:latin typeface="Aptos" pitchFamily="34" charset="0"/>
                <a:ea typeface="Aptos" pitchFamily="34" charset="-122"/>
                <a:cs typeface="Aptos" pitchFamily="34" charset="-120"/>
              </a:rPr>
              <a:t>02</a:t>
            </a:r>
            <a:endParaRPr lang="en-US" sz="1100" dirty="0"/>
          </a:p>
        </p:txBody>
      </p:sp>
      <p:sp>
        <p:nvSpPr>
          <p:cNvPr id="12" name="Text 10"/>
          <p:cNvSpPr/>
          <p:nvPr/>
        </p:nvSpPr>
        <p:spPr>
          <a:xfrm>
            <a:off x="2679192" y="2459736"/>
            <a:ext cx="1261872" cy="274320"/>
          </a:xfrm>
          <a:prstGeom prst="rect">
            <a:avLst/>
          </a:prstGeom>
          <a:noFill/>
          <a:ln/>
        </p:spPr>
        <p:txBody>
          <a:bodyPr wrap="square" lIns="0" tIns="0" rIns="0" bIns="0" rtlCol="0" anchor="ctr">
            <a:normAutofit/>
          </a:bodyPr>
          <a:lstStyle/>
          <a:p>
            <a:pPr marL="0" indent="0">
              <a:buNone/>
            </a:pPr>
            <a:r>
              <a:rPr lang="en-US" sz="1330" b="1" dirty="0">
                <a:solidFill>
                  <a:srgbClr val="F3F5F1"/>
                </a:solidFill>
                <a:latin typeface="Aptos" pitchFamily="34" charset="0"/>
                <a:ea typeface="Aptos" pitchFamily="34" charset="-122"/>
                <a:cs typeface="Aptos" pitchFamily="34" charset="-120"/>
              </a:rPr>
              <a:t>Product page</a:t>
            </a:r>
            <a:endParaRPr lang="en-US" sz="1330" dirty="0"/>
          </a:p>
        </p:txBody>
      </p:sp>
      <p:sp>
        <p:nvSpPr>
          <p:cNvPr id="13" name="Text 11"/>
          <p:cNvSpPr/>
          <p:nvPr/>
        </p:nvSpPr>
        <p:spPr>
          <a:xfrm>
            <a:off x="2679192" y="2807208"/>
            <a:ext cx="1261872" cy="393192"/>
          </a:xfrm>
          <a:prstGeom prst="rect">
            <a:avLst/>
          </a:prstGeom>
          <a:noFill/>
          <a:ln/>
        </p:spPr>
        <p:txBody>
          <a:bodyPr wrap="square" lIns="0" tIns="0" rIns="0" bIns="0" rtlCol="0" anchor="t">
            <a:normAutofit/>
          </a:bodyPr>
          <a:lstStyle/>
          <a:p>
            <a:pPr marL="0" indent="0">
              <a:buNone/>
            </a:pPr>
            <a:r>
              <a:rPr lang="en-US" sz="1000" dirty="0">
                <a:solidFill>
                  <a:srgbClr val="A8B1AB"/>
                </a:solidFill>
                <a:latin typeface="Aptos" pitchFamily="34" charset="0"/>
                <a:ea typeface="Aptos" pitchFamily="34" charset="-122"/>
                <a:cs typeface="Aptos" pitchFamily="34" charset="-120"/>
              </a:rPr>
              <a:t>Details, price, stock</a:t>
            </a:r>
            <a:endParaRPr lang="en-US" sz="1000" dirty="0"/>
          </a:p>
        </p:txBody>
      </p:sp>
      <p:sp>
        <p:nvSpPr>
          <p:cNvPr id="14" name="Shape 12"/>
          <p:cNvSpPr/>
          <p:nvPr/>
        </p:nvSpPr>
        <p:spPr>
          <a:xfrm>
            <a:off x="4096512" y="2670048"/>
            <a:ext cx="246888" cy="0"/>
          </a:xfrm>
          <a:prstGeom prst="line">
            <a:avLst/>
          </a:prstGeom>
          <a:noFill/>
          <a:ln w="19050">
            <a:solidFill>
              <a:srgbClr val="C5F26D"/>
            </a:solidFill>
            <a:prstDash val="solid"/>
            <a:headEnd type="none"/>
            <a:tailEnd type="none"/>
          </a:ln>
        </p:spPr>
      </p:sp>
      <p:sp>
        <p:nvSpPr>
          <p:cNvPr id="15" name="Shape 13"/>
          <p:cNvSpPr/>
          <p:nvPr/>
        </p:nvSpPr>
        <p:spPr>
          <a:xfrm>
            <a:off x="4407408" y="1947672"/>
            <a:ext cx="1536192" cy="1444752"/>
          </a:xfrm>
          <a:prstGeom prst="roundRect">
            <a:avLst>
              <a:gd name="adj" fmla="val 7595"/>
            </a:avLst>
          </a:prstGeom>
          <a:solidFill>
            <a:srgbClr val="141A17"/>
          </a:solidFill>
          <a:ln w="12700">
            <a:solidFill>
              <a:srgbClr val="141A17">
                <a:alpha val="0"/>
              </a:srgbClr>
            </a:solidFill>
            <a:prstDash val="solid"/>
          </a:ln>
        </p:spPr>
      </p:sp>
      <p:sp>
        <p:nvSpPr>
          <p:cNvPr id="16" name="Text 14"/>
          <p:cNvSpPr/>
          <p:nvPr/>
        </p:nvSpPr>
        <p:spPr>
          <a:xfrm>
            <a:off x="4553712" y="2084832"/>
            <a:ext cx="502920" cy="219456"/>
          </a:xfrm>
          <a:prstGeom prst="rect">
            <a:avLst/>
          </a:prstGeom>
          <a:noFill/>
          <a:ln/>
        </p:spPr>
        <p:txBody>
          <a:bodyPr wrap="square" lIns="0" tIns="0" rIns="0" bIns="0" rtlCol="0" anchor="ctr">
            <a:normAutofit/>
          </a:bodyPr>
          <a:lstStyle/>
          <a:p>
            <a:pPr marL="0" indent="0">
              <a:buNone/>
            </a:pPr>
            <a:r>
              <a:rPr lang="en-US" sz="1100" b="1" kern="0" spc="120" dirty="0">
                <a:solidFill>
                  <a:srgbClr val="F3A65A"/>
                </a:solidFill>
                <a:latin typeface="Aptos" pitchFamily="34" charset="0"/>
                <a:ea typeface="Aptos" pitchFamily="34" charset="-122"/>
                <a:cs typeface="Aptos" pitchFamily="34" charset="-120"/>
              </a:rPr>
              <a:t>03</a:t>
            </a:r>
            <a:endParaRPr lang="en-US" sz="1100" dirty="0"/>
          </a:p>
        </p:txBody>
      </p:sp>
      <p:sp>
        <p:nvSpPr>
          <p:cNvPr id="17" name="Text 15"/>
          <p:cNvSpPr/>
          <p:nvPr/>
        </p:nvSpPr>
        <p:spPr>
          <a:xfrm>
            <a:off x="4553712" y="2459736"/>
            <a:ext cx="1261872" cy="274320"/>
          </a:xfrm>
          <a:prstGeom prst="rect">
            <a:avLst/>
          </a:prstGeom>
          <a:noFill/>
          <a:ln/>
        </p:spPr>
        <p:txBody>
          <a:bodyPr wrap="square" lIns="0" tIns="0" rIns="0" bIns="0" rtlCol="0" anchor="ctr">
            <a:normAutofit/>
          </a:bodyPr>
          <a:lstStyle/>
          <a:p>
            <a:pPr marL="0" indent="0">
              <a:buNone/>
            </a:pPr>
            <a:r>
              <a:rPr lang="en-US" sz="1330" b="1" dirty="0">
                <a:solidFill>
                  <a:srgbClr val="F3F5F1"/>
                </a:solidFill>
                <a:latin typeface="Aptos" pitchFamily="34" charset="0"/>
                <a:ea typeface="Aptos" pitchFamily="34" charset="-122"/>
                <a:cs typeface="Aptos" pitchFamily="34" charset="-120"/>
              </a:rPr>
              <a:t>Cart</a:t>
            </a:r>
            <a:endParaRPr lang="en-US" sz="1330" dirty="0"/>
          </a:p>
        </p:txBody>
      </p:sp>
      <p:sp>
        <p:nvSpPr>
          <p:cNvPr id="18" name="Text 16"/>
          <p:cNvSpPr/>
          <p:nvPr/>
        </p:nvSpPr>
        <p:spPr>
          <a:xfrm>
            <a:off x="4553712" y="2807208"/>
            <a:ext cx="1261872" cy="393192"/>
          </a:xfrm>
          <a:prstGeom prst="rect">
            <a:avLst/>
          </a:prstGeom>
          <a:noFill/>
          <a:ln/>
        </p:spPr>
        <p:txBody>
          <a:bodyPr wrap="square" lIns="0" tIns="0" rIns="0" bIns="0" rtlCol="0" anchor="t">
            <a:normAutofit/>
          </a:bodyPr>
          <a:lstStyle/>
          <a:p>
            <a:pPr marL="0" indent="0">
              <a:buNone/>
            </a:pPr>
            <a:r>
              <a:rPr lang="en-US" sz="1000" dirty="0">
                <a:solidFill>
                  <a:srgbClr val="A8B1AB"/>
                </a:solidFill>
                <a:latin typeface="Aptos" pitchFamily="34" charset="0"/>
                <a:ea typeface="Aptos" pitchFamily="34" charset="-122"/>
                <a:cs typeface="Aptos" pitchFamily="34" charset="-120"/>
              </a:rPr>
              <a:t>Change quantity or remove</a:t>
            </a:r>
            <a:endParaRPr lang="en-US" sz="1000" dirty="0"/>
          </a:p>
        </p:txBody>
      </p:sp>
      <p:sp>
        <p:nvSpPr>
          <p:cNvPr id="19" name="Shape 17"/>
          <p:cNvSpPr/>
          <p:nvPr/>
        </p:nvSpPr>
        <p:spPr>
          <a:xfrm>
            <a:off x="5971032" y="2670048"/>
            <a:ext cx="246888" cy="0"/>
          </a:xfrm>
          <a:prstGeom prst="line">
            <a:avLst/>
          </a:prstGeom>
          <a:noFill/>
          <a:ln w="19050">
            <a:solidFill>
              <a:srgbClr val="C5F26D"/>
            </a:solidFill>
            <a:prstDash val="solid"/>
            <a:headEnd type="none"/>
            <a:tailEnd type="none"/>
          </a:ln>
        </p:spPr>
      </p:sp>
      <p:sp>
        <p:nvSpPr>
          <p:cNvPr id="20" name="Shape 18"/>
          <p:cNvSpPr/>
          <p:nvPr/>
        </p:nvSpPr>
        <p:spPr>
          <a:xfrm>
            <a:off x="6281928" y="1947672"/>
            <a:ext cx="1536192" cy="1444752"/>
          </a:xfrm>
          <a:prstGeom prst="roundRect">
            <a:avLst>
              <a:gd name="adj" fmla="val 7595"/>
            </a:avLst>
          </a:prstGeom>
          <a:solidFill>
            <a:srgbClr val="141A17"/>
          </a:solidFill>
          <a:ln w="12700">
            <a:solidFill>
              <a:srgbClr val="141A17">
                <a:alpha val="0"/>
              </a:srgbClr>
            </a:solidFill>
            <a:prstDash val="solid"/>
          </a:ln>
        </p:spPr>
      </p:sp>
      <p:sp>
        <p:nvSpPr>
          <p:cNvPr id="21" name="Text 19"/>
          <p:cNvSpPr/>
          <p:nvPr/>
        </p:nvSpPr>
        <p:spPr>
          <a:xfrm>
            <a:off x="6428232" y="2084832"/>
            <a:ext cx="502920" cy="219456"/>
          </a:xfrm>
          <a:prstGeom prst="rect">
            <a:avLst/>
          </a:prstGeom>
          <a:noFill/>
          <a:ln/>
        </p:spPr>
        <p:txBody>
          <a:bodyPr wrap="square" lIns="0" tIns="0" rIns="0" bIns="0" rtlCol="0" anchor="ctr">
            <a:normAutofit/>
          </a:bodyPr>
          <a:lstStyle/>
          <a:p>
            <a:pPr marL="0" indent="0">
              <a:buNone/>
            </a:pPr>
            <a:r>
              <a:rPr lang="en-US" sz="1100" b="1" kern="0" spc="120" dirty="0">
                <a:solidFill>
                  <a:srgbClr val="C5F26D"/>
                </a:solidFill>
                <a:latin typeface="Aptos" pitchFamily="34" charset="0"/>
                <a:ea typeface="Aptos" pitchFamily="34" charset="-122"/>
                <a:cs typeface="Aptos" pitchFamily="34" charset="-120"/>
              </a:rPr>
              <a:t>04</a:t>
            </a:r>
            <a:endParaRPr lang="en-US" sz="1100" dirty="0"/>
          </a:p>
        </p:txBody>
      </p:sp>
      <p:sp>
        <p:nvSpPr>
          <p:cNvPr id="22" name="Text 20"/>
          <p:cNvSpPr/>
          <p:nvPr/>
        </p:nvSpPr>
        <p:spPr>
          <a:xfrm>
            <a:off x="6428232" y="2459736"/>
            <a:ext cx="1261872" cy="274320"/>
          </a:xfrm>
          <a:prstGeom prst="rect">
            <a:avLst/>
          </a:prstGeom>
          <a:noFill/>
          <a:ln/>
        </p:spPr>
        <p:txBody>
          <a:bodyPr wrap="square" lIns="0" tIns="0" rIns="0" bIns="0" rtlCol="0" anchor="ctr">
            <a:normAutofit/>
          </a:bodyPr>
          <a:lstStyle/>
          <a:p>
            <a:pPr marL="0" indent="0">
              <a:buNone/>
            </a:pPr>
            <a:r>
              <a:rPr lang="en-US" sz="1330" b="1" dirty="0">
                <a:solidFill>
                  <a:srgbClr val="F3F5F1"/>
                </a:solidFill>
                <a:latin typeface="Aptos" pitchFamily="34" charset="0"/>
                <a:ea typeface="Aptos" pitchFamily="34" charset="-122"/>
                <a:cs typeface="Aptos" pitchFamily="34" charset="-120"/>
              </a:rPr>
              <a:t>Checkout</a:t>
            </a:r>
            <a:endParaRPr lang="en-US" sz="1330" dirty="0"/>
          </a:p>
        </p:txBody>
      </p:sp>
      <p:sp>
        <p:nvSpPr>
          <p:cNvPr id="23" name="Text 21"/>
          <p:cNvSpPr/>
          <p:nvPr/>
        </p:nvSpPr>
        <p:spPr>
          <a:xfrm>
            <a:off x="6428232" y="2807208"/>
            <a:ext cx="1261872" cy="393192"/>
          </a:xfrm>
          <a:prstGeom prst="rect">
            <a:avLst/>
          </a:prstGeom>
          <a:noFill/>
          <a:ln/>
        </p:spPr>
        <p:txBody>
          <a:bodyPr wrap="square" lIns="0" tIns="0" rIns="0" bIns="0" rtlCol="0" anchor="t">
            <a:normAutofit/>
          </a:bodyPr>
          <a:lstStyle/>
          <a:p>
            <a:pPr marL="0" indent="0">
              <a:buNone/>
            </a:pPr>
            <a:r>
              <a:rPr lang="en-US" sz="1000" dirty="0">
                <a:solidFill>
                  <a:srgbClr val="A8B1AB"/>
                </a:solidFill>
                <a:latin typeface="Aptos" pitchFamily="34" charset="0"/>
                <a:ea typeface="Aptos" pitchFamily="34" charset="-122"/>
                <a:cs typeface="Aptos" pitchFamily="34" charset="-120"/>
              </a:rPr>
              <a:t>Address and delivery</a:t>
            </a:r>
            <a:endParaRPr lang="en-US" sz="1000" dirty="0"/>
          </a:p>
        </p:txBody>
      </p:sp>
      <p:sp>
        <p:nvSpPr>
          <p:cNvPr id="24" name="Shape 22"/>
          <p:cNvSpPr/>
          <p:nvPr/>
        </p:nvSpPr>
        <p:spPr>
          <a:xfrm>
            <a:off x="7845552" y="2670048"/>
            <a:ext cx="246888" cy="0"/>
          </a:xfrm>
          <a:prstGeom prst="line">
            <a:avLst/>
          </a:prstGeom>
          <a:noFill/>
          <a:ln w="19050">
            <a:solidFill>
              <a:srgbClr val="C5F26D"/>
            </a:solidFill>
            <a:prstDash val="solid"/>
            <a:headEnd type="none"/>
            <a:tailEnd type="none"/>
          </a:ln>
        </p:spPr>
      </p:sp>
      <p:sp>
        <p:nvSpPr>
          <p:cNvPr id="25" name="Shape 23"/>
          <p:cNvSpPr/>
          <p:nvPr/>
        </p:nvSpPr>
        <p:spPr>
          <a:xfrm>
            <a:off x="8156448" y="1947672"/>
            <a:ext cx="1536192" cy="1444752"/>
          </a:xfrm>
          <a:prstGeom prst="roundRect">
            <a:avLst>
              <a:gd name="adj" fmla="val 7595"/>
            </a:avLst>
          </a:prstGeom>
          <a:solidFill>
            <a:srgbClr val="141A17"/>
          </a:solidFill>
          <a:ln w="12700">
            <a:solidFill>
              <a:srgbClr val="141A17">
                <a:alpha val="0"/>
              </a:srgbClr>
            </a:solidFill>
            <a:prstDash val="solid"/>
          </a:ln>
        </p:spPr>
      </p:sp>
      <p:sp>
        <p:nvSpPr>
          <p:cNvPr id="26" name="Text 24"/>
          <p:cNvSpPr/>
          <p:nvPr/>
        </p:nvSpPr>
        <p:spPr>
          <a:xfrm>
            <a:off x="8302752" y="2084832"/>
            <a:ext cx="502920" cy="219456"/>
          </a:xfrm>
          <a:prstGeom prst="rect">
            <a:avLst/>
          </a:prstGeom>
          <a:noFill/>
          <a:ln/>
        </p:spPr>
        <p:txBody>
          <a:bodyPr wrap="square" lIns="0" tIns="0" rIns="0" bIns="0" rtlCol="0" anchor="ctr">
            <a:normAutofit/>
          </a:bodyPr>
          <a:lstStyle/>
          <a:p>
            <a:pPr marL="0" indent="0">
              <a:buNone/>
            </a:pPr>
            <a:r>
              <a:rPr lang="en-US" sz="1100" b="1" kern="0" spc="120" dirty="0">
                <a:solidFill>
                  <a:srgbClr val="8AC6E8"/>
                </a:solidFill>
                <a:latin typeface="Aptos" pitchFamily="34" charset="0"/>
                <a:ea typeface="Aptos" pitchFamily="34" charset="-122"/>
                <a:cs typeface="Aptos" pitchFamily="34" charset="-120"/>
              </a:rPr>
              <a:t>05</a:t>
            </a:r>
            <a:endParaRPr lang="en-US" sz="1100" dirty="0"/>
          </a:p>
        </p:txBody>
      </p:sp>
      <p:sp>
        <p:nvSpPr>
          <p:cNvPr id="27" name="Text 25"/>
          <p:cNvSpPr/>
          <p:nvPr/>
        </p:nvSpPr>
        <p:spPr>
          <a:xfrm>
            <a:off x="8302752" y="2459736"/>
            <a:ext cx="1261872" cy="274320"/>
          </a:xfrm>
          <a:prstGeom prst="rect">
            <a:avLst/>
          </a:prstGeom>
          <a:noFill/>
          <a:ln/>
        </p:spPr>
        <p:txBody>
          <a:bodyPr wrap="square" lIns="0" tIns="0" rIns="0" bIns="0" rtlCol="0" anchor="ctr">
            <a:normAutofit/>
          </a:bodyPr>
          <a:lstStyle/>
          <a:p>
            <a:pPr marL="0" indent="0">
              <a:buNone/>
            </a:pPr>
            <a:r>
              <a:rPr lang="en-US" sz="1330" b="1" dirty="0">
                <a:solidFill>
                  <a:srgbClr val="F3F5F1"/>
                </a:solidFill>
                <a:latin typeface="Aptos" pitchFamily="34" charset="0"/>
                <a:ea typeface="Aptos" pitchFamily="34" charset="-122"/>
                <a:cs typeface="Aptos" pitchFamily="34" charset="-120"/>
              </a:rPr>
              <a:t>Test payment</a:t>
            </a:r>
            <a:endParaRPr lang="en-US" sz="1330" dirty="0"/>
          </a:p>
        </p:txBody>
      </p:sp>
      <p:sp>
        <p:nvSpPr>
          <p:cNvPr id="28" name="Text 26"/>
          <p:cNvSpPr/>
          <p:nvPr/>
        </p:nvSpPr>
        <p:spPr>
          <a:xfrm>
            <a:off x="8302752" y="2807208"/>
            <a:ext cx="1261872" cy="393192"/>
          </a:xfrm>
          <a:prstGeom prst="rect">
            <a:avLst/>
          </a:prstGeom>
          <a:noFill/>
          <a:ln/>
        </p:spPr>
        <p:txBody>
          <a:bodyPr wrap="square" lIns="0" tIns="0" rIns="0" bIns="0" rtlCol="0" anchor="t">
            <a:normAutofit/>
          </a:bodyPr>
          <a:lstStyle/>
          <a:p>
            <a:pPr marL="0" indent="0">
              <a:buNone/>
            </a:pPr>
            <a:r>
              <a:rPr lang="en-US" sz="1000" dirty="0">
                <a:solidFill>
                  <a:srgbClr val="A8B1AB"/>
                </a:solidFill>
                <a:latin typeface="Aptos" pitchFamily="34" charset="0"/>
                <a:ea typeface="Aptos" pitchFamily="34" charset="-122"/>
                <a:cs typeface="Aptos" pitchFamily="34" charset="-120"/>
              </a:rPr>
              <a:t>Stripe sandbox</a:t>
            </a:r>
            <a:endParaRPr lang="en-US" sz="1000" dirty="0"/>
          </a:p>
        </p:txBody>
      </p:sp>
      <p:sp>
        <p:nvSpPr>
          <p:cNvPr id="29" name="Shape 27"/>
          <p:cNvSpPr/>
          <p:nvPr/>
        </p:nvSpPr>
        <p:spPr>
          <a:xfrm>
            <a:off x="9720072" y="2670048"/>
            <a:ext cx="246888" cy="0"/>
          </a:xfrm>
          <a:prstGeom prst="line">
            <a:avLst/>
          </a:prstGeom>
          <a:noFill/>
          <a:ln w="19050">
            <a:solidFill>
              <a:srgbClr val="C5F26D"/>
            </a:solidFill>
            <a:prstDash val="solid"/>
            <a:headEnd type="none"/>
            <a:tailEnd type="none"/>
          </a:ln>
        </p:spPr>
      </p:sp>
      <p:sp>
        <p:nvSpPr>
          <p:cNvPr id="30" name="Shape 28"/>
          <p:cNvSpPr/>
          <p:nvPr/>
        </p:nvSpPr>
        <p:spPr>
          <a:xfrm>
            <a:off x="10030968" y="1947672"/>
            <a:ext cx="1536192" cy="1444752"/>
          </a:xfrm>
          <a:prstGeom prst="roundRect">
            <a:avLst>
              <a:gd name="adj" fmla="val 7595"/>
            </a:avLst>
          </a:prstGeom>
          <a:solidFill>
            <a:srgbClr val="141A17"/>
          </a:solidFill>
          <a:ln w="12700">
            <a:solidFill>
              <a:srgbClr val="141A17">
                <a:alpha val="0"/>
              </a:srgbClr>
            </a:solidFill>
            <a:prstDash val="solid"/>
          </a:ln>
        </p:spPr>
      </p:sp>
      <p:sp>
        <p:nvSpPr>
          <p:cNvPr id="31" name="Text 29"/>
          <p:cNvSpPr/>
          <p:nvPr/>
        </p:nvSpPr>
        <p:spPr>
          <a:xfrm>
            <a:off x="10177272" y="2084832"/>
            <a:ext cx="502920" cy="219456"/>
          </a:xfrm>
          <a:prstGeom prst="rect">
            <a:avLst/>
          </a:prstGeom>
          <a:noFill/>
          <a:ln/>
        </p:spPr>
        <p:txBody>
          <a:bodyPr wrap="square" lIns="0" tIns="0" rIns="0" bIns="0" rtlCol="0" anchor="ctr">
            <a:normAutofit/>
          </a:bodyPr>
          <a:lstStyle/>
          <a:p>
            <a:pPr marL="0" indent="0">
              <a:buNone/>
            </a:pPr>
            <a:r>
              <a:rPr lang="en-US" sz="1100" b="1" kern="0" spc="120" dirty="0">
                <a:solidFill>
                  <a:srgbClr val="F3A65A"/>
                </a:solidFill>
                <a:latin typeface="Aptos" pitchFamily="34" charset="0"/>
                <a:ea typeface="Aptos" pitchFamily="34" charset="-122"/>
                <a:cs typeface="Aptos" pitchFamily="34" charset="-120"/>
              </a:rPr>
              <a:t>06</a:t>
            </a:r>
            <a:endParaRPr lang="en-US" sz="1100" dirty="0"/>
          </a:p>
        </p:txBody>
      </p:sp>
      <p:sp>
        <p:nvSpPr>
          <p:cNvPr id="32" name="Text 30"/>
          <p:cNvSpPr/>
          <p:nvPr/>
        </p:nvSpPr>
        <p:spPr>
          <a:xfrm>
            <a:off x="10177272" y="2459736"/>
            <a:ext cx="1261872" cy="274320"/>
          </a:xfrm>
          <a:prstGeom prst="rect">
            <a:avLst/>
          </a:prstGeom>
          <a:noFill/>
          <a:ln/>
        </p:spPr>
        <p:txBody>
          <a:bodyPr wrap="square" lIns="0" tIns="0" rIns="0" bIns="0" rtlCol="0" anchor="ctr">
            <a:normAutofit/>
          </a:bodyPr>
          <a:lstStyle/>
          <a:p>
            <a:pPr marL="0" indent="0">
              <a:buNone/>
            </a:pPr>
            <a:r>
              <a:rPr lang="en-US" sz="1330" b="1" dirty="0">
                <a:solidFill>
                  <a:srgbClr val="F3F5F1"/>
                </a:solidFill>
                <a:latin typeface="Aptos" pitchFamily="34" charset="0"/>
                <a:ea typeface="Aptos" pitchFamily="34" charset="-122"/>
                <a:cs typeface="Aptos" pitchFamily="34" charset="-120"/>
              </a:rPr>
              <a:t>Confirmation</a:t>
            </a:r>
            <a:endParaRPr lang="en-US" sz="1330" dirty="0"/>
          </a:p>
        </p:txBody>
      </p:sp>
      <p:sp>
        <p:nvSpPr>
          <p:cNvPr id="33" name="Text 31"/>
          <p:cNvSpPr/>
          <p:nvPr/>
        </p:nvSpPr>
        <p:spPr>
          <a:xfrm>
            <a:off x="10177272" y="2807208"/>
            <a:ext cx="1261872" cy="393192"/>
          </a:xfrm>
          <a:prstGeom prst="rect">
            <a:avLst/>
          </a:prstGeom>
          <a:noFill/>
          <a:ln/>
        </p:spPr>
        <p:txBody>
          <a:bodyPr wrap="square" lIns="0" tIns="0" rIns="0" bIns="0" rtlCol="0" anchor="t">
            <a:normAutofit/>
          </a:bodyPr>
          <a:lstStyle/>
          <a:p>
            <a:pPr marL="0" indent="0">
              <a:buNone/>
            </a:pPr>
            <a:r>
              <a:rPr lang="en-US" sz="1000" dirty="0">
                <a:solidFill>
                  <a:srgbClr val="A8B1AB"/>
                </a:solidFill>
                <a:latin typeface="Aptos" pitchFamily="34" charset="0"/>
                <a:ea typeface="Aptos" pitchFamily="34" charset="-122"/>
                <a:cs typeface="Aptos" pitchFamily="34" charset="-120"/>
              </a:rPr>
              <a:t>Order number and status</a:t>
            </a:r>
            <a:endParaRPr lang="en-US" sz="1000" dirty="0"/>
          </a:p>
        </p:txBody>
      </p:sp>
      <p:sp>
        <p:nvSpPr>
          <p:cNvPr id="34" name="Shape 32"/>
          <p:cNvSpPr/>
          <p:nvPr/>
        </p:nvSpPr>
        <p:spPr>
          <a:xfrm>
            <a:off x="658368" y="3822192"/>
            <a:ext cx="3529584" cy="1234440"/>
          </a:xfrm>
          <a:prstGeom prst="roundRect">
            <a:avLst>
              <a:gd name="adj" fmla="val 9630"/>
            </a:avLst>
          </a:prstGeom>
          <a:solidFill>
            <a:srgbClr val="19211D"/>
          </a:solidFill>
          <a:ln w="12700">
            <a:solidFill>
              <a:srgbClr val="19211D">
                <a:alpha val="0"/>
              </a:srgbClr>
            </a:solidFill>
            <a:prstDash val="solid"/>
          </a:ln>
        </p:spPr>
      </p:sp>
      <p:sp>
        <p:nvSpPr>
          <p:cNvPr id="35" name="Text 33"/>
          <p:cNvSpPr/>
          <p:nvPr/>
        </p:nvSpPr>
        <p:spPr>
          <a:xfrm>
            <a:off x="859536" y="3995928"/>
            <a:ext cx="3127248" cy="164592"/>
          </a:xfrm>
          <a:prstGeom prst="rect">
            <a:avLst/>
          </a:prstGeom>
          <a:noFill/>
          <a:ln/>
        </p:spPr>
        <p:txBody>
          <a:bodyPr wrap="square" lIns="0" tIns="0" rIns="0" bIns="0" rtlCol="0" anchor="ctr">
            <a:normAutofit/>
          </a:bodyPr>
          <a:lstStyle/>
          <a:p>
            <a:pPr marL="0" indent="0">
              <a:buNone/>
            </a:pPr>
            <a:r>
              <a:rPr lang="en-US" sz="850" b="1" kern="0" spc="150" dirty="0">
                <a:solidFill>
                  <a:srgbClr val="C5F26D"/>
                </a:solidFill>
                <a:latin typeface="Aptos" pitchFamily="34" charset="0"/>
                <a:ea typeface="Aptos" pitchFamily="34" charset="-122"/>
                <a:cs typeface="Aptos" pitchFamily="34" charset="-120"/>
              </a:rPr>
              <a:t>CUSTOMER BASICS</a:t>
            </a:r>
            <a:endParaRPr lang="en-US" sz="850" dirty="0"/>
          </a:p>
        </p:txBody>
      </p:sp>
      <p:sp>
        <p:nvSpPr>
          <p:cNvPr id="36" name="Text 34"/>
          <p:cNvSpPr/>
          <p:nvPr/>
        </p:nvSpPr>
        <p:spPr>
          <a:xfrm>
            <a:off x="859536" y="4270248"/>
            <a:ext cx="3127248" cy="210312"/>
          </a:xfrm>
          <a:prstGeom prst="rect">
            <a:avLst/>
          </a:prstGeom>
          <a:noFill/>
          <a:ln/>
        </p:spPr>
        <p:txBody>
          <a:bodyPr wrap="square" lIns="0" tIns="0" rIns="0" bIns="0" rtlCol="0" anchor="ctr">
            <a:normAutofit/>
          </a:bodyPr>
          <a:lstStyle/>
          <a:p>
            <a:pPr marL="0" indent="0">
              <a:buNone/>
            </a:pPr>
            <a:r>
              <a:rPr lang="en-US" sz="1220" b="1" kern="0" spc="70" dirty="0">
                <a:solidFill>
                  <a:srgbClr val="F3F5F1"/>
                </a:solidFill>
                <a:latin typeface="Aptos" pitchFamily="34" charset="0"/>
                <a:ea typeface="Aptos" pitchFamily="34" charset="-122"/>
                <a:cs typeface="Aptos" pitchFamily="34" charset="-120"/>
              </a:rPr>
              <a:t>A1  A2  A3  A4  A5  A6  A7  A8</a:t>
            </a:r>
            <a:endParaRPr lang="en-US" sz="1220" dirty="0"/>
          </a:p>
        </p:txBody>
      </p:sp>
      <p:sp>
        <p:nvSpPr>
          <p:cNvPr id="37" name="Text 35"/>
          <p:cNvSpPr/>
          <p:nvPr/>
        </p:nvSpPr>
        <p:spPr>
          <a:xfrm>
            <a:off x="859536" y="4553712"/>
            <a:ext cx="3127248" cy="365760"/>
          </a:xfrm>
          <a:prstGeom prst="rect">
            <a:avLst/>
          </a:prstGeom>
          <a:noFill/>
          <a:ln/>
        </p:spPr>
        <p:txBody>
          <a:bodyPr wrap="square" lIns="0" tIns="0" rIns="0" bIns="0" rtlCol="0" anchor="t">
            <a:normAutofit/>
          </a:bodyPr>
          <a:lstStyle/>
          <a:p>
            <a:pPr marL="0" indent="0">
              <a:buNone/>
            </a:pPr>
            <a:r>
              <a:rPr lang="en-US" sz="980" dirty="0">
                <a:solidFill>
                  <a:srgbClr val="A8B1AB"/>
                </a:solidFill>
                <a:latin typeface="Aptos" pitchFamily="34" charset="0"/>
                <a:ea typeface="Aptos" pitchFamily="34" charset="-122"/>
                <a:cs typeface="Aptos" pitchFamily="34" charset="-120"/>
              </a:rPr>
              <a:t>Browse products, create an account, use the cart and review past orders.</a:t>
            </a:r>
            <a:endParaRPr lang="en-US" sz="980" dirty="0"/>
          </a:p>
        </p:txBody>
      </p:sp>
      <p:sp>
        <p:nvSpPr>
          <p:cNvPr id="38" name="Shape 36"/>
          <p:cNvSpPr/>
          <p:nvPr/>
        </p:nvSpPr>
        <p:spPr>
          <a:xfrm>
            <a:off x="4343400" y="3822192"/>
            <a:ext cx="3529584" cy="1234440"/>
          </a:xfrm>
          <a:prstGeom prst="roundRect">
            <a:avLst>
              <a:gd name="adj" fmla="val 9630"/>
            </a:avLst>
          </a:prstGeom>
          <a:solidFill>
            <a:srgbClr val="19211D"/>
          </a:solidFill>
          <a:ln w="12700">
            <a:solidFill>
              <a:srgbClr val="19211D">
                <a:alpha val="0"/>
              </a:srgbClr>
            </a:solidFill>
            <a:prstDash val="solid"/>
          </a:ln>
        </p:spPr>
      </p:sp>
      <p:sp>
        <p:nvSpPr>
          <p:cNvPr id="39" name="Text 37"/>
          <p:cNvSpPr/>
          <p:nvPr/>
        </p:nvSpPr>
        <p:spPr>
          <a:xfrm>
            <a:off x="4544568" y="3995928"/>
            <a:ext cx="3127248" cy="164592"/>
          </a:xfrm>
          <a:prstGeom prst="rect">
            <a:avLst/>
          </a:prstGeom>
          <a:noFill/>
          <a:ln/>
        </p:spPr>
        <p:txBody>
          <a:bodyPr wrap="square" lIns="0" tIns="0" rIns="0" bIns="0" rtlCol="0" anchor="ctr">
            <a:normAutofit/>
          </a:bodyPr>
          <a:lstStyle/>
          <a:p>
            <a:pPr marL="0" indent="0">
              <a:buNone/>
            </a:pPr>
            <a:r>
              <a:rPr lang="en-US" sz="850" b="1" kern="0" spc="150" dirty="0">
                <a:solidFill>
                  <a:srgbClr val="C5F26D"/>
                </a:solidFill>
                <a:latin typeface="Aptos" pitchFamily="34" charset="0"/>
                <a:ea typeface="Aptos" pitchFamily="34" charset="-122"/>
                <a:cs typeface="Aptos" pitchFamily="34" charset="-120"/>
              </a:rPr>
              <a:t>ADMIN &amp; SAFETY</a:t>
            </a:r>
            <a:endParaRPr lang="en-US" sz="850" dirty="0"/>
          </a:p>
        </p:txBody>
      </p:sp>
      <p:sp>
        <p:nvSpPr>
          <p:cNvPr id="40" name="Text 38"/>
          <p:cNvSpPr/>
          <p:nvPr/>
        </p:nvSpPr>
        <p:spPr>
          <a:xfrm>
            <a:off x="4544568" y="4270248"/>
            <a:ext cx="3127248" cy="210312"/>
          </a:xfrm>
          <a:prstGeom prst="rect">
            <a:avLst/>
          </a:prstGeom>
          <a:noFill/>
          <a:ln/>
        </p:spPr>
        <p:txBody>
          <a:bodyPr wrap="square" lIns="0" tIns="0" rIns="0" bIns="0" rtlCol="0" anchor="ctr">
            <a:normAutofit/>
          </a:bodyPr>
          <a:lstStyle/>
          <a:p>
            <a:pPr marL="0" indent="0">
              <a:buNone/>
            </a:pPr>
            <a:r>
              <a:rPr lang="en-US" sz="1220" b="1" kern="0" spc="70" dirty="0">
                <a:solidFill>
                  <a:srgbClr val="8AC6E8"/>
                </a:solidFill>
                <a:latin typeface="Aptos" pitchFamily="34" charset="0"/>
                <a:ea typeface="Aptos" pitchFamily="34" charset="-122"/>
                <a:cs typeface="Aptos" pitchFamily="34" charset="-120"/>
              </a:rPr>
              <a:t>A9  A10</a:t>
            </a:r>
            <a:endParaRPr lang="en-US" sz="1220" dirty="0"/>
          </a:p>
        </p:txBody>
      </p:sp>
      <p:sp>
        <p:nvSpPr>
          <p:cNvPr id="41" name="Text 39"/>
          <p:cNvSpPr/>
          <p:nvPr/>
        </p:nvSpPr>
        <p:spPr>
          <a:xfrm>
            <a:off x="4544568" y="4553712"/>
            <a:ext cx="3127248" cy="365760"/>
          </a:xfrm>
          <a:prstGeom prst="rect">
            <a:avLst/>
          </a:prstGeom>
          <a:noFill/>
          <a:ln/>
        </p:spPr>
        <p:txBody>
          <a:bodyPr wrap="square" lIns="0" tIns="0" rIns="0" bIns="0" rtlCol="0" anchor="t">
            <a:normAutofit/>
          </a:bodyPr>
          <a:lstStyle/>
          <a:p>
            <a:pPr marL="0" indent="0">
              <a:buNone/>
            </a:pPr>
            <a:r>
              <a:rPr lang="en-US" sz="980" dirty="0">
                <a:solidFill>
                  <a:srgbClr val="A8B1AB"/>
                </a:solidFill>
                <a:latin typeface="Aptos" pitchFamily="34" charset="0"/>
                <a:ea typeface="Aptos" pitchFamily="34" charset="-122"/>
                <a:cs typeface="Aptos" pitchFamily="34" charset="-120"/>
              </a:rPr>
              <a:t>Manage products and orders; protect accounts and admin-only actions.</a:t>
            </a:r>
            <a:endParaRPr lang="en-US" sz="980" dirty="0"/>
          </a:p>
        </p:txBody>
      </p:sp>
      <p:sp>
        <p:nvSpPr>
          <p:cNvPr id="42" name="Shape 40"/>
          <p:cNvSpPr/>
          <p:nvPr/>
        </p:nvSpPr>
        <p:spPr>
          <a:xfrm>
            <a:off x="8028432" y="3822192"/>
            <a:ext cx="3529584" cy="1234440"/>
          </a:xfrm>
          <a:prstGeom prst="roundRect">
            <a:avLst>
              <a:gd name="adj" fmla="val 9630"/>
            </a:avLst>
          </a:prstGeom>
          <a:solidFill>
            <a:srgbClr val="19211D"/>
          </a:solidFill>
          <a:ln w="12700">
            <a:solidFill>
              <a:srgbClr val="19211D">
                <a:alpha val="0"/>
              </a:srgbClr>
            </a:solidFill>
            <a:prstDash val="solid"/>
          </a:ln>
        </p:spPr>
      </p:sp>
      <p:sp>
        <p:nvSpPr>
          <p:cNvPr id="43" name="Text 41"/>
          <p:cNvSpPr/>
          <p:nvPr/>
        </p:nvSpPr>
        <p:spPr>
          <a:xfrm>
            <a:off x="8229600" y="3995928"/>
            <a:ext cx="3127248" cy="164592"/>
          </a:xfrm>
          <a:prstGeom prst="rect">
            <a:avLst/>
          </a:prstGeom>
          <a:noFill/>
          <a:ln/>
        </p:spPr>
        <p:txBody>
          <a:bodyPr wrap="square" lIns="0" tIns="0" rIns="0" bIns="0" rtlCol="0" anchor="ctr">
            <a:normAutofit/>
          </a:bodyPr>
          <a:lstStyle/>
          <a:p>
            <a:pPr marL="0" indent="0">
              <a:buNone/>
            </a:pPr>
            <a:r>
              <a:rPr lang="en-US" sz="850" b="1" kern="0" spc="150" dirty="0">
                <a:solidFill>
                  <a:srgbClr val="C5F26D"/>
                </a:solidFill>
                <a:latin typeface="Aptos" pitchFamily="34" charset="0"/>
                <a:ea typeface="Aptos" pitchFamily="34" charset="-122"/>
                <a:cs typeface="Aptos" pitchFamily="34" charset="-120"/>
              </a:rPr>
              <a:t>QUALITY CHECKS</a:t>
            </a:r>
            <a:endParaRPr lang="en-US" sz="850" dirty="0"/>
          </a:p>
        </p:txBody>
      </p:sp>
      <p:sp>
        <p:nvSpPr>
          <p:cNvPr id="44" name="Text 42"/>
          <p:cNvSpPr/>
          <p:nvPr/>
        </p:nvSpPr>
        <p:spPr>
          <a:xfrm>
            <a:off x="8229600" y="4270248"/>
            <a:ext cx="3127248" cy="210312"/>
          </a:xfrm>
          <a:prstGeom prst="rect">
            <a:avLst/>
          </a:prstGeom>
          <a:noFill/>
          <a:ln/>
        </p:spPr>
        <p:txBody>
          <a:bodyPr wrap="square" lIns="0" tIns="0" rIns="0" bIns="0" rtlCol="0" anchor="ctr">
            <a:normAutofit/>
          </a:bodyPr>
          <a:lstStyle/>
          <a:p>
            <a:pPr marL="0" indent="0">
              <a:buNone/>
            </a:pPr>
            <a:r>
              <a:rPr lang="en-US" sz="1220" b="1" kern="0" spc="70" dirty="0">
                <a:solidFill>
                  <a:srgbClr val="F3F5F1"/>
                </a:solidFill>
                <a:latin typeface="Aptos" pitchFamily="34" charset="0"/>
                <a:ea typeface="Aptos" pitchFamily="34" charset="-122"/>
                <a:cs typeface="Aptos" pitchFamily="34" charset="-120"/>
              </a:rPr>
              <a:t>A11  A12</a:t>
            </a:r>
            <a:endParaRPr lang="en-US" sz="1220" dirty="0"/>
          </a:p>
        </p:txBody>
      </p:sp>
      <p:sp>
        <p:nvSpPr>
          <p:cNvPr id="45" name="Text 43"/>
          <p:cNvSpPr/>
          <p:nvPr/>
        </p:nvSpPr>
        <p:spPr>
          <a:xfrm>
            <a:off x="8229600" y="4553712"/>
            <a:ext cx="3127248" cy="365760"/>
          </a:xfrm>
          <a:prstGeom prst="rect">
            <a:avLst/>
          </a:prstGeom>
          <a:noFill/>
          <a:ln/>
        </p:spPr>
        <p:txBody>
          <a:bodyPr wrap="square" lIns="0" tIns="0" rIns="0" bIns="0" rtlCol="0" anchor="t">
            <a:normAutofit/>
          </a:bodyPr>
          <a:lstStyle/>
          <a:p>
            <a:pPr marL="0" indent="0">
              <a:buNone/>
            </a:pPr>
            <a:r>
              <a:rPr lang="en-US" sz="980" dirty="0">
                <a:solidFill>
                  <a:srgbClr val="A8B1AB"/>
                </a:solidFill>
                <a:latin typeface="Aptos" pitchFamily="34" charset="0"/>
                <a:ea typeface="Aptos" pitchFamily="34" charset="-122"/>
                <a:cs typeface="Aptos" pitchFamily="34" charset="-120"/>
              </a:rPr>
              <a:t>Support mobile screens and test the cart, totals and payment rules.</a:t>
            </a:r>
            <a:endParaRPr lang="en-US" sz="980" dirty="0"/>
          </a:p>
        </p:txBody>
      </p:sp>
      <p:sp>
        <p:nvSpPr>
          <p:cNvPr id="46" name="Shape 44"/>
          <p:cNvSpPr/>
          <p:nvPr/>
        </p:nvSpPr>
        <p:spPr>
          <a:xfrm>
            <a:off x="658368" y="5230368"/>
            <a:ext cx="10881360" cy="539496"/>
          </a:xfrm>
          <a:prstGeom prst="roundRect">
            <a:avLst>
              <a:gd name="adj" fmla="val 16949"/>
            </a:avLst>
          </a:prstGeom>
          <a:solidFill>
            <a:srgbClr val="20251F"/>
          </a:solidFill>
          <a:ln w="12700">
            <a:solidFill>
              <a:srgbClr val="20251F">
                <a:alpha val="0"/>
              </a:srgbClr>
            </a:solidFill>
            <a:prstDash val="solid"/>
          </a:ln>
        </p:spPr>
        <p:txBody>
          <a:bodyPr/>
          <a:lstStyle/>
          <a:p>
            <a:endParaRPr lang="en-US" dirty="0"/>
          </a:p>
        </p:txBody>
      </p:sp>
      <p:sp>
        <p:nvSpPr>
          <p:cNvPr id="47" name="Text 45"/>
          <p:cNvSpPr/>
          <p:nvPr/>
        </p:nvSpPr>
        <p:spPr>
          <a:xfrm>
            <a:off x="859536" y="5330952"/>
            <a:ext cx="1645920" cy="164592"/>
          </a:xfrm>
          <a:prstGeom prst="rect">
            <a:avLst/>
          </a:prstGeom>
          <a:noFill/>
          <a:ln/>
        </p:spPr>
        <p:txBody>
          <a:bodyPr wrap="square" lIns="0" tIns="0" rIns="0" bIns="0" rtlCol="0" anchor="ctr">
            <a:normAutofit/>
          </a:bodyPr>
          <a:lstStyle/>
          <a:p>
            <a:pPr marL="0" indent="0">
              <a:buNone/>
            </a:pPr>
            <a:r>
              <a:rPr lang="en-US" sz="850" b="1" kern="0" spc="150" dirty="0">
                <a:solidFill>
                  <a:srgbClr val="F3A65A"/>
                </a:solidFill>
                <a:latin typeface="Aptos" pitchFamily="34" charset="0"/>
                <a:ea typeface="Aptos" pitchFamily="34" charset="-122"/>
                <a:cs typeface="Aptos" pitchFamily="34" charset="-120"/>
              </a:rPr>
              <a:t>PROPOSED OPTIONALS</a:t>
            </a:r>
            <a:endParaRPr lang="en-US" sz="850" dirty="0"/>
          </a:p>
        </p:txBody>
      </p:sp>
      <p:sp>
        <p:nvSpPr>
          <p:cNvPr id="48" name="Text 46"/>
          <p:cNvSpPr/>
          <p:nvPr/>
        </p:nvSpPr>
        <p:spPr>
          <a:xfrm>
            <a:off x="2505456" y="5340096"/>
            <a:ext cx="8650224" cy="292608"/>
          </a:xfrm>
          <a:prstGeom prst="rect">
            <a:avLst/>
          </a:prstGeom>
          <a:noFill/>
          <a:ln/>
        </p:spPr>
        <p:txBody>
          <a:bodyPr wrap="square" lIns="0" tIns="0" rIns="0" bIns="0" rtlCol="0" anchor="ctr">
            <a:normAutofit fontScale="92500"/>
          </a:bodyPr>
          <a:lstStyle/>
          <a:p>
            <a:pPr marL="0" indent="0">
              <a:buNone/>
            </a:pPr>
            <a:r>
              <a:rPr lang="en-US" sz="1200" b="1" dirty="0">
                <a:solidFill>
                  <a:srgbClr val="F3F5F1"/>
                </a:solidFill>
                <a:latin typeface="Aptos" pitchFamily="34" charset="0"/>
                <a:ea typeface="Aptos" pitchFamily="34" charset="-122"/>
                <a:cs typeface="Aptos" pitchFamily="34" charset="-120"/>
              </a:rPr>
              <a:t>B1 Filtered search  ·  B5 Discount codes  ·  B7 Wishlist  · Reviews and Ratings  · Recommendations  · Sales Dashboards  · Transactional email</a:t>
            </a:r>
            <a:endParaRPr lang="en-US" sz="1200" dirty="0"/>
          </a:p>
        </p:txBody>
      </p:sp>
      <p:sp>
        <p:nvSpPr>
          <p:cNvPr id="50" name="Text 48"/>
          <p:cNvSpPr/>
          <p:nvPr/>
        </p:nvSpPr>
        <p:spPr>
          <a:xfrm>
            <a:off x="676656" y="5925312"/>
            <a:ext cx="10789920" cy="201168"/>
          </a:xfrm>
          <a:prstGeom prst="rect">
            <a:avLst/>
          </a:prstGeom>
          <a:noFill/>
          <a:ln/>
        </p:spPr>
        <p:txBody>
          <a:bodyPr wrap="square" lIns="0" tIns="0" rIns="0" bIns="0" rtlCol="0" anchor="ctr">
            <a:normAutofit/>
          </a:bodyPr>
          <a:lstStyle/>
          <a:p>
            <a:pPr marL="0" indent="0">
              <a:buNone/>
            </a:pPr>
            <a:r>
              <a:rPr lang="en-US" sz="1050" b="1" dirty="0">
                <a:solidFill>
                  <a:srgbClr val="C5F26D"/>
                </a:solidFill>
                <a:latin typeface="Aptos" pitchFamily="34" charset="0"/>
                <a:ea typeface="Aptos" pitchFamily="34" charset="-122"/>
                <a:cs typeface="Aptos" pitchFamily="34" charset="-120"/>
              </a:rPr>
              <a:t>All payments will be simulated in test mode. No real cards or real money.</a:t>
            </a:r>
            <a:endParaRPr lang="en-US" sz="1050" dirty="0"/>
          </a:p>
        </p:txBody>
      </p:sp>
      <p:sp>
        <p:nvSpPr>
          <p:cNvPr id="51"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04 / TECHNOLOGY CHOICES</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A familiar stack, with one clear job per tool</a:t>
            </a:r>
            <a:endParaRPr lang="en-US" sz="2700" dirty="0"/>
          </a:p>
        </p:txBody>
      </p:sp>
      <p:sp>
        <p:nvSpPr>
          <p:cNvPr id="4" name="Text 2"/>
          <p:cNvSpPr/>
          <p:nvPr/>
        </p:nvSpPr>
        <p:spPr>
          <a:xfrm>
            <a:off x="585216" y="1225296"/>
            <a:ext cx="10881360" cy="320040"/>
          </a:xfrm>
          <a:prstGeom prst="rect">
            <a:avLst/>
          </a:prstGeom>
          <a:noFill/>
          <a:ln/>
        </p:spPr>
        <p:txBody>
          <a:bodyPr wrap="square" lIns="0" tIns="0" rIns="0" bIns="0" rtlCol="0" anchor="ctr">
            <a:normAutofit/>
          </a:bodyPr>
          <a:lstStyle/>
          <a:p>
            <a:pPr marL="0" indent="0">
              <a:buNone/>
            </a:pPr>
            <a:r>
              <a:rPr lang="en-US" sz="1250" dirty="0">
                <a:solidFill>
                  <a:srgbClr val="A8B1AB"/>
                </a:solidFill>
                <a:latin typeface="Aptos" pitchFamily="34" charset="0"/>
                <a:ea typeface="Aptos" pitchFamily="34" charset="-122"/>
                <a:cs typeface="Aptos" pitchFamily="34" charset="-120"/>
              </a:rPr>
              <a:t>We chose technologies that work together and are suitable for a custom online store.</a:t>
            </a:r>
            <a:endParaRPr lang="en-US" sz="1250" dirty="0"/>
          </a:p>
        </p:txBody>
      </p:sp>
      <p:sp>
        <p:nvSpPr>
          <p:cNvPr id="5" name="Shape 3"/>
          <p:cNvSpPr/>
          <p:nvPr/>
        </p:nvSpPr>
        <p:spPr>
          <a:xfrm>
            <a:off x="640080" y="1856232"/>
            <a:ext cx="5394960" cy="1298448"/>
          </a:xfrm>
          <a:prstGeom prst="roundRect">
            <a:avLst>
              <a:gd name="adj" fmla="val 8451"/>
            </a:avLst>
          </a:prstGeom>
          <a:solidFill>
            <a:srgbClr val="141A17"/>
          </a:solidFill>
          <a:ln w="12700">
            <a:solidFill>
              <a:srgbClr val="141A17">
                <a:alpha val="0"/>
              </a:srgbClr>
            </a:solidFill>
            <a:prstDash val="solid"/>
          </a:ln>
        </p:spPr>
      </p:sp>
      <p:sp>
        <p:nvSpPr>
          <p:cNvPr id="6" name="Shape 4"/>
          <p:cNvSpPr/>
          <p:nvPr/>
        </p:nvSpPr>
        <p:spPr>
          <a:xfrm>
            <a:off x="640080" y="1856232"/>
            <a:ext cx="64008" cy="1298448"/>
          </a:xfrm>
          <a:prstGeom prst="roundRect">
            <a:avLst>
              <a:gd name="adj" fmla="val 28571"/>
            </a:avLst>
          </a:prstGeom>
          <a:solidFill>
            <a:srgbClr val="8AC6E8"/>
          </a:solidFill>
          <a:ln w="12700">
            <a:solidFill>
              <a:srgbClr val="8AC6E8">
                <a:alpha val="0"/>
              </a:srgbClr>
            </a:solidFill>
            <a:prstDash val="solid"/>
          </a:ln>
        </p:spPr>
      </p:sp>
      <p:sp>
        <p:nvSpPr>
          <p:cNvPr id="7" name="Text 5"/>
          <p:cNvSpPr/>
          <p:nvPr/>
        </p:nvSpPr>
        <p:spPr>
          <a:xfrm>
            <a:off x="868680" y="2039112"/>
            <a:ext cx="411480" cy="201168"/>
          </a:xfrm>
          <a:prstGeom prst="rect">
            <a:avLst/>
          </a:prstGeom>
          <a:noFill/>
          <a:ln/>
        </p:spPr>
        <p:txBody>
          <a:bodyPr wrap="square" lIns="0" tIns="0" rIns="0" bIns="0" rtlCol="0" anchor="ctr">
            <a:normAutofit/>
          </a:bodyPr>
          <a:lstStyle/>
          <a:p>
            <a:pPr marL="0" indent="0">
              <a:buNone/>
            </a:pPr>
            <a:r>
              <a:rPr lang="en-US" sz="1000" b="1" kern="0" spc="120" dirty="0">
                <a:solidFill>
                  <a:srgbClr val="8AC6E8"/>
                </a:solidFill>
                <a:latin typeface="Aptos" pitchFamily="34" charset="0"/>
                <a:ea typeface="Aptos" pitchFamily="34" charset="-122"/>
                <a:cs typeface="Aptos" pitchFamily="34" charset="-120"/>
              </a:rPr>
              <a:t>01</a:t>
            </a:r>
            <a:endParaRPr lang="en-US" sz="1000" dirty="0"/>
          </a:p>
        </p:txBody>
      </p:sp>
      <p:sp>
        <p:nvSpPr>
          <p:cNvPr id="8" name="Text 6"/>
          <p:cNvSpPr/>
          <p:nvPr/>
        </p:nvSpPr>
        <p:spPr>
          <a:xfrm>
            <a:off x="4892040" y="2039112"/>
            <a:ext cx="914400" cy="201168"/>
          </a:xfrm>
          <a:prstGeom prst="rect">
            <a:avLst/>
          </a:prstGeom>
          <a:noFill/>
          <a:ln/>
        </p:spPr>
        <p:txBody>
          <a:bodyPr wrap="square" lIns="0" tIns="0" rIns="0" bIns="0" rtlCol="0" anchor="ctr">
            <a:normAutofit/>
          </a:bodyPr>
          <a:lstStyle/>
          <a:p>
            <a:pPr marL="0" indent="0" algn="r">
              <a:buNone/>
            </a:pPr>
            <a:r>
              <a:rPr lang="en-US" sz="800" b="1" kern="0" spc="140" dirty="0">
                <a:solidFill>
                  <a:srgbClr val="758079"/>
                </a:solidFill>
                <a:latin typeface="Aptos" pitchFamily="34" charset="0"/>
                <a:ea typeface="Aptos" pitchFamily="34" charset="-122"/>
                <a:cs typeface="Aptos" pitchFamily="34" charset="-120"/>
              </a:rPr>
              <a:t>FRONTEND</a:t>
            </a:r>
            <a:endParaRPr lang="en-US" sz="800" dirty="0"/>
          </a:p>
        </p:txBody>
      </p:sp>
      <p:sp>
        <p:nvSpPr>
          <p:cNvPr id="9" name="Text 7"/>
          <p:cNvSpPr/>
          <p:nvPr/>
        </p:nvSpPr>
        <p:spPr>
          <a:xfrm>
            <a:off x="868680" y="2322576"/>
            <a:ext cx="4937760" cy="265176"/>
          </a:xfrm>
          <a:prstGeom prst="rect">
            <a:avLst/>
          </a:prstGeom>
          <a:noFill/>
          <a:ln/>
        </p:spPr>
        <p:txBody>
          <a:bodyPr wrap="square" lIns="0" tIns="0" rIns="0" bIns="0" rtlCol="0" anchor="ctr">
            <a:normAutofit/>
          </a:bodyPr>
          <a:lstStyle/>
          <a:p>
            <a:pPr marL="0" indent="0">
              <a:buNone/>
            </a:pPr>
            <a:r>
              <a:rPr lang="en-US" sz="1700" b="1" dirty="0">
                <a:solidFill>
                  <a:srgbClr val="F3F5F1"/>
                </a:solidFill>
                <a:latin typeface="Aptos" pitchFamily="34" charset="0"/>
                <a:ea typeface="Aptos" pitchFamily="34" charset="-122"/>
                <a:cs typeface="Aptos" pitchFamily="34" charset="-120"/>
              </a:rPr>
              <a:t>HTML + CSS + JavaScript</a:t>
            </a:r>
            <a:endParaRPr lang="en-US" sz="1700" dirty="0"/>
          </a:p>
        </p:txBody>
      </p:sp>
      <p:sp>
        <p:nvSpPr>
          <p:cNvPr id="10" name="Text 8"/>
          <p:cNvSpPr/>
          <p:nvPr/>
        </p:nvSpPr>
        <p:spPr>
          <a:xfrm>
            <a:off x="868680" y="2660904"/>
            <a:ext cx="4937760" cy="365760"/>
          </a:xfrm>
          <a:prstGeom prst="rect">
            <a:avLst/>
          </a:prstGeom>
          <a:noFill/>
          <a:ln/>
        </p:spPr>
        <p:txBody>
          <a:bodyPr wrap="square" lIns="0" tIns="0" rIns="0" bIns="0" rtlCol="0" anchor="t">
            <a:normAutofit/>
          </a:bodyPr>
          <a:lstStyle/>
          <a:p>
            <a:pPr marL="0" indent="0">
              <a:buNone/>
            </a:pPr>
            <a:r>
              <a:rPr lang="en-US" sz="1070" dirty="0">
                <a:solidFill>
                  <a:srgbClr val="A8B1AB"/>
                </a:solidFill>
                <a:latin typeface="Aptos" pitchFamily="34" charset="0"/>
                <a:ea typeface="Aptos" pitchFamily="34" charset="-122"/>
                <a:cs typeface="Aptos" pitchFamily="34" charset="-120"/>
              </a:rPr>
              <a:t>HTML structures the pages, CSS controls how they look, and JavaScript adds small interactive actions.</a:t>
            </a:r>
            <a:endParaRPr lang="en-US" sz="1070" dirty="0"/>
          </a:p>
        </p:txBody>
      </p:sp>
      <p:sp>
        <p:nvSpPr>
          <p:cNvPr id="11" name="Shape 9"/>
          <p:cNvSpPr/>
          <p:nvPr/>
        </p:nvSpPr>
        <p:spPr>
          <a:xfrm>
            <a:off x="6199632" y="1856232"/>
            <a:ext cx="5358384" cy="1298448"/>
          </a:xfrm>
          <a:prstGeom prst="roundRect">
            <a:avLst>
              <a:gd name="adj" fmla="val 8451"/>
            </a:avLst>
          </a:prstGeom>
          <a:solidFill>
            <a:srgbClr val="141A17"/>
          </a:solidFill>
          <a:ln w="12700">
            <a:solidFill>
              <a:srgbClr val="141A17">
                <a:alpha val="0"/>
              </a:srgbClr>
            </a:solidFill>
            <a:prstDash val="solid"/>
          </a:ln>
        </p:spPr>
      </p:sp>
      <p:sp>
        <p:nvSpPr>
          <p:cNvPr id="12" name="Shape 10"/>
          <p:cNvSpPr/>
          <p:nvPr/>
        </p:nvSpPr>
        <p:spPr>
          <a:xfrm>
            <a:off x="6199632" y="1856232"/>
            <a:ext cx="64008" cy="1298448"/>
          </a:xfrm>
          <a:prstGeom prst="roundRect">
            <a:avLst>
              <a:gd name="adj" fmla="val 28571"/>
            </a:avLst>
          </a:prstGeom>
          <a:solidFill>
            <a:srgbClr val="C5F26D"/>
          </a:solidFill>
          <a:ln w="12700">
            <a:solidFill>
              <a:srgbClr val="C5F26D">
                <a:alpha val="0"/>
              </a:srgbClr>
            </a:solidFill>
            <a:prstDash val="solid"/>
          </a:ln>
        </p:spPr>
      </p:sp>
      <p:sp>
        <p:nvSpPr>
          <p:cNvPr id="13" name="Text 11"/>
          <p:cNvSpPr/>
          <p:nvPr/>
        </p:nvSpPr>
        <p:spPr>
          <a:xfrm>
            <a:off x="6428232" y="2039112"/>
            <a:ext cx="411480" cy="201168"/>
          </a:xfrm>
          <a:prstGeom prst="rect">
            <a:avLst/>
          </a:prstGeom>
          <a:noFill/>
          <a:ln/>
        </p:spPr>
        <p:txBody>
          <a:bodyPr wrap="square" lIns="0" tIns="0" rIns="0" bIns="0" rtlCol="0" anchor="ctr">
            <a:normAutofit/>
          </a:bodyPr>
          <a:lstStyle/>
          <a:p>
            <a:pPr marL="0" indent="0">
              <a:buNone/>
            </a:pPr>
            <a:r>
              <a:rPr lang="en-US" sz="1000" b="1" kern="0" spc="120" dirty="0">
                <a:solidFill>
                  <a:srgbClr val="C5F26D"/>
                </a:solidFill>
                <a:latin typeface="Aptos" pitchFamily="34" charset="0"/>
                <a:ea typeface="Aptos" pitchFamily="34" charset="-122"/>
                <a:cs typeface="Aptos" pitchFamily="34" charset="-120"/>
              </a:rPr>
              <a:t>02</a:t>
            </a:r>
            <a:endParaRPr lang="en-US" sz="1000" dirty="0"/>
          </a:p>
        </p:txBody>
      </p:sp>
      <p:sp>
        <p:nvSpPr>
          <p:cNvPr id="14" name="Text 12"/>
          <p:cNvSpPr/>
          <p:nvPr/>
        </p:nvSpPr>
        <p:spPr>
          <a:xfrm>
            <a:off x="10415016" y="2039112"/>
            <a:ext cx="914400" cy="201168"/>
          </a:xfrm>
          <a:prstGeom prst="rect">
            <a:avLst/>
          </a:prstGeom>
          <a:noFill/>
          <a:ln/>
        </p:spPr>
        <p:txBody>
          <a:bodyPr wrap="square" lIns="0" tIns="0" rIns="0" bIns="0" rtlCol="0" anchor="ctr">
            <a:normAutofit/>
          </a:bodyPr>
          <a:lstStyle/>
          <a:p>
            <a:pPr marL="0" indent="0" algn="r">
              <a:buNone/>
            </a:pPr>
            <a:r>
              <a:rPr lang="en-US" sz="800" b="1" kern="0" spc="140" dirty="0">
                <a:solidFill>
                  <a:srgbClr val="758079"/>
                </a:solidFill>
                <a:latin typeface="Aptos" pitchFamily="34" charset="0"/>
                <a:ea typeface="Aptos" pitchFamily="34" charset="-122"/>
                <a:cs typeface="Aptos" pitchFamily="34" charset="-120"/>
              </a:rPr>
              <a:t>BACKEND</a:t>
            </a:r>
            <a:endParaRPr lang="en-US" sz="800" dirty="0"/>
          </a:p>
        </p:txBody>
      </p:sp>
      <p:sp>
        <p:nvSpPr>
          <p:cNvPr id="15" name="Text 13"/>
          <p:cNvSpPr/>
          <p:nvPr/>
        </p:nvSpPr>
        <p:spPr>
          <a:xfrm>
            <a:off x="6428232" y="2322576"/>
            <a:ext cx="4901184" cy="265176"/>
          </a:xfrm>
          <a:prstGeom prst="rect">
            <a:avLst/>
          </a:prstGeom>
          <a:noFill/>
          <a:ln/>
        </p:spPr>
        <p:txBody>
          <a:bodyPr wrap="square" lIns="0" tIns="0" rIns="0" bIns="0" rtlCol="0" anchor="ctr">
            <a:normAutofit/>
          </a:bodyPr>
          <a:lstStyle/>
          <a:p>
            <a:pPr marL="0" indent="0">
              <a:buNone/>
            </a:pPr>
            <a:r>
              <a:rPr lang="en-US" sz="1700" b="1" dirty="0">
                <a:solidFill>
                  <a:srgbClr val="F3F5F1"/>
                </a:solidFill>
                <a:latin typeface="Aptos" pitchFamily="34" charset="0"/>
                <a:ea typeface="Aptos" pitchFamily="34" charset="-122"/>
                <a:cs typeface="Aptos" pitchFamily="34" charset="-120"/>
              </a:rPr>
              <a:t>C# + ASP.NET Core</a:t>
            </a:r>
            <a:endParaRPr lang="en-US" sz="1700" dirty="0"/>
          </a:p>
        </p:txBody>
      </p:sp>
      <p:sp>
        <p:nvSpPr>
          <p:cNvPr id="16" name="Text 14"/>
          <p:cNvSpPr/>
          <p:nvPr/>
        </p:nvSpPr>
        <p:spPr>
          <a:xfrm>
            <a:off x="6428232" y="2660904"/>
            <a:ext cx="4901184" cy="365760"/>
          </a:xfrm>
          <a:prstGeom prst="rect">
            <a:avLst/>
          </a:prstGeom>
          <a:noFill/>
          <a:ln/>
        </p:spPr>
        <p:txBody>
          <a:bodyPr wrap="square" lIns="0" tIns="0" rIns="0" bIns="0" rtlCol="0" anchor="t">
            <a:normAutofit/>
          </a:bodyPr>
          <a:lstStyle/>
          <a:p>
            <a:pPr marL="0" indent="0">
              <a:buNone/>
            </a:pPr>
            <a:r>
              <a:rPr lang="en-US" sz="1070" dirty="0">
                <a:solidFill>
                  <a:srgbClr val="A8B1AB"/>
                </a:solidFill>
                <a:latin typeface="Aptos" pitchFamily="34" charset="0"/>
                <a:ea typeface="Aptos" pitchFamily="34" charset="-122"/>
                <a:cs typeface="Aptos" pitchFamily="34" charset="-120"/>
              </a:rPr>
              <a:t>The server handles product requests, accounts, cart totals, orders and the rules that must be checked securely.</a:t>
            </a:r>
            <a:endParaRPr lang="en-US" sz="1070" dirty="0"/>
          </a:p>
        </p:txBody>
      </p:sp>
      <p:sp>
        <p:nvSpPr>
          <p:cNvPr id="17" name="Shape 15"/>
          <p:cNvSpPr/>
          <p:nvPr/>
        </p:nvSpPr>
        <p:spPr>
          <a:xfrm>
            <a:off x="640080" y="3456432"/>
            <a:ext cx="5394960" cy="1298448"/>
          </a:xfrm>
          <a:prstGeom prst="roundRect">
            <a:avLst>
              <a:gd name="adj" fmla="val 8451"/>
            </a:avLst>
          </a:prstGeom>
          <a:solidFill>
            <a:srgbClr val="141A17"/>
          </a:solidFill>
          <a:ln w="12700">
            <a:solidFill>
              <a:srgbClr val="141A17">
                <a:alpha val="0"/>
              </a:srgbClr>
            </a:solidFill>
            <a:prstDash val="solid"/>
          </a:ln>
        </p:spPr>
      </p:sp>
      <p:sp>
        <p:nvSpPr>
          <p:cNvPr id="18" name="Shape 16"/>
          <p:cNvSpPr/>
          <p:nvPr/>
        </p:nvSpPr>
        <p:spPr>
          <a:xfrm>
            <a:off x="640080" y="3456432"/>
            <a:ext cx="64008" cy="1298448"/>
          </a:xfrm>
          <a:prstGeom prst="roundRect">
            <a:avLst>
              <a:gd name="adj" fmla="val 28571"/>
            </a:avLst>
          </a:prstGeom>
          <a:solidFill>
            <a:srgbClr val="F3A65A"/>
          </a:solidFill>
          <a:ln w="12700">
            <a:solidFill>
              <a:srgbClr val="F3A65A">
                <a:alpha val="0"/>
              </a:srgbClr>
            </a:solidFill>
            <a:prstDash val="solid"/>
          </a:ln>
        </p:spPr>
      </p:sp>
      <p:sp>
        <p:nvSpPr>
          <p:cNvPr id="19" name="Text 17"/>
          <p:cNvSpPr/>
          <p:nvPr/>
        </p:nvSpPr>
        <p:spPr>
          <a:xfrm>
            <a:off x="868680" y="3639312"/>
            <a:ext cx="411480" cy="201168"/>
          </a:xfrm>
          <a:prstGeom prst="rect">
            <a:avLst/>
          </a:prstGeom>
          <a:noFill/>
          <a:ln/>
        </p:spPr>
        <p:txBody>
          <a:bodyPr wrap="square" lIns="0" tIns="0" rIns="0" bIns="0" rtlCol="0" anchor="ctr">
            <a:normAutofit/>
          </a:bodyPr>
          <a:lstStyle/>
          <a:p>
            <a:pPr marL="0" indent="0">
              <a:buNone/>
            </a:pPr>
            <a:r>
              <a:rPr lang="en-US" sz="1000" b="1" kern="0" spc="120" dirty="0">
                <a:solidFill>
                  <a:srgbClr val="F3A65A"/>
                </a:solidFill>
                <a:latin typeface="Aptos" pitchFamily="34" charset="0"/>
                <a:ea typeface="Aptos" pitchFamily="34" charset="-122"/>
                <a:cs typeface="Aptos" pitchFamily="34" charset="-120"/>
              </a:rPr>
              <a:t>03</a:t>
            </a:r>
            <a:endParaRPr lang="en-US" sz="1000" dirty="0"/>
          </a:p>
        </p:txBody>
      </p:sp>
      <p:sp>
        <p:nvSpPr>
          <p:cNvPr id="20" name="Text 18"/>
          <p:cNvSpPr/>
          <p:nvPr/>
        </p:nvSpPr>
        <p:spPr>
          <a:xfrm>
            <a:off x="4892040" y="3639312"/>
            <a:ext cx="914400" cy="201168"/>
          </a:xfrm>
          <a:prstGeom prst="rect">
            <a:avLst/>
          </a:prstGeom>
          <a:noFill/>
          <a:ln/>
        </p:spPr>
        <p:txBody>
          <a:bodyPr wrap="square" lIns="0" tIns="0" rIns="0" bIns="0" rtlCol="0" anchor="ctr">
            <a:normAutofit/>
          </a:bodyPr>
          <a:lstStyle/>
          <a:p>
            <a:pPr marL="0" indent="0" algn="r">
              <a:buNone/>
            </a:pPr>
            <a:r>
              <a:rPr lang="en-US" sz="800" b="1" kern="0" spc="140" dirty="0">
                <a:solidFill>
                  <a:srgbClr val="758079"/>
                </a:solidFill>
                <a:latin typeface="Aptos" pitchFamily="34" charset="0"/>
                <a:ea typeface="Aptos" pitchFamily="34" charset="-122"/>
                <a:cs typeface="Aptos" pitchFamily="34" charset="-120"/>
              </a:rPr>
              <a:t>DATABASE</a:t>
            </a:r>
            <a:endParaRPr lang="en-US" sz="800" dirty="0"/>
          </a:p>
        </p:txBody>
      </p:sp>
      <p:sp>
        <p:nvSpPr>
          <p:cNvPr id="21" name="Text 19"/>
          <p:cNvSpPr/>
          <p:nvPr/>
        </p:nvSpPr>
        <p:spPr>
          <a:xfrm>
            <a:off x="868680" y="3922776"/>
            <a:ext cx="4937760" cy="265176"/>
          </a:xfrm>
          <a:prstGeom prst="rect">
            <a:avLst/>
          </a:prstGeom>
          <a:noFill/>
          <a:ln/>
        </p:spPr>
        <p:txBody>
          <a:bodyPr wrap="square" lIns="0" tIns="0" rIns="0" bIns="0" rtlCol="0" anchor="ctr">
            <a:normAutofit/>
          </a:bodyPr>
          <a:lstStyle/>
          <a:p>
            <a:pPr marL="0" indent="0">
              <a:buNone/>
            </a:pPr>
            <a:r>
              <a:rPr lang="en-US" sz="1700" b="1" dirty="0">
                <a:solidFill>
                  <a:srgbClr val="F3F5F1"/>
                </a:solidFill>
                <a:latin typeface="Aptos" pitchFamily="34" charset="0"/>
                <a:ea typeface="Aptos" pitchFamily="34" charset="-122"/>
                <a:cs typeface="Aptos" pitchFamily="34" charset="-120"/>
              </a:rPr>
              <a:t>MySQL + Entity Framework Core</a:t>
            </a:r>
            <a:endParaRPr lang="en-US" sz="1700" dirty="0"/>
          </a:p>
        </p:txBody>
      </p:sp>
      <p:sp>
        <p:nvSpPr>
          <p:cNvPr id="22" name="Text 20"/>
          <p:cNvSpPr/>
          <p:nvPr/>
        </p:nvSpPr>
        <p:spPr>
          <a:xfrm>
            <a:off x="868680" y="4261104"/>
            <a:ext cx="4937760" cy="365760"/>
          </a:xfrm>
          <a:prstGeom prst="rect">
            <a:avLst/>
          </a:prstGeom>
          <a:noFill/>
          <a:ln/>
        </p:spPr>
        <p:txBody>
          <a:bodyPr wrap="square" lIns="0" tIns="0" rIns="0" bIns="0" rtlCol="0" anchor="t">
            <a:normAutofit/>
          </a:bodyPr>
          <a:lstStyle/>
          <a:p>
            <a:pPr marL="0" indent="0">
              <a:buNone/>
            </a:pPr>
            <a:r>
              <a:rPr lang="en-US" sz="1070" dirty="0">
                <a:solidFill>
                  <a:srgbClr val="A8B1AB"/>
                </a:solidFill>
                <a:latin typeface="Aptos" pitchFamily="34" charset="0"/>
                <a:ea typeface="Aptos" pitchFamily="34" charset="-122"/>
                <a:cs typeface="Aptos" pitchFamily="34" charset="-120"/>
              </a:rPr>
              <a:t>MySQL stores the shop data; Entity Framework Core helps the C# code read and update it using models.</a:t>
            </a:r>
            <a:endParaRPr lang="en-US" sz="1070" dirty="0"/>
          </a:p>
        </p:txBody>
      </p:sp>
      <p:sp>
        <p:nvSpPr>
          <p:cNvPr id="23" name="Shape 21"/>
          <p:cNvSpPr/>
          <p:nvPr/>
        </p:nvSpPr>
        <p:spPr>
          <a:xfrm>
            <a:off x="6199632" y="3456432"/>
            <a:ext cx="5358384" cy="1298448"/>
          </a:xfrm>
          <a:prstGeom prst="roundRect">
            <a:avLst>
              <a:gd name="adj" fmla="val 8451"/>
            </a:avLst>
          </a:prstGeom>
          <a:solidFill>
            <a:srgbClr val="141A17"/>
          </a:solidFill>
          <a:ln w="12700">
            <a:solidFill>
              <a:srgbClr val="141A17">
                <a:alpha val="0"/>
              </a:srgbClr>
            </a:solidFill>
            <a:prstDash val="solid"/>
          </a:ln>
        </p:spPr>
      </p:sp>
      <p:sp>
        <p:nvSpPr>
          <p:cNvPr id="24" name="Shape 22"/>
          <p:cNvSpPr/>
          <p:nvPr/>
        </p:nvSpPr>
        <p:spPr>
          <a:xfrm>
            <a:off x="6199632" y="3456432"/>
            <a:ext cx="64008" cy="1298448"/>
          </a:xfrm>
          <a:prstGeom prst="roundRect">
            <a:avLst>
              <a:gd name="adj" fmla="val 28571"/>
            </a:avLst>
          </a:prstGeom>
          <a:solidFill>
            <a:srgbClr val="8AC6E8"/>
          </a:solidFill>
          <a:ln w="12700">
            <a:solidFill>
              <a:srgbClr val="8AC6E8">
                <a:alpha val="0"/>
              </a:srgbClr>
            </a:solidFill>
            <a:prstDash val="solid"/>
          </a:ln>
        </p:spPr>
      </p:sp>
      <p:sp>
        <p:nvSpPr>
          <p:cNvPr id="25" name="Text 23"/>
          <p:cNvSpPr/>
          <p:nvPr/>
        </p:nvSpPr>
        <p:spPr>
          <a:xfrm>
            <a:off x="6428232" y="3639312"/>
            <a:ext cx="411480" cy="201168"/>
          </a:xfrm>
          <a:prstGeom prst="rect">
            <a:avLst/>
          </a:prstGeom>
          <a:noFill/>
          <a:ln/>
        </p:spPr>
        <p:txBody>
          <a:bodyPr wrap="square" lIns="0" tIns="0" rIns="0" bIns="0" rtlCol="0" anchor="ctr">
            <a:normAutofit/>
          </a:bodyPr>
          <a:lstStyle/>
          <a:p>
            <a:pPr marL="0" indent="0">
              <a:buNone/>
            </a:pPr>
            <a:r>
              <a:rPr lang="en-US" sz="1000" b="1" kern="0" spc="120" dirty="0">
                <a:solidFill>
                  <a:srgbClr val="8AC6E8"/>
                </a:solidFill>
                <a:latin typeface="Aptos" pitchFamily="34" charset="0"/>
                <a:ea typeface="Aptos" pitchFamily="34" charset="-122"/>
                <a:cs typeface="Aptos" pitchFamily="34" charset="-120"/>
              </a:rPr>
              <a:t>04</a:t>
            </a:r>
            <a:endParaRPr lang="en-US" sz="1000" dirty="0"/>
          </a:p>
        </p:txBody>
      </p:sp>
      <p:sp>
        <p:nvSpPr>
          <p:cNvPr id="26" name="Text 24"/>
          <p:cNvSpPr/>
          <p:nvPr/>
        </p:nvSpPr>
        <p:spPr>
          <a:xfrm>
            <a:off x="10415016" y="3639312"/>
            <a:ext cx="914400" cy="201168"/>
          </a:xfrm>
          <a:prstGeom prst="rect">
            <a:avLst/>
          </a:prstGeom>
          <a:noFill/>
          <a:ln/>
        </p:spPr>
        <p:txBody>
          <a:bodyPr wrap="square" lIns="0" tIns="0" rIns="0" bIns="0" rtlCol="0" anchor="ctr">
            <a:normAutofit/>
          </a:bodyPr>
          <a:lstStyle/>
          <a:p>
            <a:pPr marL="0" indent="0" algn="r">
              <a:buNone/>
            </a:pPr>
            <a:r>
              <a:rPr lang="en-US" sz="800" b="1" kern="0" spc="140" dirty="0">
                <a:solidFill>
                  <a:srgbClr val="758079"/>
                </a:solidFill>
                <a:latin typeface="Aptos" pitchFamily="34" charset="0"/>
                <a:ea typeface="Aptos" pitchFamily="34" charset="-122"/>
                <a:cs typeface="Aptos" pitchFamily="34" charset="-120"/>
              </a:rPr>
              <a:t>PAYMENT</a:t>
            </a:r>
            <a:endParaRPr lang="en-US" sz="800" dirty="0"/>
          </a:p>
        </p:txBody>
      </p:sp>
      <p:sp>
        <p:nvSpPr>
          <p:cNvPr id="27" name="Text 25"/>
          <p:cNvSpPr/>
          <p:nvPr/>
        </p:nvSpPr>
        <p:spPr>
          <a:xfrm>
            <a:off x="6428232" y="3922776"/>
            <a:ext cx="4901184" cy="265176"/>
          </a:xfrm>
          <a:prstGeom prst="rect">
            <a:avLst/>
          </a:prstGeom>
          <a:noFill/>
          <a:ln/>
        </p:spPr>
        <p:txBody>
          <a:bodyPr wrap="square" lIns="0" tIns="0" rIns="0" bIns="0" rtlCol="0" anchor="ctr">
            <a:normAutofit/>
          </a:bodyPr>
          <a:lstStyle/>
          <a:p>
            <a:pPr marL="0" indent="0">
              <a:buNone/>
            </a:pPr>
            <a:r>
              <a:rPr lang="en-US" sz="1700" b="1" dirty="0">
                <a:solidFill>
                  <a:srgbClr val="F3F5F1"/>
                </a:solidFill>
                <a:latin typeface="Aptos" pitchFamily="34" charset="0"/>
                <a:ea typeface="Aptos" pitchFamily="34" charset="-122"/>
                <a:cs typeface="Aptos" pitchFamily="34" charset="-120"/>
              </a:rPr>
              <a:t>Stripe test mode</a:t>
            </a:r>
            <a:endParaRPr lang="en-US" sz="1700" dirty="0"/>
          </a:p>
        </p:txBody>
      </p:sp>
      <p:sp>
        <p:nvSpPr>
          <p:cNvPr id="28" name="Text 26"/>
          <p:cNvSpPr/>
          <p:nvPr/>
        </p:nvSpPr>
        <p:spPr>
          <a:xfrm>
            <a:off x="6428232" y="4261104"/>
            <a:ext cx="4901184" cy="365760"/>
          </a:xfrm>
          <a:prstGeom prst="rect">
            <a:avLst/>
          </a:prstGeom>
          <a:noFill/>
          <a:ln/>
        </p:spPr>
        <p:txBody>
          <a:bodyPr wrap="square" lIns="0" tIns="0" rIns="0" bIns="0" rtlCol="0" anchor="t">
            <a:normAutofit/>
          </a:bodyPr>
          <a:lstStyle/>
          <a:p>
            <a:pPr marL="0" indent="0">
              <a:buNone/>
            </a:pPr>
            <a:r>
              <a:rPr lang="en-US" sz="1070" dirty="0">
                <a:solidFill>
                  <a:srgbClr val="A8B1AB"/>
                </a:solidFill>
                <a:latin typeface="Aptos" pitchFamily="34" charset="0"/>
                <a:ea typeface="Aptos" pitchFamily="34" charset="-122"/>
                <a:cs typeface="Aptos" pitchFamily="34" charset="-120"/>
              </a:rPr>
              <a:t>It lets us demonstrate successful and declined payments without charging real money.</a:t>
            </a:r>
            <a:endParaRPr lang="en-US" sz="1070" dirty="0"/>
          </a:p>
        </p:txBody>
      </p:sp>
      <p:sp>
        <p:nvSpPr>
          <p:cNvPr id="29" name="Shape 27"/>
          <p:cNvSpPr/>
          <p:nvPr/>
        </p:nvSpPr>
        <p:spPr>
          <a:xfrm>
            <a:off x="640080" y="5175504"/>
            <a:ext cx="10917936" cy="566928"/>
          </a:xfrm>
          <a:prstGeom prst="roundRect">
            <a:avLst>
              <a:gd name="adj" fmla="val 17742"/>
            </a:avLst>
          </a:prstGeom>
          <a:solidFill>
            <a:srgbClr val="19211D"/>
          </a:solidFill>
          <a:ln w="12700">
            <a:solidFill>
              <a:srgbClr val="19211D">
                <a:alpha val="0"/>
              </a:srgbClr>
            </a:solidFill>
            <a:prstDash val="solid"/>
          </a:ln>
        </p:spPr>
      </p:sp>
      <p:sp>
        <p:nvSpPr>
          <p:cNvPr id="30" name="Text 28"/>
          <p:cNvSpPr/>
          <p:nvPr/>
        </p:nvSpPr>
        <p:spPr>
          <a:xfrm>
            <a:off x="850392" y="5330952"/>
            <a:ext cx="1005840" cy="201168"/>
          </a:xfrm>
          <a:prstGeom prst="rect">
            <a:avLst/>
          </a:prstGeom>
          <a:noFill/>
          <a:ln/>
        </p:spPr>
        <p:txBody>
          <a:bodyPr wrap="square" lIns="0" tIns="0" rIns="0" bIns="0" rtlCol="0" anchor="ctr">
            <a:normAutofit/>
          </a:bodyPr>
          <a:lstStyle/>
          <a:p>
            <a:pPr marL="0" indent="0">
              <a:buNone/>
            </a:pPr>
            <a:r>
              <a:rPr lang="en-US" sz="1100" b="1" dirty="0">
                <a:solidFill>
                  <a:srgbClr val="C5F26D"/>
                </a:solidFill>
                <a:latin typeface="Aptos" pitchFamily="34" charset="0"/>
                <a:ea typeface="Aptos" pitchFamily="34" charset="-122"/>
                <a:cs typeface="Aptos" pitchFamily="34" charset="-120"/>
              </a:rPr>
              <a:t>A key rule</a:t>
            </a:r>
            <a:endParaRPr lang="en-US" sz="1100" dirty="0"/>
          </a:p>
        </p:txBody>
      </p:sp>
      <p:sp>
        <p:nvSpPr>
          <p:cNvPr id="31" name="Text 29"/>
          <p:cNvSpPr/>
          <p:nvPr/>
        </p:nvSpPr>
        <p:spPr>
          <a:xfrm>
            <a:off x="1938528" y="5303520"/>
            <a:ext cx="9308592" cy="256032"/>
          </a:xfrm>
          <a:prstGeom prst="rect">
            <a:avLst/>
          </a:prstGeom>
          <a:noFill/>
          <a:ln/>
        </p:spPr>
        <p:txBody>
          <a:bodyPr wrap="square" lIns="0" tIns="0" rIns="0" bIns="0" rtlCol="0" anchor="ctr">
            <a:normAutofit/>
          </a:bodyPr>
          <a:lstStyle/>
          <a:p>
            <a:pPr marL="0" indent="0">
              <a:buNone/>
            </a:pPr>
            <a:r>
              <a:rPr lang="en-US" sz="1120" dirty="0">
                <a:solidFill>
                  <a:srgbClr val="F3F5F1"/>
                </a:solidFill>
                <a:latin typeface="Aptos" pitchFamily="34" charset="0"/>
                <a:ea typeface="Aptos" pitchFamily="34" charset="-122"/>
                <a:cs typeface="Aptos" pitchFamily="34" charset="-120"/>
              </a:rPr>
              <a:t>The server recalculates totals, checks stock and confirms payment status — the browser alone cannot decide these.</a:t>
            </a:r>
            <a:endParaRPr lang="en-US" sz="1120" dirty="0"/>
          </a:p>
        </p:txBody>
      </p:sp>
      <p:sp>
        <p:nvSpPr>
          <p:cNvPr id="32"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05 / HOW THE PARTS CONNECT</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Important decisions happen on the server</a:t>
            </a:r>
            <a:endParaRPr lang="en-US" sz="2700" dirty="0"/>
          </a:p>
        </p:txBody>
      </p:sp>
      <p:sp>
        <p:nvSpPr>
          <p:cNvPr id="4" name="Text 2"/>
          <p:cNvSpPr/>
          <p:nvPr/>
        </p:nvSpPr>
        <p:spPr>
          <a:xfrm>
            <a:off x="585216" y="1225296"/>
            <a:ext cx="10881360" cy="320040"/>
          </a:xfrm>
          <a:prstGeom prst="rect">
            <a:avLst/>
          </a:prstGeom>
          <a:noFill/>
          <a:ln/>
        </p:spPr>
        <p:txBody>
          <a:bodyPr wrap="square" lIns="0" tIns="0" rIns="0" bIns="0" rtlCol="0" anchor="ctr">
            <a:normAutofit/>
          </a:bodyPr>
          <a:lstStyle/>
          <a:p>
            <a:pPr marL="0" indent="0">
              <a:buNone/>
            </a:pPr>
            <a:r>
              <a:rPr lang="en-US" sz="1250" dirty="0">
                <a:solidFill>
                  <a:srgbClr val="A8B1AB"/>
                </a:solidFill>
                <a:latin typeface="Aptos" pitchFamily="34" charset="0"/>
                <a:ea typeface="Aptos" pitchFamily="34" charset="-122"/>
                <a:cs typeface="Aptos" pitchFamily="34" charset="-120"/>
              </a:rPr>
              <a:t>This keeps prices, stock and payment status from depending only on what the customer’s browser displays.</a:t>
            </a:r>
            <a:endParaRPr lang="en-US" sz="1250" dirty="0"/>
          </a:p>
        </p:txBody>
      </p:sp>
      <p:sp>
        <p:nvSpPr>
          <p:cNvPr id="5" name="Shape 3"/>
          <p:cNvSpPr/>
          <p:nvPr/>
        </p:nvSpPr>
        <p:spPr>
          <a:xfrm>
            <a:off x="749808" y="1938528"/>
            <a:ext cx="2084832" cy="932688"/>
          </a:xfrm>
          <a:prstGeom prst="roundRect">
            <a:avLst>
              <a:gd name="adj" fmla="val 13725"/>
            </a:avLst>
          </a:prstGeom>
          <a:solidFill>
            <a:srgbClr val="19211D"/>
          </a:solidFill>
          <a:ln w="12700">
            <a:solidFill>
              <a:srgbClr val="19211D">
                <a:alpha val="0"/>
              </a:srgbClr>
            </a:solidFill>
            <a:prstDash val="solid"/>
          </a:ln>
        </p:spPr>
      </p:sp>
      <p:sp>
        <p:nvSpPr>
          <p:cNvPr id="6" name="Shape 4"/>
          <p:cNvSpPr/>
          <p:nvPr/>
        </p:nvSpPr>
        <p:spPr>
          <a:xfrm>
            <a:off x="914400" y="2139696"/>
            <a:ext cx="146304" cy="146304"/>
          </a:xfrm>
          <a:prstGeom prst="ellipse">
            <a:avLst/>
          </a:prstGeom>
          <a:solidFill>
            <a:srgbClr val="8AC6E8"/>
          </a:solidFill>
          <a:ln w="12700">
            <a:solidFill>
              <a:srgbClr val="8AC6E8">
                <a:alpha val="0"/>
              </a:srgbClr>
            </a:solidFill>
            <a:prstDash val="solid"/>
          </a:ln>
        </p:spPr>
      </p:sp>
      <p:sp>
        <p:nvSpPr>
          <p:cNvPr id="7" name="Text 5"/>
          <p:cNvSpPr/>
          <p:nvPr/>
        </p:nvSpPr>
        <p:spPr>
          <a:xfrm>
            <a:off x="1152144" y="2084832"/>
            <a:ext cx="1554480" cy="256032"/>
          </a:xfrm>
          <a:prstGeom prst="rect">
            <a:avLst/>
          </a:prstGeom>
          <a:noFill/>
          <a:ln/>
        </p:spPr>
        <p:txBody>
          <a:bodyPr wrap="square" lIns="0" tIns="0" rIns="0" bIns="0" rtlCol="0" anchor="ctr">
            <a:normAutofit/>
          </a:bodyPr>
          <a:lstStyle/>
          <a:p>
            <a:pPr marL="0" indent="0">
              <a:buNone/>
            </a:pPr>
            <a:r>
              <a:rPr lang="en-US" sz="1450" b="1" dirty="0">
                <a:solidFill>
                  <a:srgbClr val="F3F5F1"/>
                </a:solidFill>
                <a:latin typeface="Aptos" pitchFamily="34" charset="0"/>
                <a:ea typeface="Aptos" pitchFamily="34" charset="-122"/>
                <a:cs typeface="Aptos" pitchFamily="34" charset="-120"/>
              </a:rPr>
              <a:t>Customer browser</a:t>
            </a:r>
            <a:endParaRPr lang="en-US" sz="1450" dirty="0"/>
          </a:p>
        </p:txBody>
      </p:sp>
      <p:sp>
        <p:nvSpPr>
          <p:cNvPr id="8" name="Text 6"/>
          <p:cNvSpPr/>
          <p:nvPr/>
        </p:nvSpPr>
        <p:spPr>
          <a:xfrm>
            <a:off x="932688" y="2468880"/>
            <a:ext cx="1719072" cy="201168"/>
          </a:xfrm>
          <a:prstGeom prst="rect">
            <a:avLst/>
          </a:prstGeom>
          <a:noFill/>
          <a:ln/>
        </p:spPr>
        <p:txBody>
          <a:bodyPr wrap="square" lIns="0" tIns="0" rIns="0" bIns="0" rtlCol="0" anchor="ctr">
            <a:normAutofit/>
          </a:bodyPr>
          <a:lstStyle/>
          <a:p>
            <a:pPr marL="0" indent="0">
              <a:buNone/>
            </a:pPr>
            <a:r>
              <a:rPr lang="en-US" sz="980" dirty="0">
                <a:solidFill>
                  <a:srgbClr val="A8B1AB"/>
                </a:solidFill>
                <a:latin typeface="Aptos" pitchFamily="34" charset="0"/>
                <a:ea typeface="Aptos" pitchFamily="34" charset="-122"/>
                <a:cs typeface="Aptos" pitchFamily="34" charset="-120"/>
              </a:rPr>
              <a:t>HTML · CSS · JavaScript</a:t>
            </a:r>
            <a:endParaRPr lang="en-US" sz="980" dirty="0"/>
          </a:p>
        </p:txBody>
      </p:sp>
      <p:sp>
        <p:nvSpPr>
          <p:cNvPr id="9" name="Shape 7"/>
          <p:cNvSpPr/>
          <p:nvPr/>
        </p:nvSpPr>
        <p:spPr>
          <a:xfrm>
            <a:off x="3703320" y="1938528"/>
            <a:ext cx="2331720" cy="932688"/>
          </a:xfrm>
          <a:prstGeom prst="roundRect">
            <a:avLst>
              <a:gd name="adj" fmla="val 13725"/>
            </a:avLst>
          </a:prstGeom>
          <a:solidFill>
            <a:srgbClr val="19211D"/>
          </a:solidFill>
          <a:ln w="12700">
            <a:solidFill>
              <a:srgbClr val="19211D">
                <a:alpha val="0"/>
              </a:srgbClr>
            </a:solidFill>
            <a:prstDash val="solid"/>
          </a:ln>
        </p:spPr>
      </p:sp>
      <p:sp>
        <p:nvSpPr>
          <p:cNvPr id="10" name="Shape 8"/>
          <p:cNvSpPr/>
          <p:nvPr/>
        </p:nvSpPr>
        <p:spPr>
          <a:xfrm>
            <a:off x="3867912" y="2139696"/>
            <a:ext cx="146304" cy="146304"/>
          </a:xfrm>
          <a:prstGeom prst="ellipse">
            <a:avLst/>
          </a:prstGeom>
          <a:solidFill>
            <a:srgbClr val="C5F26D"/>
          </a:solidFill>
          <a:ln w="12700">
            <a:solidFill>
              <a:srgbClr val="C5F26D">
                <a:alpha val="0"/>
              </a:srgbClr>
            </a:solidFill>
            <a:prstDash val="solid"/>
          </a:ln>
        </p:spPr>
      </p:sp>
      <p:sp>
        <p:nvSpPr>
          <p:cNvPr id="11" name="Text 9"/>
          <p:cNvSpPr/>
          <p:nvPr/>
        </p:nvSpPr>
        <p:spPr>
          <a:xfrm>
            <a:off x="4105656" y="2084832"/>
            <a:ext cx="1801368" cy="256032"/>
          </a:xfrm>
          <a:prstGeom prst="rect">
            <a:avLst/>
          </a:prstGeom>
          <a:noFill/>
          <a:ln/>
        </p:spPr>
        <p:txBody>
          <a:bodyPr wrap="square" lIns="0" tIns="0" rIns="0" bIns="0" rtlCol="0" anchor="ctr">
            <a:normAutofit/>
          </a:bodyPr>
          <a:lstStyle/>
          <a:p>
            <a:pPr marL="0" indent="0">
              <a:buNone/>
            </a:pPr>
            <a:r>
              <a:rPr lang="en-US" sz="1450" b="1" dirty="0">
                <a:solidFill>
                  <a:srgbClr val="F3F5F1"/>
                </a:solidFill>
                <a:latin typeface="Aptos" pitchFamily="34" charset="0"/>
                <a:ea typeface="Aptos" pitchFamily="34" charset="-122"/>
                <a:cs typeface="Aptos" pitchFamily="34" charset="-120"/>
              </a:rPr>
              <a:t>ASP.NET Core</a:t>
            </a:r>
            <a:endParaRPr lang="en-US" sz="1450" dirty="0"/>
          </a:p>
        </p:txBody>
      </p:sp>
      <p:sp>
        <p:nvSpPr>
          <p:cNvPr id="12" name="Text 10"/>
          <p:cNvSpPr/>
          <p:nvPr/>
        </p:nvSpPr>
        <p:spPr>
          <a:xfrm>
            <a:off x="3886200" y="2468880"/>
            <a:ext cx="1965960" cy="201168"/>
          </a:xfrm>
          <a:prstGeom prst="rect">
            <a:avLst/>
          </a:prstGeom>
          <a:noFill/>
          <a:ln/>
        </p:spPr>
        <p:txBody>
          <a:bodyPr wrap="square" lIns="0" tIns="0" rIns="0" bIns="0" rtlCol="0" anchor="ctr">
            <a:normAutofit/>
          </a:bodyPr>
          <a:lstStyle/>
          <a:p>
            <a:pPr marL="0" indent="0">
              <a:buNone/>
            </a:pPr>
            <a:r>
              <a:rPr lang="en-US" sz="980" dirty="0">
                <a:solidFill>
                  <a:srgbClr val="A8B1AB"/>
                </a:solidFill>
                <a:latin typeface="Aptos" pitchFamily="34" charset="0"/>
                <a:ea typeface="Aptos" pitchFamily="34" charset="-122"/>
                <a:cs typeface="Aptos" pitchFamily="34" charset="-120"/>
              </a:rPr>
              <a:t>C# rules and validation</a:t>
            </a:r>
            <a:endParaRPr lang="en-US" sz="980" dirty="0"/>
          </a:p>
        </p:txBody>
      </p:sp>
      <p:sp>
        <p:nvSpPr>
          <p:cNvPr id="13" name="Shape 11"/>
          <p:cNvSpPr/>
          <p:nvPr/>
        </p:nvSpPr>
        <p:spPr>
          <a:xfrm>
            <a:off x="7498080" y="1938528"/>
            <a:ext cx="2514600" cy="932688"/>
          </a:xfrm>
          <a:prstGeom prst="roundRect">
            <a:avLst>
              <a:gd name="adj" fmla="val 13725"/>
            </a:avLst>
          </a:prstGeom>
          <a:solidFill>
            <a:srgbClr val="19211D"/>
          </a:solidFill>
          <a:ln w="12700">
            <a:solidFill>
              <a:srgbClr val="19211D">
                <a:alpha val="0"/>
              </a:srgbClr>
            </a:solidFill>
            <a:prstDash val="solid"/>
          </a:ln>
        </p:spPr>
      </p:sp>
      <p:sp>
        <p:nvSpPr>
          <p:cNvPr id="14" name="Shape 12"/>
          <p:cNvSpPr/>
          <p:nvPr/>
        </p:nvSpPr>
        <p:spPr>
          <a:xfrm>
            <a:off x="7662672" y="2139696"/>
            <a:ext cx="146304" cy="146304"/>
          </a:xfrm>
          <a:prstGeom prst="ellipse">
            <a:avLst/>
          </a:prstGeom>
          <a:solidFill>
            <a:srgbClr val="8AC6E8"/>
          </a:solidFill>
          <a:ln w="12700">
            <a:solidFill>
              <a:srgbClr val="8AC6E8">
                <a:alpha val="0"/>
              </a:srgbClr>
            </a:solidFill>
            <a:prstDash val="solid"/>
          </a:ln>
        </p:spPr>
      </p:sp>
      <p:sp>
        <p:nvSpPr>
          <p:cNvPr id="15" name="Text 13"/>
          <p:cNvSpPr/>
          <p:nvPr/>
        </p:nvSpPr>
        <p:spPr>
          <a:xfrm>
            <a:off x="7900416" y="2084832"/>
            <a:ext cx="1984248" cy="256032"/>
          </a:xfrm>
          <a:prstGeom prst="rect">
            <a:avLst/>
          </a:prstGeom>
          <a:noFill/>
          <a:ln/>
        </p:spPr>
        <p:txBody>
          <a:bodyPr wrap="square" lIns="0" tIns="0" rIns="0" bIns="0" rtlCol="0" anchor="ctr">
            <a:normAutofit/>
          </a:bodyPr>
          <a:lstStyle/>
          <a:p>
            <a:pPr marL="0" indent="0">
              <a:buNone/>
            </a:pPr>
            <a:r>
              <a:rPr lang="en-US" sz="1450" b="1" dirty="0">
                <a:solidFill>
                  <a:srgbClr val="F3F5F1"/>
                </a:solidFill>
                <a:latin typeface="Aptos" pitchFamily="34" charset="0"/>
                <a:ea typeface="Aptos" pitchFamily="34" charset="-122"/>
                <a:cs typeface="Aptos" pitchFamily="34" charset="-120"/>
              </a:rPr>
              <a:t>Stripe test mode</a:t>
            </a:r>
            <a:endParaRPr lang="en-US" sz="1450" dirty="0"/>
          </a:p>
        </p:txBody>
      </p:sp>
      <p:sp>
        <p:nvSpPr>
          <p:cNvPr id="16" name="Text 14"/>
          <p:cNvSpPr/>
          <p:nvPr/>
        </p:nvSpPr>
        <p:spPr>
          <a:xfrm>
            <a:off x="7680960" y="2468880"/>
            <a:ext cx="2148840" cy="201168"/>
          </a:xfrm>
          <a:prstGeom prst="rect">
            <a:avLst/>
          </a:prstGeom>
          <a:noFill/>
          <a:ln/>
        </p:spPr>
        <p:txBody>
          <a:bodyPr wrap="square" lIns="0" tIns="0" rIns="0" bIns="0" rtlCol="0" anchor="ctr">
            <a:normAutofit/>
          </a:bodyPr>
          <a:lstStyle/>
          <a:p>
            <a:pPr marL="0" indent="0">
              <a:buNone/>
            </a:pPr>
            <a:r>
              <a:rPr lang="en-US" sz="980" dirty="0">
                <a:solidFill>
                  <a:srgbClr val="A8B1AB"/>
                </a:solidFill>
                <a:latin typeface="Aptos" pitchFamily="34" charset="0"/>
                <a:ea typeface="Aptos" pitchFamily="34" charset="-122"/>
                <a:cs typeface="Aptos" pitchFamily="34" charset="-120"/>
              </a:rPr>
              <a:t>Payment result / webhook</a:t>
            </a:r>
            <a:endParaRPr lang="en-US" sz="980" dirty="0"/>
          </a:p>
        </p:txBody>
      </p:sp>
      <p:sp>
        <p:nvSpPr>
          <p:cNvPr id="17" name="Shape 15"/>
          <p:cNvSpPr/>
          <p:nvPr/>
        </p:nvSpPr>
        <p:spPr>
          <a:xfrm>
            <a:off x="2907792" y="2404872"/>
            <a:ext cx="713232" cy="0"/>
          </a:xfrm>
          <a:prstGeom prst="line">
            <a:avLst/>
          </a:prstGeom>
          <a:noFill/>
          <a:ln w="20320">
            <a:solidFill>
              <a:srgbClr val="C5F26D"/>
            </a:solidFill>
            <a:prstDash val="solid"/>
            <a:headEnd type="triangle"/>
            <a:tailEnd type="triangle"/>
          </a:ln>
        </p:spPr>
      </p:sp>
      <p:sp>
        <p:nvSpPr>
          <p:cNvPr id="18" name="Shape 16"/>
          <p:cNvSpPr/>
          <p:nvPr/>
        </p:nvSpPr>
        <p:spPr>
          <a:xfrm>
            <a:off x="6108192" y="2404872"/>
            <a:ext cx="1280160" cy="0"/>
          </a:xfrm>
          <a:prstGeom prst="line">
            <a:avLst/>
          </a:prstGeom>
          <a:noFill/>
          <a:ln w="20320">
            <a:solidFill>
              <a:srgbClr val="C5F26D"/>
            </a:solidFill>
            <a:prstDash val="solid"/>
            <a:headEnd type="triangle"/>
            <a:tailEnd type="triangle"/>
          </a:ln>
        </p:spPr>
      </p:sp>
      <p:sp>
        <p:nvSpPr>
          <p:cNvPr id="19" name="Shape 17"/>
          <p:cNvSpPr/>
          <p:nvPr/>
        </p:nvSpPr>
        <p:spPr>
          <a:xfrm>
            <a:off x="3703320" y="3099816"/>
            <a:ext cx="2331720" cy="429768"/>
          </a:xfrm>
          <a:prstGeom prst="roundRect">
            <a:avLst>
              <a:gd name="adj" fmla="val 21277"/>
            </a:avLst>
          </a:prstGeom>
          <a:solidFill>
            <a:srgbClr val="141A17"/>
          </a:solidFill>
          <a:ln w="12700">
            <a:solidFill>
              <a:srgbClr val="141A17">
                <a:alpha val="0"/>
              </a:srgbClr>
            </a:solidFill>
            <a:prstDash val="solid"/>
          </a:ln>
        </p:spPr>
      </p:sp>
      <p:sp>
        <p:nvSpPr>
          <p:cNvPr id="20" name="Text 18"/>
          <p:cNvSpPr/>
          <p:nvPr/>
        </p:nvSpPr>
        <p:spPr>
          <a:xfrm>
            <a:off x="3867912" y="3218688"/>
            <a:ext cx="2002536" cy="182880"/>
          </a:xfrm>
          <a:prstGeom prst="rect">
            <a:avLst/>
          </a:prstGeom>
          <a:noFill/>
          <a:ln/>
        </p:spPr>
        <p:txBody>
          <a:bodyPr wrap="square" lIns="0" tIns="0" rIns="0" bIns="0" rtlCol="0" anchor="ctr">
            <a:normAutofit/>
          </a:bodyPr>
          <a:lstStyle/>
          <a:p>
            <a:pPr marL="0" indent="0" algn="ctr">
              <a:buNone/>
            </a:pPr>
            <a:r>
              <a:rPr lang="en-US" sz="1050" b="1" dirty="0">
                <a:solidFill>
                  <a:srgbClr val="F3A65A"/>
                </a:solidFill>
                <a:latin typeface="Aptos" pitchFamily="34" charset="0"/>
                <a:ea typeface="Aptos" pitchFamily="34" charset="-122"/>
                <a:cs typeface="Aptos" pitchFamily="34" charset="-120"/>
              </a:rPr>
              <a:t>MySQL  ·  Products, users, orders</a:t>
            </a:r>
            <a:endParaRPr lang="en-US" sz="1050" dirty="0"/>
          </a:p>
        </p:txBody>
      </p:sp>
      <p:sp>
        <p:nvSpPr>
          <p:cNvPr id="21" name="Shape 19"/>
          <p:cNvSpPr/>
          <p:nvPr/>
        </p:nvSpPr>
        <p:spPr>
          <a:xfrm>
            <a:off x="4873752" y="2880360"/>
            <a:ext cx="0" cy="192024"/>
          </a:xfrm>
          <a:prstGeom prst="line">
            <a:avLst/>
          </a:prstGeom>
          <a:noFill/>
          <a:ln w="19050">
            <a:solidFill>
              <a:srgbClr val="F3A65A"/>
            </a:solidFill>
            <a:prstDash val="solid"/>
            <a:headEnd type="triangle"/>
            <a:tailEnd type="triangle"/>
          </a:ln>
        </p:spPr>
      </p:sp>
      <p:sp>
        <p:nvSpPr>
          <p:cNvPr id="22" name="Text 20"/>
          <p:cNvSpPr/>
          <p:nvPr/>
        </p:nvSpPr>
        <p:spPr>
          <a:xfrm>
            <a:off x="749808" y="3685032"/>
            <a:ext cx="3108960" cy="164592"/>
          </a:xfrm>
          <a:prstGeom prst="rect">
            <a:avLst/>
          </a:prstGeom>
          <a:noFill/>
          <a:ln/>
        </p:spPr>
        <p:txBody>
          <a:bodyPr wrap="square" lIns="0" tIns="0" rIns="0" bIns="0" rtlCol="0" anchor="ctr">
            <a:normAutofit/>
          </a:bodyPr>
          <a:lstStyle/>
          <a:p>
            <a:pPr marL="0" indent="0">
              <a:buNone/>
            </a:pPr>
            <a:r>
              <a:rPr lang="en-US" sz="850" b="1" kern="0" spc="150" dirty="0">
                <a:solidFill>
                  <a:srgbClr val="C5F26D"/>
                </a:solidFill>
                <a:latin typeface="Aptos" pitchFamily="34" charset="0"/>
                <a:ea typeface="Aptos" pitchFamily="34" charset="-122"/>
                <a:cs typeface="Aptos" pitchFamily="34" charset="-120"/>
              </a:rPr>
              <a:t>PAYMENT CONFIRMATION FLOW</a:t>
            </a:r>
            <a:endParaRPr lang="en-US" sz="850" dirty="0"/>
          </a:p>
        </p:txBody>
      </p:sp>
      <p:sp>
        <p:nvSpPr>
          <p:cNvPr id="23" name="Shape 21"/>
          <p:cNvSpPr/>
          <p:nvPr/>
        </p:nvSpPr>
        <p:spPr>
          <a:xfrm>
            <a:off x="749808" y="3977640"/>
            <a:ext cx="2395728" cy="932688"/>
          </a:xfrm>
          <a:prstGeom prst="roundRect">
            <a:avLst>
              <a:gd name="adj" fmla="val 11765"/>
            </a:avLst>
          </a:prstGeom>
          <a:solidFill>
            <a:srgbClr val="141A17"/>
          </a:solidFill>
          <a:ln w="12700">
            <a:solidFill>
              <a:srgbClr val="141A17">
                <a:alpha val="0"/>
              </a:srgbClr>
            </a:solidFill>
            <a:prstDash val="solid"/>
          </a:ln>
        </p:spPr>
      </p:sp>
      <p:sp>
        <p:nvSpPr>
          <p:cNvPr id="24" name="Shape 22"/>
          <p:cNvSpPr/>
          <p:nvPr/>
        </p:nvSpPr>
        <p:spPr>
          <a:xfrm>
            <a:off x="914400" y="4142232"/>
            <a:ext cx="292608" cy="292608"/>
          </a:xfrm>
          <a:prstGeom prst="ellipse">
            <a:avLst/>
          </a:prstGeom>
          <a:solidFill>
            <a:srgbClr val="202923"/>
          </a:solidFill>
          <a:ln w="12700">
            <a:solidFill>
              <a:srgbClr val="202923">
                <a:alpha val="0"/>
              </a:srgbClr>
            </a:solidFill>
            <a:prstDash val="solid"/>
          </a:ln>
        </p:spPr>
      </p:sp>
      <p:sp>
        <p:nvSpPr>
          <p:cNvPr id="25" name="Text 23"/>
          <p:cNvSpPr/>
          <p:nvPr/>
        </p:nvSpPr>
        <p:spPr>
          <a:xfrm>
            <a:off x="914400" y="4169664"/>
            <a:ext cx="292608" cy="182880"/>
          </a:xfrm>
          <a:prstGeom prst="rect">
            <a:avLst/>
          </a:prstGeom>
          <a:noFill/>
          <a:ln/>
        </p:spPr>
        <p:txBody>
          <a:bodyPr wrap="square" lIns="0" tIns="0" rIns="0" bIns="0" rtlCol="0" anchor="ctr">
            <a:normAutofit/>
          </a:bodyPr>
          <a:lstStyle/>
          <a:p>
            <a:pPr marL="0" indent="0" algn="ctr">
              <a:buNone/>
            </a:pPr>
            <a:r>
              <a:rPr lang="en-US" sz="1100" b="1" dirty="0">
                <a:solidFill>
                  <a:srgbClr val="C5F26D"/>
                </a:solidFill>
                <a:latin typeface="Aptos" pitchFamily="34" charset="0"/>
                <a:ea typeface="Aptos" pitchFamily="34" charset="-122"/>
                <a:cs typeface="Aptos" pitchFamily="34" charset="-120"/>
              </a:rPr>
              <a:t>1</a:t>
            </a:r>
            <a:endParaRPr lang="en-US" sz="1100" dirty="0"/>
          </a:p>
        </p:txBody>
      </p:sp>
      <p:sp>
        <p:nvSpPr>
          <p:cNvPr id="26" name="Text 24"/>
          <p:cNvSpPr/>
          <p:nvPr/>
        </p:nvSpPr>
        <p:spPr>
          <a:xfrm>
            <a:off x="1316736" y="4096512"/>
            <a:ext cx="1645920" cy="548640"/>
          </a:xfrm>
          <a:prstGeom prst="rect">
            <a:avLst/>
          </a:prstGeom>
          <a:noFill/>
          <a:ln/>
        </p:spPr>
        <p:txBody>
          <a:bodyPr wrap="square" lIns="0" tIns="0" rIns="0" bIns="0" rtlCol="0" anchor="ctr">
            <a:normAutofit/>
          </a:bodyPr>
          <a:lstStyle/>
          <a:p>
            <a:pPr marL="0" indent="0">
              <a:buNone/>
            </a:pPr>
            <a:r>
              <a:rPr lang="en-US" sz="1020" dirty="0">
                <a:solidFill>
                  <a:srgbClr val="F3F5F1"/>
                </a:solidFill>
                <a:latin typeface="Aptos" pitchFamily="34" charset="0"/>
                <a:ea typeface="Aptos" pitchFamily="34" charset="-122"/>
                <a:cs typeface="Aptos" pitchFamily="34" charset="-120"/>
              </a:rPr>
              <a:t>Customer submits checkout.</a:t>
            </a:r>
            <a:endParaRPr lang="en-US" sz="1020" dirty="0"/>
          </a:p>
        </p:txBody>
      </p:sp>
      <p:sp>
        <p:nvSpPr>
          <p:cNvPr id="27" name="Shape 25"/>
          <p:cNvSpPr/>
          <p:nvPr/>
        </p:nvSpPr>
        <p:spPr>
          <a:xfrm>
            <a:off x="3182112" y="4443984"/>
            <a:ext cx="256032" cy="0"/>
          </a:xfrm>
          <a:prstGeom prst="line">
            <a:avLst/>
          </a:prstGeom>
          <a:noFill/>
          <a:ln w="17780">
            <a:solidFill>
              <a:srgbClr val="C5F26D"/>
            </a:solidFill>
            <a:prstDash val="solid"/>
            <a:headEnd type="none"/>
            <a:tailEnd type="none"/>
          </a:ln>
        </p:spPr>
      </p:sp>
      <p:sp>
        <p:nvSpPr>
          <p:cNvPr id="28" name="Shape 26"/>
          <p:cNvSpPr/>
          <p:nvPr/>
        </p:nvSpPr>
        <p:spPr>
          <a:xfrm>
            <a:off x="3511296" y="3977640"/>
            <a:ext cx="2395728" cy="932688"/>
          </a:xfrm>
          <a:prstGeom prst="roundRect">
            <a:avLst>
              <a:gd name="adj" fmla="val 11765"/>
            </a:avLst>
          </a:prstGeom>
          <a:solidFill>
            <a:srgbClr val="141A17"/>
          </a:solidFill>
          <a:ln w="12700">
            <a:solidFill>
              <a:srgbClr val="141A17">
                <a:alpha val="0"/>
              </a:srgbClr>
            </a:solidFill>
            <a:prstDash val="solid"/>
          </a:ln>
        </p:spPr>
      </p:sp>
      <p:sp>
        <p:nvSpPr>
          <p:cNvPr id="29" name="Shape 27"/>
          <p:cNvSpPr/>
          <p:nvPr/>
        </p:nvSpPr>
        <p:spPr>
          <a:xfrm>
            <a:off x="3675888" y="4142232"/>
            <a:ext cx="292608" cy="292608"/>
          </a:xfrm>
          <a:prstGeom prst="ellipse">
            <a:avLst/>
          </a:prstGeom>
          <a:solidFill>
            <a:srgbClr val="202923"/>
          </a:solidFill>
          <a:ln w="12700">
            <a:solidFill>
              <a:srgbClr val="202923">
                <a:alpha val="0"/>
              </a:srgbClr>
            </a:solidFill>
            <a:prstDash val="solid"/>
          </a:ln>
        </p:spPr>
      </p:sp>
      <p:sp>
        <p:nvSpPr>
          <p:cNvPr id="30" name="Text 28"/>
          <p:cNvSpPr/>
          <p:nvPr/>
        </p:nvSpPr>
        <p:spPr>
          <a:xfrm>
            <a:off x="3675888" y="4169664"/>
            <a:ext cx="292608" cy="182880"/>
          </a:xfrm>
          <a:prstGeom prst="rect">
            <a:avLst/>
          </a:prstGeom>
          <a:noFill/>
          <a:ln/>
        </p:spPr>
        <p:txBody>
          <a:bodyPr wrap="square" lIns="0" tIns="0" rIns="0" bIns="0" rtlCol="0" anchor="ctr">
            <a:normAutofit/>
          </a:bodyPr>
          <a:lstStyle/>
          <a:p>
            <a:pPr marL="0" indent="0" algn="ctr">
              <a:buNone/>
            </a:pPr>
            <a:r>
              <a:rPr lang="en-US" sz="1100" b="1" dirty="0">
                <a:solidFill>
                  <a:srgbClr val="C5F26D"/>
                </a:solidFill>
                <a:latin typeface="Aptos" pitchFamily="34" charset="0"/>
                <a:ea typeface="Aptos" pitchFamily="34" charset="-122"/>
                <a:cs typeface="Aptos" pitchFamily="34" charset="-120"/>
              </a:rPr>
              <a:t>2</a:t>
            </a:r>
            <a:endParaRPr lang="en-US" sz="1100" dirty="0"/>
          </a:p>
        </p:txBody>
      </p:sp>
      <p:sp>
        <p:nvSpPr>
          <p:cNvPr id="31" name="Text 29"/>
          <p:cNvSpPr/>
          <p:nvPr/>
        </p:nvSpPr>
        <p:spPr>
          <a:xfrm>
            <a:off x="4078224" y="4096512"/>
            <a:ext cx="1645920" cy="548640"/>
          </a:xfrm>
          <a:prstGeom prst="rect">
            <a:avLst/>
          </a:prstGeom>
          <a:noFill/>
          <a:ln/>
        </p:spPr>
        <p:txBody>
          <a:bodyPr wrap="square" lIns="0" tIns="0" rIns="0" bIns="0" rtlCol="0" anchor="ctr">
            <a:normAutofit/>
          </a:bodyPr>
          <a:lstStyle/>
          <a:p>
            <a:pPr marL="0" indent="0">
              <a:buNone/>
            </a:pPr>
            <a:r>
              <a:rPr lang="en-US" sz="1020" dirty="0">
                <a:solidFill>
                  <a:srgbClr val="F3F5F1"/>
                </a:solidFill>
                <a:latin typeface="Aptos" pitchFamily="34" charset="0"/>
                <a:ea typeface="Aptos" pitchFamily="34" charset="-122"/>
                <a:cs typeface="Aptos" pitchFamily="34" charset="-120"/>
              </a:rPr>
              <a:t>Server creates an unpaid order.</a:t>
            </a:r>
            <a:endParaRPr lang="en-US" sz="1020" dirty="0"/>
          </a:p>
        </p:txBody>
      </p:sp>
      <p:sp>
        <p:nvSpPr>
          <p:cNvPr id="32" name="Shape 30"/>
          <p:cNvSpPr/>
          <p:nvPr/>
        </p:nvSpPr>
        <p:spPr>
          <a:xfrm>
            <a:off x="5943600" y="4443984"/>
            <a:ext cx="256032" cy="0"/>
          </a:xfrm>
          <a:prstGeom prst="line">
            <a:avLst/>
          </a:prstGeom>
          <a:noFill/>
          <a:ln w="17780">
            <a:solidFill>
              <a:srgbClr val="C5F26D"/>
            </a:solidFill>
            <a:prstDash val="solid"/>
            <a:headEnd type="none"/>
            <a:tailEnd type="none"/>
          </a:ln>
        </p:spPr>
      </p:sp>
      <p:sp>
        <p:nvSpPr>
          <p:cNvPr id="33" name="Shape 31"/>
          <p:cNvSpPr/>
          <p:nvPr/>
        </p:nvSpPr>
        <p:spPr>
          <a:xfrm>
            <a:off x="6272784" y="3977640"/>
            <a:ext cx="2395728" cy="932688"/>
          </a:xfrm>
          <a:prstGeom prst="roundRect">
            <a:avLst>
              <a:gd name="adj" fmla="val 11765"/>
            </a:avLst>
          </a:prstGeom>
          <a:solidFill>
            <a:srgbClr val="141A17"/>
          </a:solidFill>
          <a:ln w="12700">
            <a:solidFill>
              <a:srgbClr val="141A17">
                <a:alpha val="0"/>
              </a:srgbClr>
            </a:solidFill>
            <a:prstDash val="solid"/>
          </a:ln>
        </p:spPr>
      </p:sp>
      <p:sp>
        <p:nvSpPr>
          <p:cNvPr id="34" name="Shape 32"/>
          <p:cNvSpPr/>
          <p:nvPr/>
        </p:nvSpPr>
        <p:spPr>
          <a:xfrm>
            <a:off x="6437376" y="4142232"/>
            <a:ext cx="292608" cy="292608"/>
          </a:xfrm>
          <a:prstGeom prst="ellipse">
            <a:avLst/>
          </a:prstGeom>
          <a:solidFill>
            <a:srgbClr val="202923"/>
          </a:solidFill>
          <a:ln w="12700">
            <a:solidFill>
              <a:srgbClr val="202923">
                <a:alpha val="0"/>
              </a:srgbClr>
            </a:solidFill>
            <a:prstDash val="solid"/>
          </a:ln>
        </p:spPr>
      </p:sp>
      <p:sp>
        <p:nvSpPr>
          <p:cNvPr id="35" name="Text 33"/>
          <p:cNvSpPr/>
          <p:nvPr/>
        </p:nvSpPr>
        <p:spPr>
          <a:xfrm>
            <a:off x="6437376" y="4169664"/>
            <a:ext cx="292608" cy="182880"/>
          </a:xfrm>
          <a:prstGeom prst="rect">
            <a:avLst/>
          </a:prstGeom>
          <a:noFill/>
          <a:ln/>
        </p:spPr>
        <p:txBody>
          <a:bodyPr wrap="square" lIns="0" tIns="0" rIns="0" bIns="0" rtlCol="0" anchor="ctr">
            <a:normAutofit/>
          </a:bodyPr>
          <a:lstStyle/>
          <a:p>
            <a:pPr marL="0" indent="0" algn="ctr">
              <a:buNone/>
            </a:pPr>
            <a:r>
              <a:rPr lang="en-US" sz="1100" b="1" dirty="0">
                <a:solidFill>
                  <a:srgbClr val="C5F26D"/>
                </a:solidFill>
                <a:latin typeface="Aptos" pitchFamily="34" charset="0"/>
                <a:ea typeface="Aptos" pitchFamily="34" charset="-122"/>
                <a:cs typeface="Aptos" pitchFamily="34" charset="-120"/>
              </a:rPr>
              <a:t>3</a:t>
            </a:r>
            <a:endParaRPr lang="en-US" sz="1100" dirty="0"/>
          </a:p>
        </p:txBody>
      </p:sp>
      <p:sp>
        <p:nvSpPr>
          <p:cNvPr id="36" name="Text 34"/>
          <p:cNvSpPr/>
          <p:nvPr/>
        </p:nvSpPr>
        <p:spPr>
          <a:xfrm>
            <a:off x="6839712" y="4096512"/>
            <a:ext cx="1645920" cy="548640"/>
          </a:xfrm>
          <a:prstGeom prst="rect">
            <a:avLst/>
          </a:prstGeom>
          <a:noFill/>
          <a:ln/>
        </p:spPr>
        <p:txBody>
          <a:bodyPr wrap="square" lIns="0" tIns="0" rIns="0" bIns="0" rtlCol="0" anchor="ctr">
            <a:normAutofit/>
          </a:bodyPr>
          <a:lstStyle/>
          <a:p>
            <a:pPr marL="0" indent="0">
              <a:buNone/>
            </a:pPr>
            <a:r>
              <a:rPr lang="en-US" sz="1020" dirty="0">
                <a:solidFill>
                  <a:srgbClr val="F3F5F1"/>
                </a:solidFill>
                <a:latin typeface="Aptos" pitchFamily="34" charset="0"/>
                <a:ea typeface="Aptos" pitchFamily="34" charset="-122"/>
                <a:cs typeface="Aptos" pitchFamily="34" charset="-120"/>
              </a:rPr>
              <a:t>Stripe sends payment confirmation.</a:t>
            </a:r>
            <a:endParaRPr lang="en-US" sz="1020" dirty="0"/>
          </a:p>
        </p:txBody>
      </p:sp>
      <p:sp>
        <p:nvSpPr>
          <p:cNvPr id="37" name="Shape 35"/>
          <p:cNvSpPr/>
          <p:nvPr/>
        </p:nvSpPr>
        <p:spPr>
          <a:xfrm>
            <a:off x="8705088" y="4443984"/>
            <a:ext cx="256032" cy="0"/>
          </a:xfrm>
          <a:prstGeom prst="line">
            <a:avLst/>
          </a:prstGeom>
          <a:noFill/>
          <a:ln w="17780">
            <a:solidFill>
              <a:srgbClr val="C5F26D"/>
            </a:solidFill>
            <a:prstDash val="solid"/>
            <a:headEnd type="none"/>
            <a:tailEnd type="none"/>
          </a:ln>
        </p:spPr>
      </p:sp>
      <p:sp>
        <p:nvSpPr>
          <p:cNvPr id="38" name="Shape 36"/>
          <p:cNvSpPr/>
          <p:nvPr/>
        </p:nvSpPr>
        <p:spPr>
          <a:xfrm>
            <a:off x="9034272" y="3977640"/>
            <a:ext cx="2395728" cy="932688"/>
          </a:xfrm>
          <a:prstGeom prst="roundRect">
            <a:avLst>
              <a:gd name="adj" fmla="val 11765"/>
            </a:avLst>
          </a:prstGeom>
          <a:solidFill>
            <a:srgbClr val="141A17"/>
          </a:solidFill>
          <a:ln w="12700">
            <a:solidFill>
              <a:srgbClr val="141A17">
                <a:alpha val="0"/>
              </a:srgbClr>
            </a:solidFill>
            <a:prstDash val="solid"/>
          </a:ln>
        </p:spPr>
      </p:sp>
      <p:sp>
        <p:nvSpPr>
          <p:cNvPr id="39" name="Shape 37"/>
          <p:cNvSpPr/>
          <p:nvPr/>
        </p:nvSpPr>
        <p:spPr>
          <a:xfrm>
            <a:off x="9198864" y="4142232"/>
            <a:ext cx="292608" cy="292608"/>
          </a:xfrm>
          <a:prstGeom prst="ellipse">
            <a:avLst/>
          </a:prstGeom>
          <a:solidFill>
            <a:srgbClr val="C5F26D"/>
          </a:solidFill>
          <a:ln w="12700">
            <a:solidFill>
              <a:srgbClr val="C5F26D">
                <a:alpha val="0"/>
              </a:srgbClr>
            </a:solidFill>
            <a:prstDash val="solid"/>
          </a:ln>
        </p:spPr>
      </p:sp>
      <p:sp>
        <p:nvSpPr>
          <p:cNvPr id="40" name="Text 38"/>
          <p:cNvSpPr/>
          <p:nvPr/>
        </p:nvSpPr>
        <p:spPr>
          <a:xfrm>
            <a:off x="9198864" y="4169664"/>
            <a:ext cx="292608" cy="182880"/>
          </a:xfrm>
          <a:prstGeom prst="rect">
            <a:avLst/>
          </a:prstGeom>
          <a:noFill/>
          <a:ln/>
        </p:spPr>
        <p:txBody>
          <a:bodyPr wrap="square" lIns="0" tIns="0" rIns="0" bIns="0" rtlCol="0" anchor="ctr">
            <a:normAutofit/>
          </a:bodyPr>
          <a:lstStyle/>
          <a:p>
            <a:pPr marL="0" indent="0" algn="ctr">
              <a:buNone/>
            </a:pPr>
            <a:r>
              <a:rPr lang="en-US" sz="1100" b="1" dirty="0">
                <a:solidFill>
                  <a:srgbClr val="0B0F0D"/>
                </a:solidFill>
                <a:latin typeface="Aptos" pitchFamily="34" charset="0"/>
                <a:ea typeface="Aptos" pitchFamily="34" charset="-122"/>
                <a:cs typeface="Aptos" pitchFamily="34" charset="-120"/>
              </a:rPr>
              <a:t>4</a:t>
            </a:r>
            <a:endParaRPr lang="en-US" sz="1100" dirty="0"/>
          </a:p>
        </p:txBody>
      </p:sp>
      <p:sp>
        <p:nvSpPr>
          <p:cNvPr id="41" name="Text 39"/>
          <p:cNvSpPr/>
          <p:nvPr/>
        </p:nvSpPr>
        <p:spPr>
          <a:xfrm>
            <a:off x="9601200" y="4096512"/>
            <a:ext cx="1645920" cy="548640"/>
          </a:xfrm>
          <a:prstGeom prst="rect">
            <a:avLst/>
          </a:prstGeom>
          <a:noFill/>
          <a:ln/>
        </p:spPr>
        <p:txBody>
          <a:bodyPr wrap="square" lIns="0" tIns="0" rIns="0" bIns="0" rtlCol="0" anchor="ctr">
            <a:normAutofit/>
          </a:bodyPr>
          <a:lstStyle/>
          <a:p>
            <a:pPr marL="0" indent="0">
              <a:buNone/>
            </a:pPr>
            <a:r>
              <a:rPr lang="en-US" sz="1020" dirty="0">
                <a:solidFill>
                  <a:srgbClr val="F3F5F1"/>
                </a:solidFill>
                <a:latin typeface="Aptos" pitchFamily="34" charset="0"/>
                <a:ea typeface="Aptos" pitchFamily="34" charset="-122"/>
                <a:cs typeface="Aptos" pitchFamily="34" charset="-120"/>
              </a:rPr>
              <a:t>Server marks it Paid and updates stock.</a:t>
            </a:r>
            <a:endParaRPr lang="en-US" sz="1020" dirty="0"/>
          </a:p>
        </p:txBody>
      </p:sp>
      <p:sp>
        <p:nvSpPr>
          <p:cNvPr id="42" name="Shape 40"/>
          <p:cNvSpPr/>
          <p:nvPr/>
        </p:nvSpPr>
        <p:spPr>
          <a:xfrm>
            <a:off x="749808" y="5257800"/>
            <a:ext cx="10680192" cy="438912"/>
          </a:xfrm>
          <a:prstGeom prst="roundRect">
            <a:avLst>
              <a:gd name="adj" fmla="val 20833"/>
            </a:avLst>
          </a:prstGeom>
          <a:solidFill>
            <a:srgbClr val="20251F"/>
          </a:solidFill>
          <a:ln w="12700">
            <a:solidFill>
              <a:srgbClr val="20251F">
                <a:alpha val="0"/>
              </a:srgbClr>
            </a:solidFill>
            <a:prstDash val="solid"/>
          </a:ln>
        </p:spPr>
      </p:sp>
      <p:sp>
        <p:nvSpPr>
          <p:cNvPr id="43" name="Text 41"/>
          <p:cNvSpPr/>
          <p:nvPr/>
        </p:nvSpPr>
        <p:spPr>
          <a:xfrm>
            <a:off x="932688" y="5367528"/>
            <a:ext cx="10287000" cy="201168"/>
          </a:xfrm>
          <a:prstGeom prst="rect">
            <a:avLst/>
          </a:prstGeom>
          <a:noFill/>
          <a:ln/>
        </p:spPr>
        <p:txBody>
          <a:bodyPr wrap="square" lIns="0" tIns="0" rIns="0" bIns="0" rtlCol="0" anchor="ctr">
            <a:normAutofit/>
          </a:bodyPr>
          <a:lstStyle/>
          <a:p>
            <a:pPr marL="0" indent="0" algn="ctr">
              <a:buNone/>
            </a:pPr>
            <a:r>
              <a:rPr lang="en-US" sz="1070" b="1" dirty="0">
                <a:solidFill>
                  <a:srgbClr val="C5F26D"/>
                </a:solidFill>
                <a:latin typeface="Aptos" pitchFamily="34" charset="0"/>
                <a:ea typeface="Aptos" pitchFamily="34" charset="-122"/>
                <a:cs typeface="Aptos" pitchFamily="34" charset="-120"/>
              </a:rPr>
              <a:t>If payment fails, the order stays Unpaid. Stock changes only after a confirmed payment; cancelled orders restore stock.</a:t>
            </a:r>
            <a:endParaRPr lang="en-US" sz="1070" dirty="0"/>
          </a:p>
        </p:txBody>
      </p:sp>
      <p:sp>
        <p:nvSpPr>
          <p:cNvPr id="44"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06 / TEAM SETUP</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Three roles, one shared product</a:t>
            </a:r>
            <a:endParaRPr lang="en-US" sz="2700" dirty="0"/>
          </a:p>
        </p:txBody>
      </p:sp>
      <p:sp>
        <p:nvSpPr>
          <p:cNvPr id="4" name="Text 2"/>
          <p:cNvSpPr/>
          <p:nvPr/>
        </p:nvSpPr>
        <p:spPr>
          <a:xfrm>
            <a:off x="585216" y="1225296"/>
            <a:ext cx="10881360" cy="320040"/>
          </a:xfrm>
          <a:prstGeom prst="rect">
            <a:avLst/>
          </a:prstGeom>
          <a:noFill/>
          <a:ln/>
        </p:spPr>
        <p:txBody>
          <a:bodyPr wrap="square" lIns="0" tIns="0" rIns="0" bIns="0" rtlCol="0" anchor="ctr">
            <a:normAutofit/>
          </a:bodyPr>
          <a:lstStyle/>
          <a:p>
            <a:pPr marL="0" indent="0">
              <a:buNone/>
            </a:pPr>
            <a:r>
              <a:rPr lang="en-US" sz="1250" dirty="0">
                <a:solidFill>
                  <a:srgbClr val="A8B1AB"/>
                </a:solidFill>
                <a:latin typeface="Aptos" pitchFamily="34" charset="0"/>
                <a:ea typeface="Aptos" pitchFamily="34" charset="-122"/>
                <a:cs typeface="Aptos" pitchFamily="34" charset="-120"/>
              </a:rPr>
              <a:t>Each person leads a clear area; the team will review and integrate the full store together.</a:t>
            </a:r>
            <a:endParaRPr lang="en-US" sz="1250" dirty="0"/>
          </a:p>
        </p:txBody>
      </p:sp>
      <p:sp>
        <p:nvSpPr>
          <p:cNvPr id="5" name="Shape 3"/>
          <p:cNvSpPr/>
          <p:nvPr/>
        </p:nvSpPr>
        <p:spPr>
          <a:xfrm>
            <a:off x="566928" y="1847088"/>
            <a:ext cx="3584448" cy="3840480"/>
          </a:xfrm>
          <a:prstGeom prst="roundRect">
            <a:avLst>
              <a:gd name="adj" fmla="val 3571"/>
            </a:avLst>
          </a:prstGeom>
          <a:solidFill>
            <a:srgbClr val="141A17"/>
          </a:solidFill>
          <a:ln w="12700">
            <a:solidFill>
              <a:srgbClr val="141A17">
                <a:alpha val="0"/>
              </a:srgbClr>
            </a:solidFill>
            <a:prstDash val="solid"/>
          </a:ln>
        </p:spPr>
      </p:sp>
      <p:sp>
        <p:nvSpPr>
          <p:cNvPr id="6" name="Shape 4"/>
          <p:cNvSpPr/>
          <p:nvPr/>
        </p:nvSpPr>
        <p:spPr>
          <a:xfrm>
            <a:off x="566928" y="1847088"/>
            <a:ext cx="3584448" cy="82296"/>
          </a:xfrm>
          <a:prstGeom prst="roundRect">
            <a:avLst>
              <a:gd name="adj" fmla="val 22222"/>
            </a:avLst>
          </a:prstGeom>
          <a:solidFill>
            <a:srgbClr val="8AC6E8"/>
          </a:solidFill>
          <a:ln w="12700">
            <a:solidFill>
              <a:srgbClr val="8AC6E8">
                <a:alpha val="0"/>
              </a:srgbClr>
            </a:solidFill>
            <a:prstDash val="solid"/>
          </a:ln>
        </p:spPr>
      </p:sp>
      <p:pic>
        <p:nvPicPr>
          <p:cNvPr id="300" name="Photo M1" descr="Photo of team member M1"/>
          <p:cNvPicPr>
            <a:picLocks noChangeAspect="1"/>
          </p:cNvPicPr>
          <p:nvPr/>
        </p:nvPicPr>
        <p:blipFill>
          <a:blip r:embed="rId3"/>
          <a:stretch>
            <a:fillRect/>
          </a:stretch>
        </p:blipFill>
        <p:spPr>
          <a:xfrm>
            <a:off x="795528" y="2121408"/>
            <a:ext cx="585216" cy="585216"/>
          </a:xfrm>
          <a:prstGeom prst="ellipse">
            <a:avLst/>
          </a:prstGeom>
        </p:spPr>
      </p:pic>
      <p:sp>
        <p:nvSpPr>
          <p:cNvPr id="9" name="Text 7"/>
          <p:cNvSpPr/>
          <p:nvPr/>
        </p:nvSpPr>
        <p:spPr>
          <a:xfrm>
            <a:off x="1481328" y="2148840"/>
            <a:ext cx="2487168" cy="283464"/>
          </a:xfrm>
          <a:prstGeom prst="rect">
            <a:avLst/>
          </a:prstGeom>
          <a:noFill/>
          <a:ln/>
        </p:spPr>
        <p:txBody>
          <a:bodyPr wrap="square" lIns="0" tIns="0" rIns="0" bIns="0" rtlCol="0" anchor="ctr">
            <a:normAutofit/>
          </a:bodyPr>
          <a:lstStyle/>
          <a:p>
            <a:pPr marL="0" indent="0">
              <a:buNone/>
            </a:pPr>
            <a:r>
              <a:rPr lang="en-US" sz="1650" b="1" dirty="0" err="1">
                <a:solidFill>
                  <a:srgbClr val="F3F5F1"/>
                </a:solidFill>
                <a:latin typeface="Aptos" pitchFamily="34" charset="0"/>
                <a:ea typeface="Aptos" pitchFamily="34" charset="-122"/>
              </a:rPr>
              <a:t>Peca</a:t>
            </a:r>
            <a:r>
              <a:rPr lang="en-US" sz="1650" b="1" dirty="0">
                <a:solidFill>
                  <a:srgbClr val="F3F5F1"/>
                </a:solidFill>
                <a:latin typeface="Aptos" pitchFamily="34" charset="0"/>
                <a:ea typeface="Aptos" pitchFamily="34" charset="-122"/>
              </a:rPr>
              <a:t> Ana Maria Cristina</a:t>
            </a:r>
            <a:endParaRPr lang="en-US" sz="1650" dirty="0"/>
          </a:p>
        </p:txBody>
      </p:sp>
      <p:sp>
        <p:nvSpPr>
          <p:cNvPr id="10" name="Text 8"/>
          <p:cNvSpPr/>
          <p:nvPr/>
        </p:nvSpPr>
        <p:spPr>
          <a:xfrm>
            <a:off x="1481328" y="2532888"/>
            <a:ext cx="2505456" cy="320040"/>
          </a:xfrm>
          <a:prstGeom prst="rect">
            <a:avLst/>
          </a:prstGeom>
          <a:noFill/>
          <a:ln/>
        </p:spPr>
        <p:txBody>
          <a:bodyPr wrap="square" lIns="0" tIns="0" rIns="0" bIns="0" rtlCol="0" anchor="ctr">
            <a:normAutofit/>
          </a:bodyPr>
          <a:lstStyle/>
          <a:p>
            <a:pPr marL="0" indent="0">
              <a:buNone/>
            </a:pPr>
            <a:r>
              <a:rPr lang="en-US" sz="810" b="1" kern="0" spc="65" dirty="0">
                <a:solidFill>
                  <a:srgbClr val="8AC6E8"/>
                </a:solidFill>
                <a:latin typeface="Aptos" pitchFamily="34" charset="0"/>
                <a:ea typeface="Aptos" pitchFamily="34" charset="-122"/>
                <a:cs typeface="Aptos" pitchFamily="34" charset="-120"/>
              </a:rPr>
              <a:t>FRONTEND &amp; PRODUCT DISCOVERY</a:t>
            </a:r>
            <a:endParaRPr lang="en-US" sz="810" dirty="0"/>
          </a:p>
        </p:txBody>
      </p:sp>
      <p:sp>
        <p:nvSpPr>
          <p:cNvPr id="11" name="Shape 9"/>
          <p:cNvSpPr/>
          <p:nvPr/>
        </p:nvSpPr>
        <p:spPr>
          <a:xfrm>
            <a:off x="795528" y="2980944"/>
            <a:ext cx="3127248" cy="0"/>
          </a:xfrm>
          <a:prstGeom prst="line">
            <a:avLst/>
          </a:prstGeom>
          <a:noFill/>
          <a:ln w="12700">
            <a:solidFill>
              <a:srgbClr val="303A34"/>
            </a:solidFill>
            <a:prstDash val="solid"/>
            <a:headEnd type="none"/>
            <a:tailEnd type="none"/>
          </a:ln>
        </p:spPr>
      </p:sp>
      <p:sp>
        <p:nvSpPr>
          <p:cNvPr id="12" name="Shape 10"/>
          <p:cNvSpPr/>
          <p:nvPr/>
        </p:nvSpPr>
        <p:spPr>
          <a:xfrm>
            <a:off x="822960" y="3227832"/>
            <a:ext cx="73152" cy="73152"/>
          </a:xfrm>
          <a:prstGeom prst="ellipse">
            <a:avLst/>
          </a:prstGeom>
          <a:solidFill>
            <a:srgbClr val="8AC6E8"/>
          </a:solidFill>
          <a:ln w="12700">
            <a:solidFill>
              <a:srgbClr val="8AC6E8">
                <a:alpha val="0"/>
              </a:srgbClr>
            </a:solidFill>
            <a:prstDash val="solid"/>
          </a:ln>
        </p:spPr>
      </p:sp>
      <p:sp>
        <p:nvSpPr>
          <p:cNvPr id="13" name="Text 11"/>
          <p:cNvSpPr/>
          <p:nvPr/>
        </p:nvSpPr>
        <p:spPr>
          <a:xfrm>
            <a:off x="1014984" y="3163824"/>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Catalog, categories and product pages (A1)</a:t>
            </a:r>
            <a:endParaRPr lang="en-US" sz="1030" dirty="0"/>
          </a:p>
        </p:txBody>
      </p:sp>
      <p:sp>
        <p:nvSpPr>
          <p:cNvPr id="14" name="Shape 12"/>
          <p:cNvSpPr/>
          <p:nvPr/>
        </p:nvSpPr>
        <p:spPr>
          <a:xfrm>
            <a:off x="822960" y="3703320"/>
            <a:ext cx="73152" cy="73152"/>
          </a:xfrm>
          <a:prstGeom prst="ellipse">
            <a:avLst/>
          </a:prstGeom>
          <a:solidFill>
            <a:srgbClr val="8AC6E8"/>
          </a:solidFill>
          <a:ln w="12700">
            <a:solidFill>
              <a:srgbClr val="8AC6E8">
                <a:alpha val="0"/>
              </a:srgbClr>
            </a:solidFill>
            <a:prstDash val="solid"/>
          </a:ln>
        </p:spPr>
      </p:sp>
      <p:sp>
        <p:nvSpPr>
          <p:cNvPr id="15" name="Text 13"/>
          <p:cNvSpPr/>
          <p:nvPr/>
        </p:nvSpPr>
        <p:spPr>
          <a:xfrm>
            <a:off x="1014984" y="3639312"/>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Basic and filtered search (A2, B1)</a:t>
            </a:r>
            <a:endParaRPr lang="en-US" sz="1030" dirty="0"/>
          </a:p>
        </p:txBody>
      </p:sp>
      <p:sp>
        <p:nvSpPr>
          <p:cNvPr id="16" name="Shape 14"/>
          <p:cNvSpPr/>
          <p:nvPr/>
        </p:nvSpPr>
        <p:spPr>
          <a:xfrm>
            <a:off x="822960" y="4178808"/>
            <a:ext cx="73152" cy="73152"/>
          </a:xfrm>
          <a:prstGeom prst="ellipse">
            <a:avLst/>
          </a:prstGeom>
          <a:solidFill>
            <a:srgbClr val="8AC6E8"/>
          </a:solidFill>
          <a:ln w="12700">
            <a:solidFill>
              <a:srgbClr val="8AC6E8">
                <a:alpha val="0"/>
              </a:srgbClr>
            </a:solidFill>
            <a:prstDash val="solid"/>
          </a:ln>
        </p:spPr>
      </p:sp>
      <p:sp>
        <p:nvSpPr>
          <p:cNvPr id="17" name="Text 15"/>
          <p:cNvSpPr/>
          <p:nvPr/>
        </p:nvSpPr>
        <p:spPr>
          <a:xfrm>
            <a:off x="1014984" y="4114800"/>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Responsive pages for mobile screens (A11)</a:t>
            </a:r>
            <a:endParaRPr lang="en-US" sz="1030" dirty="0"/>
          </a:p>
        </p:txBody>
      </p:sp>
      <p:sp>
        <p:nvSpPr>
          <p:cNvPr id="18" name="Shape 16"/>
          <p:cNvSpPr/>
          <p:nvPr/>
        </p:nvSpPr>
        <p:spPr>
          <a:xfrm>
            <a:off x="822960" y="4654296"/>
            <a:ext cx="73152" cy="73152"/>
          </a:xfrm>
          <a:prstGeom prst="ellipse">
            <a:avLst/>
          </a:prstGeom>
          <a:solidFill>
            <a:srgbClr val="8AC6E8"/>
          </a:solidFill>
          <a:ln w="12700">
            <a:solidFill>
              <a:srgbClr val="8AC6E8">
                <a:alpha val="0"/>
              </a:srgbClr>
            </a:solidFill>
            <a:prstDash val="solid"/>
          </a:ln>
        </p:spPr>
      </p:sp>
      <p:sp>
        <p:nvSpPr>
          <p:cNvPr id="19" name="Text 17"/>
          <p:cNvSpPr/>
          <p:nvPr/>
        </p:nvSpPr>
        <p:spPr>
          <a:xfrm>
            <a:off x="1014984" y="4590288"/>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Wishlist screens with Member 3 (B7)</a:t>
            </a:r>
            <a:endParaRPr lang="en-US" sz="1030" dirty="0"/>
          </a:p>
        </p:txBody>
      </p:sp>
      <p:sp>
        <p:nvSpPr>
          <p:cNvPr id="20" name="Shape 18"/>
          <p:cNvSpPr/>
          <p:nvPr/>
        </p:nvSpPr>
        <p:spPr>
          <a:xfrm>
            <a:off x="4315968" y="1847088"/>
            <a:ext cx="3584448" cy="3840480"/>
          </a:xfrm>
          <a:prstGeom prst="roundRect">
            <a:avLst>
              <a:gd name="adj" fmla="val 3571"/>
            </a:avLst>
          </a:prstGeom>
          <a:solidFill>
            <a:srgbClr val="141A17"/>
          </a:solidFill>
          <a:ln w="12700">
            <a:solidFill>
              <a:srgbClr val="141A17">
                <a:alpha val="0"/>
              </a:srgbClr>
            </a:solidFill>
            <a:prstDash val="solid"/>
          </a:ln>
        </p:spPr>
      </p:sp>
      <p:sp>
        <p:nvSpPr>
          <p:cNvPr id="21" name="Shape 19"/>
          <p:cNvSpPr/>
          <p:nvPr/>
        </p:nvSpPr>
        <p:spPr>
          <a:xfrm>
            <a:off x="4315968" y="1847088"/>
            <a:ext cx="3584448" cy="82296"/>
          </a:xfrm>
          <a:prstGeom prst="roundRect">
            <a:avLst>
              <a:gd name="adj" fmla="val 22222"/>
            </a:avLst>
          </a:prstGeom>
          <a:solidFill>
            <a:srgbClr val="C5F26D"/>
          </a:solidFill>
          <a:ln w="12700">
            <a:solidFill>
              <a:srgbClr val="C5F26D">
                <a:alpha val="0"/>
              </a:srgbClr>
            </a:solidFill>
            <a:prstDash val="solid"/>
          </a:ln>
        </p:spPr>
      </p:sp>
      <p:pic>
        <p:nvPicPr>
          <p:cNvPr id="301" name="Photo M2" descr="Photo of team member M2"/>
          <p:cNvPicPr>
            <a:picLocks noChangeAspect="1"/>
          </p:cNvPicPr>
          <p:nvPr/>
        </p:nvPicPr>
        <p:blipFill>
          <a:blip r:embed="rId4"/>
          <a:stretch>
            <a:fillRect/>
          </a:stretch>
        </p:blipFill>
        <p:spPr>
          <a:xfrm>
            <a:off x="4544568" y="2121408"/>
            <a:ext cx="585216" cy="585216"/>
          </a:xfrm>
          <a:prstGeom prst="ellipse">
            <a:avLst/>
          </a:prstGeom>
        </p:spPr>
      </p:pic>
      <p:sp>
        <p:nvSpPr>
          <p:cNvPr id="24" name="Text 22"/>
          <p:cNvSpPr/>
          <p:nvPr/>
        </p:nvSpPr>
        <p:spPr>
          <a:xfrm>
            <a:off x="5230368" y="2148840"/>
            <a:ext cx="2487168" cy="283464"/>
          </a:xfrm>
          <a:prstGeom prst="rect">
            <a:avLst/>
          </a:prstGeom>
          <a:noFill/>
          <a:ln/>
        </p:spPr>
        <p:txBody>
          <a:bodyPr wrap="square" lIns="0" tIns="0" rIns="0" bIns="0" rtlCol="0" anchor="ctr">
            <a:normAutofit/>
          </a:bodyPr>
          <a:lstStyle/>
          <a:p>
            <a:pPr marL="0" indent="0">
              <a:buNone/>
            </a:pPr>
            <a:r>
              <a:rPr lang="en-US" sz="1650" b="1" dirty="0" err="1">
                <a:solidFill>
                  <a:srgbClr val="F3F5F1"/>
                </a:solidFill>
                <a:latin typeface="Aptos" pitchFamily="34" charset="0"/>
                <a:ea typeface="Aptos" pitchFamily="34" charset="-122"/>
              </a:rPr>
              <a:t>Ploae</a:t>
            </a:r>
            <a:r>
              <a:rPr lang="en-US" sz="1650" b="1" dirty="0">
                <a:solidFill>
                  <a:srgbClr val="F3F5F1"/>
                </a:solidFill>
                <a:latin typeface="Aptos" pitchFamily="34" charset="0"/>
                <a:ea typeface="Aptos" pitchFamily="34" charset="-122"/>
              </a:rPr>
              <a:t> Darius Adonis </a:t>
            </a:r>
            <a:r>
              <a:rPr lang="en-US" sz="1650" b="1" dirty="0" err="1">
                <a:solidFill>
                  <a:srgbClr val="F3F5F1"/>
                </a:solidFill>
                <a:latin typeface="Aptos" pitchFamily="34" charset="0"/>
                <a:ea typeface="Aptos" pitchFamily="34" charset="-122"/>
              </a:rPr>
              <a:t>Ionuț</a:t>
            </a:r>
            <a:endParaRPr lang="en-US" sz="1650" dirty="0"/>
          </a:p>
        </p:txBody>
      </p:sp>
      <p:sp>
        <p:nvSpPr>
          <p:cNvPr id="25" name="Text 23"/>
          <p:cNvSpPr/>
          <p:nvPr/>
        </p:nvSpPr>
        <p:spPr>
          <a:xfrm>
            <a:off x="5230368" y="2532888"/>
            <a:ext cx="2505456" cy="320040"/>
          </a:xfrm>
          <a:prstGeom prst="rect">
            <a:avLst/>
          </a:prstGeom>
          <a:noFill/>
          <a:ln/>
        </p:spPr>
        <p:txBody>
          <a:bodyPr wrap="square" lIns="0" tIns="0" rIns="0" bIns="0" rtlCol="0" anchor="ctr">
            <a:normAutofit/>
          </a:bodyPr>
          <a:lstStyle/>
          <a:p>
            <a:pPr marL="0" indent="0">
              <a:buNone/>
            </a:pPr>
            <a:r>
              <a:rPr lang="en-US" sz="810" b="1" kern="0" spc="65" dirty="0">
                <a:solidFill>
                  <a:srgbClr val="C5F26D"/>
                </a:solidFill>
                <a:latin typeface="Aptos" pitchFamily="34" charset="0"/>
                <a:ea typeface="Aptos" pitchFamily="34" charset="-122"/>
                <a:cs typeface="Aptos" pitchFamily="34" charset="-120"/>
              </a:rPr>
              <a:t>BACKEND, CART &amp; PAYMENTS</a:t>
            </a:r>
            <a:endParaRPr lang="en-US" sz="810" dirty="0"/>
          </a:p>
        </p:txBody>
      </p:sp>
      <p:sp>
        <p:nvSpPr>
          <p:cNvPr id="26" name="Shape 24"/>
          <p:cNvSpPr/>
          <p:nvPr/>
        </p:nvSpPr>
        <p:spPr>
          <a:xfrm>
            <a:off x="4544568" y="2980944"/>
            <a:ext cx="3127248" cy="0"/>
          </a:xfrm>
          <a:prstGeom prst="line">
            <a:avLst/>
          </a:prstGeom>
          <a:noFill/>
          <a:ln w="12700">
            <a:solidFill>
              <a:srgbClr val="303A34"/>
            </a:solidFill>
            <a:prstDash val="solid"/>
            <a:headEnd type="none"/>
            <a:tailEnd type="none"/>
          </a:ln>
        </p:spPr>
      </p:sp>
      <p:sp>
        <p:nvSpPr>
          <p:cNvPr id="27" name="Shape 25"/>
          <p:cNvSpPr/>
          <p:nvPr/>
        </p:nvSpPr>
        <p:spPr>
          <a:xfrm>
            <a:off x="4572000" y="3227832"/>
            <a:ext cx="73152" cy="73152"/>
          </a:xfrm>
          <a:prstGeom prst="ellipse">
            <a:avLst/>
          </a:prstGeom>
          <a:solidFill>
            <a:srgbClr val="C5F26D"/>
          </a:solidFill>
          <a:ln w="12700">
            <a:solidFill>
              <a:srgbClr val="C5F26D">
                <a:alpha val="0"/>
              </a:srgbClr>
            </a:solidFill>
            <a:prstDash val="solid"/>
          </a:ln>
        </p:spPr>
      </p:sp>
      <p:sp>
        <p:nvSpPr>
          <p:cNvPr id="28" name="Text 26"/>
          <p:cNvSpPr/>
          <p:nvPr/>
        </p:nvSpPr>
        <p:spPr>
          <a:xfrm>
            <a:off x="4764024" y="3163824"/>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Cart totals and stock rules on the server (A3, A7)</a:t>
            </a:r>
            <a:endParaRPr lang="en-US" sz="1030" dirty="0"/>
          </a:p>
        </p:txBody>
      </p:sp>
      <p:sp>
        <p:nvSpPr>
          <p:cNvPr id="29" name="Shape 27"/>
          <p:cNvSpPr/>
          <p:nvPr/>
        </p:nvSpPr>
        <p:spPr>
          <a:xfrm>
            <a:off x="4572000" y="3703320"/>
            <a:ext cx="73152" cy="73152"/>
          </a:xfrm>
          <a:prstGeom prst="ellipse">
            <a:avLst/>
          </a:prstGeom>
          <a:solidFill>
            <a:srgbClr val="C5F26D"/>
          </a:solidFill>
          <a:ln w="12700">
            <a:solidFill>
              <a:srgbClr val="C5F26D">
                <a:alpha val="0"/>
              </a:srgbClr>
            </a:solidFill>
            <a:prstDash val="solid"/>
          </a:ln>
        </p:spPr>
      </p:sp>
      <p:sp>
        <p:nvSpPr>
          <p:cNvPr id="30" name="Text 28"/>
          <p:cNvSpPr/>
          <p:nvPr/>
        </p:nvSpPr>
        <p:spPr>
          <a:xfrm>
            <a:off x="4764024" y="3639312"/>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Checkout rules and Stripe confirmation (A5, A6)</a:t>
            </a:r>
            <a:endParaRPr lang="en-US" sz="1030" dirty="0"/>
          </a:p>
        </p:txBody>
      </p:sp>
      <p:sp>
        <p:nvSpPr>
          <p:cNvPr id="31" name="Shape 29"/>
          <p:cNvSpPr/>
          <p:nvPr/>
        </p:nvSpPr>
        <p:spPr>
          <a:xfrm>
            <a:off x="4572000" y="4178808"/>
            <a:ext cx="73152" cy="73152"/>
          </a:xfrm>
          <a:prstGeom prst="ellipse">
            <a:avLst/>
          </a:prstGeom>
          <a:solidFill>
            <a:srgbClr val="C5F26D"/>
          </a:solidFill>
          <a:ln w="12700">
            <a:solidFill>
              <a:srgbClr val="C5F26D">
                <a:alpha val="0"/>
              </a:srgbClr>
            </a:solidFill>
            <a:prstDash val="solid"/>
          </a:ln>
        </p:spPr>
      </p:sp>
      <p:sp>
        <p:nvSpPr>
          <p:cNvPr id="32" name="Text 30"/>
          <p:cNvSpPr/>
          <p:nvPr/>
        </p:nvSpPr>
        <p:spPr>
          <a:xfrm>
            <a:off x="4764024" y="4114800"/>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Discount code checks and usage limits (B5)</a:t>
            </a:r>
            <a:endParaRPr lang="en-US" sz="1030" dirty="0"/>
          </a:p>
        </p:txBody>
      </p:sp>
      <p:sp>
        <p:nvSpPr>
          <p:cNvPr id="33" name="Shape 31"/>
          <p:cNvSpPr/>
          <p:nvPr/>
        </p:nvSpPr>
        <p:spPr>
          <a:xfrm>
            <a:off x="4572000" y="4654296"/>
            <a:ext cx="73152" cy="73152"/>
          </a:xfrm>
          <a:prstGeom prst="ellipse">
            <a:avLst/>
          </a:prstGeom>
          <a:solidFill>
            <a:srgbClr val="C5F26D"/>
          </a:solidFill>
          <a:ln w="12700">
            <a:solidFill>
              <a:srgbClr val="C5F26D">
                <a:alpha val="0"/>
              </a:srgbClr>
            </a:solidFill>
            <a:prstDash val="solid"/>
          </a:ln>
        </p:spPr>
      </p:sp>
      <p:sp>
        <p:nvSpPr>
          <p:cNvPr id="34" name="Text 32"/>
          <p:cNvSpPr/>
          <p:nvPr/>
        </p:nvSpPr>
        <p:spPr>
          <a:xfrm>
            <a:off x="4764024" y="4590288"/>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Help test and connect the full purchase flow</a:t>
            </a:r>
            <a:endParaRPr lang="en-US" sz="1030" dirty="0"/>
          </a:p>
        </p:txBody>
      </p:sp>
      <p:sp>
        <p:nvSpPr>
          <p:cNvPr id="35" name="Shape 33"/>
          <p:cNvSpPr/>
          <p:nvPr/>
        </p:nvSpPr>
        <p:spPr>
          <a:xfrm>
            <a:off x="8065008" y="1847088"/>
            <a:ext cx="3584448" cy="3840480"/>
          </a:xfrm>
          <a:prstGeom prst="roundRect">
            <a:avLst>
              <a:gd name="adj" fmla="val 3571"/>
            </a:avLst>
          </a:prstGeom>
          <a:solidFill>
            <a:srgbClr val="141A17"/>
          </a:solidFill>
          <a:ln w="12700">
            <a:solidFill>
              <a:srgbClr val="141A17">
                <a:alpha val="0"/>
              </a:srgbClr>
            </a:solidFill>
            <a:prstDash val="solid"/>
          </a:ln>
        </p:spPr>
      </p:sp>
      <p:sp>
        <p:nvSpPr>
          <p:cNvPr id="36" name="Shape 34"/>
          <p:cNvSpPr/>
          <p:nvPr/>
        </p:nvSpPr>
        <p:spPr>
          <a:xfrm>
            <a:off x="8065008" y="1847088"/>
            <a:ext cx="3584448" cy="82296"/>
          </a:xfrm>
          <a:prstGeom prst="roundRect">
            <a:avLst>
              <a:gd name="adj" fmla="val 22222"/>
            </a:avLst>
          </a:prstGeom>
          <a:solidFill>
            <a:srgbClr val="F3A65A"/>
          </a:solidFill>
          <a:ln w="12700">
            <a:solidFill>
              <a:srgbClr val="F3A65A">
                <a:alpha val="0"/>
              </a:srgbClr>
            </a:solidFill>
            <a:prstDash val="solid"/>
          </a:ln>
        </p:spPr>
      </p:sp>
      <p:pic>
        <p:nvPicPr>
          <p:cNvPr id="302" name="Photo M3" descr="Photo of team member M3"/>
          <p:cNvPicPr>
            <a:picLocks noChangeAspect="1"/>
          </p:cNvPicPr>
          <p:nvPr/>
        </p:nvPicPr>
        <p:blipFill>
          <a:blip r:embed="rId5"/>
          <a:stretch>
            <a:fillRect/>
          </a:stretch>
        </p:blipFill>
        <p:spPr>
          <a:xfrm>
            <a:off x="8293608" y="2121408"/>
            <a:ext cx="585216" cy="585216"/>
          </a:xfrm>
          <a:prstGeom prst="ellipse">
            <a:avLst/>
          </a:prstGeom>
        </p:spPr>
      </p:pic>
      <p:sp>
        <p:nvSpPr>
          <p:cNvPr id="39" name="Text 37"/>
          <p:cNvSpPr/>
          <p:nvPr/>
        </p:nvSpPr>
        <p:spPr>
          <a:xfrm>
            <a:off x="8979408" y="2148840"/>
            <a:ext cx="2487168" cy="283464"/>
          </a:xfrm>
          <a:prstGeom prst="rect">
            <a:avLst/>
          </a:prstGeom>
          <a:noFill/>
          <a:ln/>
        </p:spPr>
        <p:txBody>
          <a:bodyPr wrap="square" lIns="0" tIns="0" rIns="0" bIns="0" rtlCol="0" anchor="ctr">
            <a:normAutofit/>
          </a:bodyPr>
          <a:lstStyle/>
          <a:p>
            <a:pPr marL="0" indent="0">
              <a:buNone/>
            </a:pPr>
            <a:r>
              <a:rPr lang="en-US" sz="1650" b="1" dirty="0">
                <a:solidFill>
                  <a:srgbClr val="F3F5F1"/>
                </a:solidFill>
                <a:latin typeface="Aptos" pitchFamily="34" charset="0"/>
                <a:ea typeface="Aptos" pitchFamily="34" charset="-122"/>
                <a:cs typeface="Aptos" pitchFamily="34" charset="-120"/>
              </a:rPr>
              <a:t>Nic</a:t>
            </a:r>
            <a:r>
              <a:rPr lang="ro-RO" sz="1650" b="1" dirty="0">
                <a:solidFill>
                  <a:srgbClr val="F3F5F1"/>
                </a:solidFill>
                <a:latin typeface="Aptos" pitchFamily="34" charset="0"/>
                <a:ea typeface="Aptos" pitchFamily="34" charset="-122"/>
                <a:cs typeface="Aptos" pitchFamily="34" charset="-120"/>
              </a:rPr>
              <a:t>ă</a:t>
            </a:r>
            <a:r>
              <a:rPr lang="en-US" sz="1650" b="1" dirty="0">
                <a:solidFill>
                  <a:srgbClr val="F3F5F1"/>
                </a:solidFill>
                <a:latin typeface="Aptos" pitchFamily="34" charset="0"/>
                <a:ea typeface="Aptos" pitchFamily="34" charset="-122"/>
                <a:cs typeface="Aptos" pitchFamily="34" charset="-120"/>
              </a:rPr>
              <a:t> David Andrei</a:t>
            </a:r>
            <a:endParaRPr lang="en-US" sz="1650" dirty="0"/>
          </a:p>
        </p:txBody>
      </p:sp>
      <p:sp>
        <p:nvSpPr>
          <p:cNvPr id="40" name="Text 38"/>
          <p:cNvSpPr/>
          <p:nvPr/>
        </p:nvSpPr>
        <p:spPr>
          <a:xfrm>
            <a:off x="8979408" y="2532888"/>
            <a:ext cx="2505456" cy="320040"/>
          </a:xfrm>
          <a:prstGeom prst="rect">
            <a:avLst/>
          </a:prstGeom>
          <a:noFill/>
          <a:ln/>
        </p:spPr>
        <p:txBody>
          <a:bodyPr wrap="square" lIns="0" tIns="0" rIns="0" bIns="0" rtlCol="0" anchor="ctr">
            <a:normAutofit/>
          </a:bodyPr>
          <a:lstStyle/>
          <a:p>
            <a:pPr marL="0" indent="0">
              <a:buNone/>
            </a:pPr>
            <a:r>
              <a:rPr lang="en-US" sz="810" b="1" kern="0" spc="65" dirty="0">
                <a:solidFill>
                  <a:srgbClr val="F3A65A"/>
                </a:solidFill>
                <a:latin typeface="Aptos" pitchFamily="34" charset="0"/>
                <a:ea typeface="Aptos" pitchFamily="34" charset="-122"/>
                <a:cs typeface="Aptos" pitchFamily="34" charset="-120"/>
              </a:rPr>
              <a:t>DATABASE, ACCOUNTS &amp; ADMIN</a:t>
            </a:r>
            <a:endParaRPr lang="en-US" sz="810" dirty="0"/>
          </a:p>
        </p:txBody>
      </p:sp>
      <p:sp>
        <p:nvSpPr>
          <p:cNvPr id="41" name="Shape 39"/>
          <p:cNvSpPr/>
          <p:nvPr/>
        </p:nvSpPr>
        <p:spPr>
          <a:xfrm>
            <a:off x="8293608" y="2980944"/>
            <a:ext cx="3127248" cy="0"/>
          </a:xfrm>
          <a:prstGeom prst="line">
            <a:avLst/>
          </a:prstGeom>
          <a:noFill/>
          <a:ln w="12700">
            <a:solidFill>
              <a:srgbClr val="303A34"/>
            </a:solidFill>
            <a:prstDash val="solid"/>
            <a:headEnd type="none"/>
            <a:tailEnd type="none"/>
          </a:ln>
        </p:spPr>
      </p:sp>
      <p:sp>
        <p:nvSpPr>
          <p:cNvPr id="42" name="Shape 40"/>
          <p:cNvSpPr/>
          <p:nvPr/>
        </p:nvSpPr>
        <p:spPr>
          <a:xfrm>
            <a:off x="8321040" y="3227832"/>
            <a:ext cx="73152" cy="73152"/>
          </a:xfrm>
          <a:prstGeom prst="ellipse">
            <a:avLst/>
          </a:prstGeom>
          <a:solidFill>
            <a:srgbClr val="F3A65A"/>
          </a:solidFill>
          <a:ln w="12700">
            <a:solidFill>
              <a:srgbClr val="F3A65A">
                <a:alpha val="0"/>
              </a:srgbClr>
            </a:solidFill>
            <a:prstDash val="solid"/>
          </a:ln>
        </p:spPr>
      </p:sp>
      <p:sp>
        <p:nvSpPr>
          <p:cNvPr id="43" name="Text 41"/>
          <p:cNvSpPr/>
          <p:nvPr/>
        </p:nvSpPr>
        <p:spPr>
          <a:xfrm>
            <a:off x="8513064" y="3163824"/>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MySQL models and 30+ seeded products</a:t>
            </a:r>
            <a:endParaRPr lang="en-US" sz="1030" dirty="0"/>
          </a:p>
        </p:txBody>
      </p:sp>
      <p:sp>
        <p:nvSpPr>
          <p:cNvPr id="44" name="Shape 42"/>
          <p:cNvSpPr/>
          <p:nvPr/>
        </p:nvSpPr>
        <p:spPr>
          <a:xfrm>
            <a:off x="8321040" y="3703320"/>
            <a:ext cx="73152" cy="73152"/>
          </a:xfrm>
          <a:prstGeom prst="ellipse">
            <a:avLst/>
          </a:prstGeom>
          <a:solidFill>
            <a:srgbClr val="F3A65A"/>
          </a:solidFill>
          <a:ln w="12700">
            <a:solidFill>
              <a:srgbClr val="F3A65A">
                <a:alpha val="0"/>
              </a:srgbClr>
            </a:solidFill>
            <a:prstDash val="solid"/>
          </a:ln>
        </p:spPr>
      </p:sp>
      <p:sp>
        <p:nvSpPr>
          <p:cNvPr id="45" name="Text 43"/>
          <p:cNvSpPr/>
          <p:nvPr/>
        </p:nvSpPr>
        <p:spPr>
          <a:xfrm>
            <a:off x="8513064" y="3639312"/>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Accounts, addresses and order history (A4, A8)</a:t>
            </a:r>
            <a:endParaRPr lang="en-US" sz="1030" dirty="0"/>
          </a:p>
        </p:txBody>
      </p:sp>
      <p:sp>
        <p:nvSpPr>
          <p:cNvPr id="46" name="Shape 44"/>
          <p:cNvSpPr/>
          <p:nvPr/>
        </p:nvSpPr>
        <p:spPr>
          <a:xfrm>
            <a:off x="8321040" y="4178808"/>
            <a:ext cx="73152" cy="73152"/>
          </a:xfrm>
          <a:prstGeom prst="ellipse">
            <a:avLst/>
          </a:prstGeom>
          <a:solidFill>
            <a:srgbClr val="F3A65A"/>
          </a:solidFill>
          <a:ln w="12700">
            <a:solidFill>
              <a:srgbClr val="F3A65A">
                <a:alpha val="0"/>
              </a:srgbClr>
            </a:solidFill>
            <a:prstDash val="solid"/>
          </a:ln>
        </p:spPr>
      </p:sp>
      <p:sp>
        <p:nvSpPr>
          <p:cNvPr id="47" name="Text 45"/>
          <p:cNvSpPr/>
          <p:nvPr/>
        </p:nvSpPr>
        <p:spPr>
          <a:xfrm>
            <a:off x="8513064" y="4114800"/>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Admin product/category/order tools (A9)</a:t>
            </a:r>
            <a:endParaRPr lang="en-US" sz="1030" dirty="0"/>
          </a:p>
        </p:txBody>
      </p:sp>
      <p:sp>
        <p:nvSpPr>
          <p:cNvPr id="48" name="Shape 46"/>
          <p:cNvSpPr/>
          <p:nvPr/>
        </p:nvSpPr>
        <p:spPr>
          <a:xfrm>
            <a:off x="8321040" y="4654296"/>
            <a:ext cx="73152" cy="73152"/>
          </a:xfrm>
          <a:prstGeom prst="ellipse">
            <a:avLst/>
          </a:prstGeom>
          <a:solidFill>
            <a:srgbClr val="F3A65A"/>
          </a:solidFill>
          <a:ln w="12700">
            <a:solidFill>
              <a:srgbClr val="F3A65A">
                <a:alpha val="0"/>
              </a:srgbClr>
            </a:solidFill>
            <a:prstDash val="solid"/>
          </a:ln>
        </p:spPr>
      </p:sp>
      <p:sp>
        <p:nvSpPr>
          <p:cNvPr id="49" name="Text 47"/>
          <p:cNvSpPr/>
          <p:nvPr/>
        </p:nvSpPr>
        <p:spPr>
          <a:xfrm>
            <a:off x="8513064" y="4590288"/>
            <a:ext cx="2898648" cy="365760"/>
          </a:xfrm>
          <a:prstGeom prst="rect">
            <a:avLst/>
          </a:prstGeom>
          <a:noFill/>
          <a:ln/>
        </p:spPr>
        <p:txBody>
          <a:bodyPr wrap="square" lIns="0" tIns="0" rIns="0" bIns="0" rtlCol="0" anchor="ctr">
            <a:normAutofit/>
          </a:bodyPr>
          <a:lstStyle/>
          <a:p>
            <a:pPr marL="0" indent="0">
              <a:buNone/>
            </a:pPr>
            <a:r>
              <a:rPr lang="en-US" sz="1030" dirty="0">
                <a:solidFill>
                  <a:srgbClr val="F3F5F1"/>
                </a:solidFill>
                <a:latin typeface="Aptos" pitchFamily="34" charset="0"/>
                <a:ea typeface="Aptos" pitchFamily="34" charset="-122"/>
                <a:cs typeface="Aptos" pitchFamily="34" charset="-120"/>
              </a:rPr>
              <a:t>Server access rules and automated tests (A10, A12)</a:t>
            </a:r>
            <a:endParaRPr lang="en-US" sz="1030" dirty="0"/>
          </a:p>
        </p:txBody>
      </p:sp>
      <p:sp>
        <p:nvSpPr>
          <p:cNvPr id="50" name="Shape 48"/>
          <p:cNvSpPr/>
          <p:nvPr/>
        </p:nvSpPr>
        <p:spPr>
          <a:xfrm>
            <a:off x="658368" y="5843016"/>
            <a:ext cx="10881360" cy="393192"/>
          </a:xfrm>
          <a:prstGeom prst="roundRect">
            <a:avLst>
              <a:gd name="adj" fmla="val 23256"/>
            </a:avLst>
          </a:prstGeom>
          <a:solidFill>
            <a:srgbClr val="19211D"/>
          </a:solidFill>
          <a:ln w="12700">
            <a:solidFill>
              <a:srgbClr val="19211D">
                <a:alpha val="0"/>
              </a:srgbClr>
            </a:solidFill>
            <a:prstDash val="solid"/>
          </a:ln>
        </p:spPr>
        <p:txBody>
          <a:bodyPr/>
          <a:lstStyle/>
          <a:p>
            <a:endParaRPr lang="en-US" dirty="0"/>
          </a:p>
        </p:txBody>
      </p:sp>
      <p:sp>
        <p:nvSpPr>
          <p:cNvPr id="51" name="Text 49"/>
          <p:cNvSpPr/>
          <p:nvPr/>
        </p:nvSpPr>
        <p:spPr>
          <a:xfrm>
            <a:off x="859536" y="5943600"/>
            <a:ext cx="10479024" cy="173736"/>
          </a:xfrm>
          <a:prstGeom prst="rect">
            <a:avLst/>
          </a:prstGeom>
          <a:noFill/>
          <a:ln/>
        </p:spPr>
        <p:txBody>
          <a:bodyPr wrap="square" lIns="0" tIns="0" rIns="0" bIns="0" rtlCol="0" anchor="ctr">
            <a:normAutofit/>
          </a:bodyPr>
          <a:lstStyle/>
          <a:p>
            <a:pPr marL="0" indent="0" algn="ctr">
              <a:buNone/>
            </a:pPr>
            <a:r>
              <a:rPr lang="en-US" sz="1020" dirty="0">
                <a:solidFill>
                  <a:srgbClr val="A8B1AB"/>
                </a:solidFill>
                <a:latin typeface="Aptos" pitchFamily="34" charset="0"/>
                <a:ea typeface="Aptos" pitchFamily="34" charset="-122"/>
                <a:cs typeface="Aptos" pitchFamily="34" charset="-120"/>
              </a:rPr>
              <a:t>Shared: individual Git commits, code review, integration, README.</a:t>
            </a:r>
            <a:endParaRPr lang="en-US" sz="1020" dirty="0"/>
          </a:p>
        </p:txBody>
      </p:sp>
      <p:sp>
        <p:nvSpPr>
          <p:cNvPr id="52"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07 / PROJECT PLAN</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Week-by-week roadmap to the final demo</a:t>
            </a:r>
            <a:endParaRPr lang="en-US" sz="2700" dirty="0"/>
          </a:p>
        </p:txBody>
      </p:sp>
      <p:sp>
        <p:nvSpPr>
          <p:cNvPr id="4" name="Text 2"/>
          <p:cNvSpPr/>
          <p:nvPr/>
        </p:nvSpPr>
        <p:spPr>
          <a:xfrm>
            <a:off x="585216" y="1225296"/>
            <a:ext cx="10881360" cy="320040"/>
          </a:xfrm>
          <a:prstGeom prst="rect">
            <a:avLst/>
          </a:prstGeom>
          <a:noFill/>
          <a:ln/>
        </p:spPr>
        <p:txBody>
          <a:bodyPr wrap="square" lIns="0" tIns="0" rIns="0" bIns="0" rtlCol="0" anchor="ctr">
            <a:normAutofit/>
          </a:bodyPr>
          <a:lstStyle/>
          <a:p>
            <a:pPr marL="0" indent="0">
              <a:buNone/>
            </a:pPr>
            <a:r>
              <a:rPr lang="en-US" sz="1250" dirty="0">
                <a:solidFill>
                  <a:srgbClr val="A8B1AB"/>
                </a:solidFill>
                <a:latin typeface="Aptos" pitchFamily="34" charset="0"/>
                <a:ea typeface="Aptos" pitchFamily="34" charset="-122"/>
                <a:cs typeface="Aptos" pitchFamily="34" charset="-120"/>
              </a:rPr>
              <a:t>Owners: M1 = frontend · M2 = backend/payments · M3 = database/admin/QA. ALL = shared.</a:t>
            </a:r>
            <a:endParaRPr lang="en-US" sz="1250" dirty="0"/>
          </a:p>
        </p:txBody>
      </p:sp>
      <p:sp>
        <p:nvSpPr>
          <p:cNvPr id="5" name="Shape 3"/>
          <p:cNvSpPr/>
          <p:nvPr/>
        </p:nvSpPr>
        <p:spPr>
          <a:xfrm>
            <a:off x="621792" y="1801368"/>
            <a:ext cx="5358384" cy="530352"/>
          </a:xfrm>
          <a:prstGeom prst="roundRect">
            <a:avLst>
              <a:gd name="adj" fmla="val 13793"/>
            </a:avLst>
          </a:prstGeom>
          <a:solidFill>
            <a:srgbClr val="141A17"/>
          </a:solidFill>
          <a:ln w="12700">
            <a:solidFill>
              <a:srgbClr val="141A17">
                <a:alpha val="0"/>
              </a:srgbClr>
            </a:solidFill>
            <a:prstDash val="solid"/>
          </a:ln>
        </p:spPr>
      </p:sp>
      <p:sp>
        <p:nvSpPr>
          <p:cNvPr id="6" name="Shape 4"/>
          <p:cNvSpPr/>
          <p:nvPr/>
        </p:nvSpPr>
        <p:spPr>
          <a:xfrm>
            <a:off x="621792" y="1801368"/>
            <a:ext cx="694944" cy="530352"/>
          </a:xfrm>
          <a:prstGeom prst="roundRect">
            <a:avLst>
              <a:gd name="adj" fmla="val 13793"/>
            </a:avLst>
          </a:prstGeom>
          <a:solidFill>
            <a:srgbClr val="202923"/>
          </a:solidFill>
          <a:ln w="12700">
            <a:solidFill>
              <a:srgbClr val="202923">
                <a:alpha val="0"/>
              </a:srgbClr>
            </a:solidFill>
            <a:prstDash val="solid"/>
          </a:ln>
        </p:spPr>
      </p:sp>
      <p:sp>
        <p:nvSpPr>
          <p:cNvPr id="7" name="Text 5"/>
          <p:cNvSpPr/>
          <p:nvPr/>
        </p:nvSpPr>
        <p:spPr>
          <a:xfrm>
            <a:off x="685800" y="1956816"/>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8AC6E8"/>
                </a:solidFill>
                <a:latin typeface="Aptos" pitchFamily="34" charset="0"/>
                <a:ea typeface="Aptos" pitchFamily="34" charset="-122"/>
                <a:cs typeface="Aptos" pitchFamily="34" charset="-120"/>
              </a:rPr>
              <a:t>W1</a:t>
            </a:r>
            <a:endParaRPr lang="en-US" sz="1100" dirty="0"/>
          </a:p>
        </p:txBody>
      </p:sp>
      <p:sp>
        <p:nvSpPr>
          <p:cNvPr id="8" name="Text 6"/>
          <p:cNvSpPr/>
          <p:nvPr/>
        </p:nvSpPr>
        <p:spPr>
          <a:xfrm>
            <a:off x="1426464" y="1874520"/>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Agree scope, roles and repository structure.</a:t>
            </a:r>
            <a:endParaRPr lang="en-US" sz="970" dirty="0"/>
          </a:p>
        </p:txBody>
      </p:sp>
      <p:sp>
        <p:nvSpPr>
          <p:cNvPr id="9" name="Text 7"/>
          <p:cNvSpPr/>
          <p:nvPr/>
        </p:nvSpPr>
        <p:spPr>
          <a:xfrm>
            <a:off x="5175504" y="1956816"/>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ALL</a:t>
            </a:r>
            <a:endParaRPr lang="en-US" sz="770" dirty="0"/>
          </a:p>
        </p:txBody>
      </p:sp>
      <p:sp>
        <p:nvSpPr>
          <p:cNvPr id="10" name="Shape 8"/>
          <p:cNvSpPr/>
          <p:nvPr/>
        </p:nvSpPr>
        <p:spPr>
          <a:xfrm>
            <a:off x="621792" y="2468880"/>
            <a:ext cx="5358384" cy="530352"/>
          </a:xfrm>
          <a:prstGeom prst="roundRect">
            <a:avLst>
              <a:gd name="adj" fmla="val 13793"/>
            </a:avLst>
          </a:prstGeom>
          <a:solidFill>
            <a:srgbClr val="141A17"/>
          </a:solidFill>
          <a:ln w="12700">
            <a:solidFill>
              <a:srgbClr val="141A17">
                <a:alpha val="0"/>
              </a:srgbClr>
            </a:solidFill>
            <a:prstDash val="solid"/>
          </a:ln>
        </p:spPr>
      </p:sp>
      <p:sp>
        <p:nvSpPr>
          <p:cNvPr id="11" name="Shape 9"/>
          <p:cNvSpPr/>
          <p:nvPr/>
        </p:nvSpPr>
        <p:spPr>
          <a:xfrm>
            <a:off x="621792" y="2468880"/>
            <a:ext cx="694944" cy="530352"/>
          </a:xfrm>
          <a:prstGeom prst="roundRect">
            <a:avLst>
              <a:gd name="adj" fmla="val 13793"/>
            </a:avLst>
          </a:prstGeom>
          <a:solidFill>
            <a:srgbClr val="202923"/>
          </a:solidFill>
          <a:ln w="12700">
            <a:solidFill>
              <a:srgbClr val="202923">
                <a:alpha val="0"/>
              </a:srgbClr>
            </a:solidFill>
            <a:prstDash val="solid"/>
          </a:ln>
        </p:spPr>
      </p:sp>
      <p:sp>
        <p:nvSpPr>
          <p:cNvPr id="12" name="Text 10"/>
          <p:cNvSpPr/>
          <p:nvPr/>
        </p:nvSpPr>
        <p:spPr>
          <a:xfrm>
            <a:off x="685800" y="2624328"/>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8AC6E8"/>
                </a:solidFill>
                <a:latin typeface="Aptos" pitchFamily="34" charset="0"/>
                <a:ea typeface="Aptos" pitchFamily="34" charset="-122"/>
                <a:cs typeface="Aptos" pitchFamily="34" charset="-120"/>
              </a:rPr>
              <a:t>W2</a:t>
            </a:r>
            <a:endParaRPr lang="en-US" sz="1100" dirty="0"/>
          </a:p>
        </p:txBody>
      </p:sp>
      <p:sp>
        <p:nvSpPr>
          <p:cNvPr id="13" name="Text 11"/>
          <p:cNvSpPr/>
          <p:nvPr/>
        </p:nvSpPr>
        <p:spPr>
          <a:xfrm>
            <a:off x="1426464" y="2542032"/>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Review competitors; sketch key pages and flow.</a:t>
            </a:r>
            <a:endParaRPr lang="en-US" sz="970" dirty="0"/>
          </a:p>
        </p:txBody>
      </p:sp>
      <p:sp>
        <p:nvSpPr>
          <p:cNvPr id="14" name="Text 12"/>
          <p:cNvSpPr/>
          <p:nvPr/>
        </p:nvSpPr>
        <p:spPr>
          <a:xfrm>
            <a:off x="5175504" y="2624328"/>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M1</a:t>
            </a:r>
            <a:endParaRPr lang="en-US" sz="770" dirty="0"/>
          </a:p>
        </p:txBody>
      </p:sp>
      <p:sp>
        <p:nvSpPr>
          <p:cNvPr id="15" name="Shape 13"/>
          <p:cNvSpPr/>
          <p:nvPr/>
        </p:nvSpPr>
        <p:spPr>
          <a:xfrm>
            <a:off x="621792" y="3136392"/>
            <a:ext cx="5358384" cy="530352"/>
          </a:xfrm>
          <a:prstGeom prst="roundRect">
            <a:avLst>
              <a:gd name="adj" fmla="val 13793"/>
            </a:avLst>
          </a:prstGeom>
          <a:solidFill>
            <a:srgbClr val="141A17"/>
          </a:solidFill>
          <a:ln w="12700">
            <a:solidFill>
              <a:srgbClr val="141A17">
                <a:alpha val="0"/>
              </a:srgbClr>
            </a:solidFill>
            <a:prstDash val="solid"/>
          </a:ln>
        </p:spPr>
      </p:sp>
      <p:sp>
        <p:nvSpPr>
          <p:cNvPr id="16" name="Shape 14"/>
          <p:cNvSpPr/>
          <p:nvPr/>
        </p:nvSpPr>
        <p:spPr>
          <a:xfrm>
            <a:off x="621792" y="3136392"/>
            <a:ext cx="694944" cy="530352"/>
          </a:xfrm>
          <a:prstGeom prst="roundRect">
            <a:avLst>
              <a:gd name="adj" fmla="val 13793"/>
            </a:avLst>
          </a:prstGeom>
          <a:solidFill>
            <a:srgbClr val="C5F26D"/>
          </a:solidFill>
          <a:ln w="12700">
            <a:solidFill>
              <a:srgbClr val="C5F26D">
                <a:alpha val="0"/>
              </a:srgbClr>
            </a:solidFill>
            <a:prstDash val="solid"/>
          </a:ln>
        </p:spPr>
      </p:sp>
      <p:sp>
        <p:nvSpPr>
          <p:cNvPr id="17" name="Text 15"/>
          <p:cNvSpPr/>
          <p:nvPr/>
        </p:nvSpPr>
        <p:spPr>
          <a:xfrm>
            <a:off x="685800" y="3291840"/>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0B0F0D"/>
                </a:solidFill>
                <a:latin typeface="Aptos" pitchFamily="34" charset="0"/>
                <a:ea typeface="Aptos" pitchFamily="34" charset="-122"/>
                <a:cs typeface="Aptos" pitchFamily="34" charset="-120"/>
              </a:rPr>
              <a:t>W3</a:t>
            </a:r>
            <a:endParaRPr lang="en-US" sz="1100" dirty="0"/>
          </a:p>
        </p:txBody>
      </p:sp>
      <p:sp>
        <p:nvSpPr>
          <p:cNvPr id="18" name="Text 16"/>
          <p:cNvSpPr/>
          <p:nvPr/>
        </p:nvSpPr>
        <p:spPr>
          <a:xfrm>
            <a:off x="1426464" y="3209544"/>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Present P1; tag repository and add initial README.</a:t>
            </a:r>
            <a:endParaRPr lang="en-US" sz="970" dirty="0"/>
          </a:p>
        </p:txBody>
      </p:sp>
      <p:sp>
        <p:nvSpPr>
          <p:cNvPr id="19" name="Text 17"/>
          <p:cNvSpPr/>
          <p:nvPr/>
        </p:nvSpPr>
        <p:spPr>
          <a:xfrm>
            <a:off x="5175504" y="3291840"/>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ALL</a:t>
            </a:r>
            <a:endParaRPr lang="en-US" sz="770" dirty="0"/>
          </a:p>
        </p:txBody>
      </p:sp>
      <p:sp>
        <p:nvSpPr>
          <p:cNvPr id="20" name="Shape 18"/>
          <p:cNvSpPr/>
          <p:nvPr/>
        </p:nvSpPr>
        <p:spPr>
          <a:xfrm>
            <a:off x="621792" y="3803904"/>
            <a:ext cx="5358384" cy="530352"/>
          </a:xfrm>
          <a:prstGeom prst="roundRect">
            <a:avLst>
              <a:gd name="adj" fmla="val 13793"/>
            </a:avLst>
          </a:prstGeom>
          <a:solidFill>
            <a:srgbClr val="141A17"/>
          </a:solidFill>
          <a:ln w="12700">
            <a:solidFill>
              <a:srgbClr val="141A17">
                <a:alpha val="0"/>
              </a:srgbClr>
            </a:solidFill>
            <a:prstDash val="solid"/>
          </a:ln>
        </p:spPr>
      </p:sp>
      <p:sp>
        <p:nvSpPr>
          <p:cNvPr id="21" name="Shape 19"/>
          <p:cNvSpPr/>
          <p:nvPr/>
        </p:nvSpPr>
        <p:spPr>
          <a:xfrm>
            <a:off x="621792" y="3803904"/>
            <a:ext cx="694944" cy="530352"/>
          </a:xfrm>
          <a:prstGeom prst="roundRect">
            <a:avLst>
              <a:gd name="adj" fmla="val 13793"/>
            </a:avLst>
          </a:prstGeom>
          <a:solidFill>
            <a:srgbClr val="202923"/>
          </a:solidFill>
          <a:ln w="12700">
            <a:solidFill>
              <a:srgbClr val="202923">
                <a:alpha val="0"/>
              </a:srgbClr>
            </a:solidFill>
            <a:prstDash val="solid"/>
          </a:ln>
        </p:spPr>
      </p:sp>
      <p:sp>
        <p:nvSpPr>
          <p:cNvPr id="22" name="Text 20"/>
          <p:cNvSpPr/>
          <p:nvPr/>
        </p:nvSpPr>
        <p:spPr>
          <a:xfrm>
            <a:off x="685800" y="3959352"/>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8AC6E8"/>
                </a:solidFill>
                <a:latin typeface="Aptos" pitchFamily="34" charset="0"/>
                <a:ea typeface="Aptos" pitchFamily="34" charset="-122"/>
                <a:cs typeface="Aptos" pitchFamily="34" charset="-120"/>
              </a:rPr>
              <a:t>W4</a:t>
            </a:r>
            <a:endParaRPr lang="en-US" sz="1100" dirty="0"/>
          </a:p>
        </p:txBody>
      </p:sp>
      <p:sp>
        <p:nvSpPr>
          <p:cNvPr id="23" name="Text 21"/>
          <p:cNvSpPr/>
          <p:nvPr/>
        </p:nvSpPr>
        <p:spPr>
          <a:xfrm>
            <a:off x="1426464" y="3877056"/>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Set up ASP.NET Core, MySQL and data models.</a:t>
            </a:r>
            <a:endParaRPr lang="en-US" sz="970" dirty="0"/>
          </a:p>
        </p:txBody>
      </p:sp>
      <p:sp>
        <p:nvSpPr>
          <p:cNvPr id="24" name="Text 22"/>
          <p:cNvSpPr/>
          <p:nvPr/>
        </p:nvSpPr>
        <p:spPr>
          <a:xfrm>
            <a:off x="5175504" y="3959352"/>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M2+M3</a:t>
            </a:r>
            <a:endParaRPr lang="en-US" sz="770" dirty="0"/>
          </a:p>
        </p:txBody>
      </p:sp>
      <p:sp>
        <p:nvSpPr>
          <p:cNvPr id="25" name="Shape 23"/>
          <p:cNvSpPr/>
          <p:nvPr/>
        </p:nvSpPr>
        <p:spPr>
          <a:xfrm>
            <a:off x="621792" y="4471416"/>
            <a:ext cx="5358384" cy="530352"/>
          </a:xfrm>
          <a:prstGeom prst="roundRect">
            <a:avLst>
              <a:gd name="adj" fmla="val 13793"/>
            </a:avLst>
          </a:prstGeom>
          <a:solidFill>
            <a:srgbClr val="141A17"/>
          </a:solidFill>
          <a:ln w="12700">
            <a:solidFill>
              <a:srgbClr val="141A17">
                <a:alpha val="0"/>
              </a:srgbClr>
            </a:solidFill>
            <a:prstDash val="solid"/>
          </a:ln>
        </p:spPr>
      </p:sp>
      <p:sp>
        <p:nvSpPr>
          <p:cNvPr id="26" name="Shape 24"/>
          <p:cNvSpPr/>
          <p:nvPr/>
        </p:nvSpPr>
        <p:spPr>
          <a:xfrm>
            <a:off x="621792" y="4471416"/>
            <a:ext cx="694944" cy="530352"/>
          </a:xfrm>
          <a:prstGeom prst="roundRect">
            <a:avLst>
              <a:gd name="adj" fmla="val 13793"/>
            </a:avLst>
          </a:prstGeom>
          <a:solidFill>
            <a:srgbClr val="202923"/>
          </a:solidFill>
          <a:ln w="12700">
            <a:solidFill>
              <a:srgbClr val="202923">
                <a:alpha val="0"/>
              </a:srgbClr>
            </a:solidFill>
            <a:prstDash val="solid"/>
          </a:ln>
        </p:spPr>
      </p:sp>
      <p:sp>
        <p:nvSpPr>
          <p:cNvPr id="27" name="Text 25"/>
          <p:cNvSpPr/>
          <p:nvPr/>
        </p:nvSpPr>
        <p:spPr>
          <a:xfrm>
            <a:off x="685800" y="4626864"/>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8AC6E8"/>
                </a:solidFill>
                <a:latin typeface="Aptos" pitchFamily="34" charset="0"/>
                <a:ea typeface="Aptos" pitchFamily="34" charset="-122"/>
                <a:cs typeface="Aptos" pitchFamily="34" charset="-120"/>
              </a:rPr>
              <a:t>W5</a:t>
            </a:r>
            <a:endParaRPr lang="en-US" sz="1100" dirty="0"/>
          </a:p>
        </p:txBody>
      </p:sp>
      <p:sp>
        <p:nvSpPr>
          <p:cNvPr id="28" name="Text 26"/>
          <p:cNvSpPr/>
          <p:nvPr/>
        </p:nvSpPr>
        <p:spPr>
          <a:xfrm>
            <a:off x="1426464" y="4544568"/>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Seed 30+ products; build catalog and categories.</a:t>
            </a:r>
            <a:endParaRPr lang="en-US" sz="970" dirty="0"/>
          </a:p>
        </p:txBody>
      </p:sp>
      <p:sp>
        <p:nvSpPr>
          <p:cNvPr id="29" name="Text 27"/>
          <p:cNvSpPr/>
          <p:nvPr/>
        </p:nvSpPr>
        <p:spPr>
          <a:xfrm>
            <a:off x="5175504" y="4626864"/>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M1+M3</a:t>
            </a:r>
            <a:endParaRPr lang="en-US" sz="770" dirty="0"/>
          </a:p>
        </p:txBody>
      </p:sp>
      <p:sp>
        <p:nvSpPr>
          <p:cNvPr id="30" name="Shape 28"/>
          <p:cNvSpPr/>
          <p:nvPr/>
        </p:nvSpPr>
        <p:spPr>
          <a:xfrm>
            <a:off x="621792" y="5138928"/>
            <a:ext cx="5358384" cy="530352"/>
          </a:xfrm>
          <a:prstGeom prst="roundRect">
            <a:avLst>
              <a:gd name="adj" fmla="val 13793"/>
            </a:avLst>
          </a:prstGeom>
          <a:solidFill>
            <a:srgbClr val="141A17"/>
          </a:solidFill>
          <a:ln w="12700">
            <a:solidFill>
              <a:srgbClr val="141A17">
                <a:alpha val="0"/>
              </a:srgbClr>
            </a:solidFill>
            <a:prstDash val="solid"/>
          </a:ln>
        </p:spPr>
      </p:sp>
      <p:sp>
        <p:nvSpPr>
          <p:cNvPr id="31" name="Shape 29"/>
          <p:cNvSpPr/>
          <p:nvPr/>
        </p:nvSpPr>
        <p:spPr>
          <a:xfrm>
            <a:off x="621792" y="5138928"/>
            <a:ext cx="694944" cy="530352"/>
          </a:xfrm>
          <a:prstGeom prst="roundRect">
            <a:avLst>
              <a:gd name="adj" fmla="val 13793"/>
            </a:avLst>
          </a:prstGeom>
          <a:solidFill>
            <a:srgbClr val="202923"/>
          </a:solidFill>
          <a:ln w="12700">
            <a:solidFill>
              <a:srgbClr val="202923">
                <a:alpha val="0"/>
              </a:srgbClr>
            </a:solidFill>
            <a:prstDash val="solid"/>
          </a:ln>
        </p:spPr>
      </p:sp>
      <p:sp>
        <p:nvSpPr>
          <p:cNvPr id="32" name="Text 30"/>
          <p:cNvSpPr/>
          <p:nvPr/>
        </p:nvSpPr>
        <p:spPr>
          <a:xfrm>
            <a:off x="685800" y="5294376"/>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8AC6E8"/>
                </a:solidFill>
                <a:latin typeface="Aptos" pitchFamily="34" charset="0"/>
                <a:ea typeface="Aptos" pitchFamily="34" charset="-122"/>
                <a:cs typeface="Aptos" pitchFamily="34" charset="-120"/>
              </a:rPr>
              <a:t>W6</a:t>
            </a:r>
            <a:endParaRPr lang="en-US" sz="1100" dirty="0"/>
          </a:p>
        </p:txBody>
      </p:sp>
      <p:sp>
        <p:nvSpPr>
          <p:cNvPr id="33" name="Text 31"/>
          <p:cNvSpPr/>
          <p:nvPr/>
        </p:nvSpPr>
        <p:spPr>
          <a:xfrm>
            <a:off x="1426464" y="5212080"/>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Add basic search, accounts and shopping cart.</a:t>
            </a:r>
            <a:endParaRPr lang="en-US" sz="970" dirty="0"/>
          </a:p>
        </p:txBody>
      </p:sp>
      <p:sp>
        <p:nvSpPr>
          <p:cNvPr id="34" name="Text 32"/>
          <p:cNvSpPr/>
          <p:nvPr/>
        </p:nvSpPr>
        <p:spPr>
          <a:xfrm>
            <a:off x="5175504" y="5294376"/>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ALL</a:t>
            </a:r>
            <a:endParaRPr lang="en-US" sz="770" dirty="0"/>
          </a:p>
        </p:txBody>
      </p:sp>
      <p:sp>
        <p:nvSpPr>
          <p:cNvPr id="35" name="Shape 33"/>
          <p:cNvSpPr/>
          <p:nvPr/>
        </p:nvSpPr>
        <p:spPr>
          <a:xfrm>
            <a:off x="6208776" y="1801368"/>
            <a:ext cx="5358384" cy="530352"/>
          </a:xfrm>
          <a:prstGeom prst="roundRect">
            <a:avLst>
              <a:gd name="adj" fmla="val 13793"/>
            </a:avLst>
          </a:prstGeom>
          <a:solidFill>
            <a:srgbClr val="141A17"/>
          </a:solidFill>
          <a:ln w="12700">
            <a:solidFill>
              <a:srgbClr val="141A17">
                <a:alpha val="0"/>
              </a:srgbClr>
            </a:solidFill>
            <a:prstDash val="solid"/>
          </a:ln>
        </p:spPr>
      </p:sp>
      <p:sp>
        <p:nvSpPr>
          <p:cNvPr id="36" name="Shape 34"/>
          <p:cNvSpPr/>
          <p:nvPr/>
        </p:nvSpPr>
        <p:spPr>
          <a:xfrm>
            <a:off x="6208776" y="1801368"/>
            <a:ext cx="694944" cy="530352"/>
          </a:xfrm>
          <a:prstGeom prst="roundRect">
            <a:avLst>
              <a:gd name="adj" fmla="val 13793"/>
            </a:avLst>
          </a:prstGeom>
          <a:solidFill>
            <a:srgbClr val="C5F26D"/>
          </a:solidFill>
          <a:ln w="12700">
            <a:solidFill>
              <a:srgbClr val="C5F26D">
                <a:alpha val="0"/>
              </a:srgbClr>
            </a:solidFill>
            <a:prstDash val="solid"/>
          </a:ln>
        </p:spPr>
      </p:sp>
      <p:sp>
        <p:nvSpPr>
          <p:cNvPr id="37" name="Text 35"/>
          <p:cNvSpPr/>
          <p:nvPr/>
        </p:nvSpPr>
        <p:spPr>
          <a:xfrm>
            <a:off x="6272784" y="1956816"/>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0B0F0D"/>
                </a:solidFill>
                <a:latin typeface="Aptos" pitchFamily="34" charset="0"/>
                <a:ea typeface="Aptos" pitchFamily="34" charset="-122"/>
                <a:cs typeface="Aptos" pitchFamily="34" charset="-120"/>
              </a:rPr>
              <a:t>W7</a:t>
            </a:r>
            <a:endParaRPr lang="en-US" sz="1100" dirty="0"/>
          </a:p>
        </p:txBody>
      </p:sp>
      <p:sp>
        <p:nvSpPr>
          <p:cNvPr id="38" name="Text 36"/>
          <p:cNvSpPr/>
          <p:nvPr/>
        </p:nvSpPr>
        <p:spPr>
          <a:xfrm>
            <a:off x="7013448" y="1874520"/>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Present P2: ERD, endpoints, wireframes and login.</a:t>
            </a:r>
            <a:endParaRPr lang="en-US" sz="970" dirty="0"/>
          </a:p>
        </p:txBody>
      </p:sp>
      <p:sp>
        <p:nvSpPr>
          <p:cNvPr id="39" name="Text 37"/>
          <p:cNvSpPr/>
          <p:nvPr/>
        </p:nvSpPr>
        <p:spPr>
          <a:xfrm>
            <a:off x="10762488" y="1956816"/>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ALL</a:t>
            </a:r>
            <a:endParaRPr lang="en-US" sz="770" dirty="0"/>
          </a:p>
        </p:txBody>
      </p:sp>
      <p:sp>
        <p:nvSpPr>
          <p:cNvPr id="40" name="Shape 38"/>
          <p:cNvSpPr/>
          <p:nvPr/>
        </p:nvSpPr>
        <p:spPr>
          <a:xfrm>
            <a:off x="6208776" y="2468880"/>
            <a:ext cx="5358384" cy="530352"/>
          </a:xfrm>
          <a:prstGeom prst="roundRect">
            <a:avLst>
              <a:gd name="adj" fmla="val 13793"/>
            </a:avLst>
          </a:prstGeom>
          <a:solidFill>
            <a:srgbClr val="141A17"/>
          </a:solidFill>
          <a:ln w="12700">
            <a:solidFill>
              <a:srgbClr val="141A17">
                <a:alpha val="0"/>
              </a:srgbClr>
            </a:solidFill>
            <a:prstDash val="solid"/>
          </a:ln>
        </p:spPr>
      </p:sp>
      <p:sp>
        <p:nvSpPr>
          <p:cNvPr id="41" name="Shape 39"/>
          <p:cNvSpPr/>
          <p:nvPr/>
        </p:nvSpPr>
        <p:spPr>
          <a:xfrm>
            <a:off x="6208776" y="2468880"/>
            <a:ext cx="694944" cy="530352"/>
          </a:xfrm>
          <a:prstGeom prst="roundRect">
            <a:avLst>
              <a:gd name="adj" fmla="val 13793"/>
            </a:avLst>
          </a:prstGeom>
          <a:solidFill>
            <a:srgbClr val="202923"/>
          </a:solidFill>
          <a:ln w="12700">
            <a:solidFill>
              <a:srgbClr val="202923">
                <a:alpha val="0"/>
              </a:srgbClr>
            </a:solidFill>
            <a:prstDash val="solid"/>
          </a:ln>
        </p:spPr>
      </p:sp>
      <p:sp>
        <p:nvSpPr>
          <p:cNvPr id="42" name="Text 40"/>
          <p:cNvSpPr/>
          <p:nvPr/>
        </p:nvSpPr>
        <p:spPr>
          <a:xfrm>
            <a:off x="6272784" y="2624328"/>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C5F26D"/>
                </a:solidFill>
                <a:latin typeface="Aptos" pitchFamily="34" charset="0"/>
                <a:ea typeface="Aptos" pitchFamily="34" charset="-122"/>
                <a:cs typeface="Aptos" pitchFamily="34" charset="-120"/>
              </a:rPr>
              <a:t>W8</a:t>
            </a:r>
            <a:endParaRPr lang="en-US" sz="1100" dirty="0"/>
          </a:p>
        </p:txBody>
      </p:sp>
      <p:sp>
        <p:nvSpPr>
          <p:cNvPr id="43" name="Text 41"/>
          <p:cNvSpPr/>
          <p:nvPr/>
        </p:nvSpPr>
        <p:spPr>
          <a:xfrm>
            <a:off x="7013448" y="2542032"/>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Build checkout and B1 filters; add delivery choices.</a:t>
            </a:r>
            <a:endParaRPr lang="en-US" sz="970" dirty="0"/>
          </a:p>
        </p:txBody>
      </p:sp>
      <p:sp>
        <p:nvSpPr>
          <p:cNvPr id="44" name="Text 42"/>
          <p:cNvSpPr/>
          <p:nvPr/>
        </p:nvSpPr>
        <p:spPr>
          <a:xfrm>
            <a:off x="10762488" y="2624328"/>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M1+M2</a:t>
            </a:r>
            <a:endParaRPr lang="en-US" sz="770" dirty="0"/>
          </a:p>
        </p:txBody>
      </p:sp>
      <p:sp>
        <p:nvSpPr>
          <p:cNvPr id="45" name="Shape 43"/>
          <p:cNvSpPr/>
          <p:nvPr/>
        </p:nvSpPr>
        <p:spPr>
          <a:xfrm>
            <a:off x="6208776" y="3136392"/>
            <a:ext cx="5358384" cy="530352"/>
          </a:xfrm>
          <a:prstGeom prst="roundRect">
            <a:avLst>
              <a:gd name="adj" fmla="val 13793"/>
            </a:avLst>
          </a:prstGeom>
          <a:solidFill>
            <a:srgbClr val="141A17"/>
          </a:solidFill>
          <a:ln w="12700">
            <a:solidFill>
              <a:srgbClr val="141A17">
                <a:alpha val="0"/>
              </a:srgbClr>
            </a:solidFill>
            <a:prstDash val="solid"/>
          </a:ln>
        </p:spPr>
      </p:sp>
      <p:sp>
        <p:nvSpPr>
          <p:cNvPr id="46" name="Shape 44"/>
          <p:cNvSpPr/>
          <p:nvPr/>
        </p:nvSpPr>
        <p:spPr>
          <a:xfrm>
            <a:off x="6208776" y="3136392"/>
            <a:ext cx="694944" cy="530352"/>
          </a:xfrm>
          <a:prstGeom prst="roundRect">
            <a:avLst>
              <a:gd name="adj" fmla="val 13793"/>
            </a:avLst>
          </a:prstGeom>
          <a:solidFill>
            <a:srgbClr val="202923"/>
          </a:solidFill>
          <a:ln w="12700">
            <a:solidFill>
              <a:srgbClr val="202923">
                <a:alpha val="0"/>
              </a:srgbClr>
            </a:solidFill>
            <a:prstDash val="solid"/>
          </a:ln>
        </p:spPr>
      </p:sp>
      <p:sp>
        <p:nvSpPr>
          <p:cNvPr id="47" name="Text 45"/>
          <p:cNvSpPr/>
          <p:nvPr/>
        </p:nvSpPr>
        <p:spPr>
          <a:xfrm>
            <a:off x="6272784" y="3291840"/>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C5F26D"/>
                </a:solidFill>
                <a:latin typeface="Aptos" pitchFamily="34" charset="0"/>
                <a:ea typeface="Aptos" pitchFamily="34" charset="-122"/>
                <a:cs typeface="Aptos" pitchFamily="34" charset="-120"/>
              </a:rPr>
              <a:t>W9</a:t>
            </a:r>
            <a:endParaRPr lang="en-US" sz="1100" dirty="0"/>
          </a:p>
        </p:txBody>
      </p:sp>
      <p:sp>
        <p:nvSpPr>
          <p:cNvPr id="48" name="Text 46"/>
          <p:cNvSpPr/>
          <p:nvPr/>
        </p:nvSpPr>
        <p:spPr>
          <a:xfrm>
            <a:off x="7013448" y="3209544"/>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Integrate Stripe, stock updates and B5 discount codes.</a:t>
            </a:r>
            <a:endParaRPr lang="en-US" sz="970" dirty="0"/>
          </a:p>
        </p:txBody>
      </p:sp>
      <p:sp>
        <p:nvSpPr>
          <p:cNvPr id="49" name="Text 47"/>
          <p:cNvSpPr/>
          <p:nvPr/>
        </p:nvSpPr>
        <p:spPr>
          <a:xfrm>
            <a:off x="10762488" y="3291840"/>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M2+M3</a:t>
            </a:r>
            <a:endParaRPr lang="en-US" sz="770" dirty="0"/>
          </a:p>
        </p:txBody>
      </p:sp>
      <p:sp>
        <p:nvSpPr>
          <p:cNvPr id="50" name="Shape 48"/>
          <p:cNvSpPr/>
          <p:nvPr/>
        </p:nvSpPr>
        <p:spPr>
          <a:xfrm>
            <a:off x="6208776" y="3803904"/>
            <a:ext cx="5358384" cy="530352"/>
          </a:xfrm>
          <a:prstGeom prst="roundRect">
            <a:avLst>
              <a:gd name="adj" fmla="val 13793"/>
            </a:avLst>
          </a:prstGeom>
          <a:solidFill>
            <a:srgbClr val="141A17"/>
          </a:solidFill>
          <a:ln w="12700">
            <a:solidFill>
              <a:srgbClr val="141A17">
                <a:alpha val="0"/>
              </a:srgbClr>
            </a:solidFill>
            <a:prstDash val="solid"/>
          </a:ln>
        </p:spPr>
      </p:sp>
      <p:sp>
        <p:nvSpPr>
          <p:cNvPr id="51" name="Shape 49"/>
          <p:cNvSpPr/>
          <p:nvPr/>
        </p:nvSpPr>
        <p:spPr>
          <a:xfrm>
            <a:off x="6208776" y="3803904"/>
            <a:ext cx="694944" cy="530352"/>
          </a:xfrm>
          <a:prstGeom prst="roundRect">
            <a:avLst>
              <a:gd name="adj" fmla="val 13793"/>
            </a:avLst>
          </a:prstGeom>
          <a:solidFill>
            <a:srgbClr val="202923"/>
          </a:solidFill>
          <a:ln w="12700">
            <a:solidFill>
              <a:srgbClr val="202923">
                <a:alpha val="0"/>
              </a:srgbClr>
            </a:solidFill>
            <a:prstDash val="solid"/>
          </a:ln>
        </p:spPr>
      </p:sp>
      <p:sp>
        <p:nvSpPr>
          <p:cNvPr id="52" name="Text 50"/>
          <p:cNvSpPr/>
          <p:nvPr/>
        </p:nvSpPr>
        <p:spPr>
          <a:xfrm>
            <a:off x="6272784" y="3959352"/>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C5F26D"/>
                </a:solidFill>
                <a:latin typeface="Aptos" pitchFamily="34" charset="0"/>
                <a:ea typeface="Aptos" pitchFamily="34" charset="-122"/>
                <a:cs typeface="Aptos" pitchFamily="34" charset="-120"/>
              </a:rPr>
              <a:t>W10</a:t>
            </a:r>
            <a:endParaRPr lang="en-US" sz="1100" dirty="0"/>
          </a:p>
        </p:txBody>
      </p:sp>
      <p:sp>
        <p:nvSpPr>
          <p:cNvPr id="53" name="Text 51"/>
          <p:cNvSpPr/>
          <p:nvPr/>
        </p:nvSpPr>
        <p:spPr>
          <a:xfrm>
            <a:off x="7013448" y="3877056"/>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Finish admin tools, order history and B7 wishlist.</a:t>
            </a:r>
            <a:endParaRPr lang="en-US" sz="970" dirty="0"/>
          </a:p>
        </p:txBody>
      </p:sp>
      <p:sp>
        <p:nvSpPr>
          <p:cNvPr id="54" name="Text 52"/>
          <p:cNvSpPr/>
          <p:nvPr/>
        </p:nvSpPr>
        <p:spPr>
          <a:xfrm>
            <a:off x="10762488" y="3959352"/>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M1+M3</a:t>
            </a:r>
            <a:endParaRPr lang="en-US" sz="770" dirty="0"/>
          </a:p>
        </p:txBody>
      </p:sp>
      <p:sp>
        <p:nvSpPr>
          <p:cNvPr id="55" name="Shape 53"/>
          <p:cNvSpPr/>
          <p:nvPr/>
        </p:nvSpPr>
        <p:spPr>
          <a:xfrm>
            <a:off x="6208776" y="4471416"/>
            <a:ext cx="5358384" cy="530352"/>
          </a:xfrm>
          <a:prstGeom prst="roundRect">
            <a:avLst>
              <a:gd name="adj" fmla="val 13793"/>
            </a:avLst>
          </a:prstGeom>
          <a:solidFill>
            <a:srgbClr val="141A17"/>
          </a:solidFill>
          <a:ln w="12700">
            <a:solidFill>
              <a:srgbClr val="141A17">
                <a:alpha val="0"/>
              </a:srgbClr>
            </a:solidFill>
            <a:prstDash val="solid"/>
          </a:ln>
        </p:spPr>
      </p:sp>
      <p:sp>
        <p:nvSpPr>
          <p:cNvPr id="56" name="Shape 54"/>
          <p:cNvSpPr/>
          <p:nvPr/>
        </p:nvSpPr>
        <p:spPr>
          <a:xfrm>
            <a:off x="6208776" y="4471416"/>
            <a:ext cx="694944" cy="530352"/>
          </a:xfrm>
          <a:prstGeom prst="roundRect">
            <a:avLst>
              <a:gd name="adj" fmla="val 13793"/>
            </a:avLst>
          </a:prstGeom>
          <a:solidFill>
            <a:srgbClr val="202923"/>
          </a:solidFill>
          <a:ln w="12700">
            <a:solidFill>
              <a:srgbClr val="202923">
                <a:alpha val="0"/>
              </a:srgbClr>
            </a:solidFill>
            <a:prstDash val="solid"/>
          </a:ln>
        </p:spPr>
      </p:sp>
      <p:sp>
        <p:nvSpPr>
          <p:cNvPr id="57" name="Text 55"/>
          <p:cNvSpPr/>
          <p:nvPr/>
        </p:nvSpPr>
        <p:spPr>
          <a:xfrm>
            <a:off x="6272784" y="4626864"/>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C5F26D"/>
                </a:solidFill>
                <a:latin typeface="Aptos" pitchFamily="34" charset="0"/>
                <a:ea typeface="Aptos" pitchFamily="34" charset="-122"/>
                <a:cs typeface="Aptos" pitchFamily="34" charset="-120"/>
              </a:rPr>
              <a:t>W11</a:t>
            </a:r>
            <a:endParaRPr lang="en-US" sz="1100" dirty="0"/>
          </a:p>
        </p:txBody>
      </p:sp>
      <p:sp>
        <p:nvSpPr>
          <p:cNvPr id="58" name="Text 56"/>
          <p:cNvSpPr/>
          <p:nvPr/>
        </p:nvSpPr>
        <p:spPr>
          <a:xfrm>
            <a:off x="7013448" y="4544568"/>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Check mobile layout; run 10+ automated tests.</a:t>
            </a:r>
            <a:endParaRPr lang="en-US" sz="970" dirty="0"/>
          </a:p>
        </p:txBody>
      </p:sp>
      <p:sp>
        <p:nvSpPr>
          <p:cNvPr id="59" name="Text 57"/>
          <p:cNvSpPr/>
          <p:nvPr/>
        </p:nvSpPr>
        <p:spPr>
          <a:xfrm>
            <a:off x="10762488" y="4626864"/>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ALL</a:t>
            </a:r>
            <a:endParaRPr lang="en-US" sz="770" dirty="0"/>
          </a:p>
        </p:txBody>
      </p:sp>
      <p:sp>
        <p:nvSpPr>
          <p:cNvPr id="60" name="Shape 58"/>
          <p:cNvSpPr/>
          <p:nvPr/>
        </p:nvSpPr>
        <p:spPr>
          <a:xfrm>
            <a:off x="6208776" y="5138928"/>
            <a:ext cx="5358384" cy="530352"/>
          </a:xfrm>
          <a:prstGeom prst="roundRect">
            <a:avLst>
              <a:gd name="adj" fmla="val 13793"/>
            </a:avLst>
          </a:prstGeom>
          <a:solidFill>
            <a:srgbClr val="141A17"/>
          </a:solidFill>
          <a:ln w="12700">
            <a:solidFill>
              <a:srgbClr val="141A17">
                <a:alpha val="0"/>
              </a:srgbClr>
            </a:solidFill>
            <a:prstDash val="solid"/>
          </a:ln>
        </p:spPr>
      </p:sp>
      <p:sp>
        <p:nvSpPr>
          <p:cNvPr id="61" name="Shape 59"/>
          <p:cNvSpPr/>
          <p:nvPr/>
        </p:nvSpPr>
        <p:spPr>
          <a:xfrm>
            <a:off x="6208776" y="5138928"/>
            <a:ext cx="694944" cy="530352"/>
          </a:xfrm>
          <a:prstGeom prst="roundRect">
            <a:avLst>
              <a:gd name="adj" fmla="val 13793"/>
            </a:avLst>
          </a:prstGeom>
          <a:solidFill>
            <a:srgbClr val="C5F26D"/>
          </a:solidFill>
          <a:ln w="12700">
            <a:solidFill>
              <a:srgbClr val="C5F26D">
                <a:alpha val="0"/>
              </a:srgbClr>
            </a:solidFill>
            <a:prstDash val="solid"/>
          </a:ln>
        </p:spPr>
      </p:sp>
      <p:sp>
        <p:nvSpPr>
          <p:cNvPr id="62" name="Text 60"/>
          <p:cNvSpPr/>
          <p:nvPr/>
        </p:nvSpPr>
        <p:spPr>
          <a:xfrm>
            <a:off x="6272784" y="5294376"/>
            <a:ext cx="566928" cy="201168"/>
          </a:xfrm>
          <a:prstGeom prst="rect">
            <a:avLst/>
          </a:prstGeom>
          <a:noFill/>
          <a:ln/>
        </p:spPr>
        <p:txBody>
          <a:bodyPr wrap="square" lIns="0" tIns="0" rIns="0" bIns="0" rtlCol="0" anchor="ctr">
            <a:normAutofit/>
          </a:bodyPr>
          <a:lstStyle/>
          <a:p>
            <a:pPr marL="0" indent="0" algn="ctr">
              <a:buNone/>
            </a:pPr>
            <a:r>
              <a:rPr lang="en-US" sz="1100" b="1" dirty="0">
                <a:solidFill>
                  <a:srgbClr val="0B0F0D"/>
                </a:solidFill>
                <a:latin typeface="Aptos" pitchFamily="34" charset="0"/>
                <a:ea typeface="Aptos" pitchFamily="34" charset="-122"/>
                <a:cs typeface="Aptos" pitchFamily="34" charset="-120"/>
              </a:rPr>
              <a:t>W12</a:t>
            </a:r>
            <a:endParaRPr lang="en-US" sz="1100" dirty="0"/>
          </a:p>
        </p:txBody>
      </p:sp>
      <p:sp>
        <p:nvSpPr>
          <p:cNvPr id="63" name="Text 61"/>
          <p:cNvSpPr/>
          <p:nvPr/>
        </p:nvSpPr>
        <p:spPr>
          <a:xfrm>
            <a:off x="7013448" y="5212080"/>
            <a:ext cx="3749040" cy="356616"/>
          </a:xfrm>
          <a:prstGeom prst="rect">
            <a:avLst/>
          </a:prstGeom>
          <a:noFill/>
          <a:ln/>
        </p:spPr>
        <p:txBody>
          <a:bodyPr wrap="square" lIns="0" tIns="0" rIns="0" bIns="0" rtlCol="0" anchor="ctr">
            <a:normAutofit/>
          </a:bodyPr>
          <a:lstStyle/>
          <a:p>
            <a:pPr marL="0" indent="0">
              <a:buNone/>
            </a:pPr>
            <a:r>
              <a:rPr lang="en-US" sz="970" dirty="0">
                <a:solidFill>
                  <a:srgbClr val="F3F5F1"/>
                </a:solidFill>
                <a:latin typeface="Aptos" pitchFamily="34" charset="0"/>
                <a:ea typeface="Aptos" pitchFamily="34" charset="-122"/>
                <a:cs typeface="Aptos" pitchFamily="34" charset="-120"/>
              </a:rPr>
              <a:t>Fix bugs, finish README and rehearse P3.</a:t>
            </a:r>
            <a:endParaRPr lang="en-US" sz="970" dirty="0"/>
          </a:p>
        </p:txBody>
      </p:sp>
      <p:sp>
        <p:nvSpPr>
          <p:cNvPr id="64" name="Text 62"/>
          <p:cNvSpPr/>
          <p:nvPr/>
        </p:nvSpPr>
        <p:spPr>
          <a:xfrm>
            <a:off x="10762488" y="5294376"/>
            <a:ext cx="722376" cy="182880"/>
          </a:xfrm>
          <a:prstGeom prst="rect">
            <a:avLst/>
          </a:prstGeom>
          <a:noFill/>
          <a:ln/>
        </p:spPr>
        <p:txBody>
          <a:bodyPr wrap="square" lIns="0" tIns="0" rIns="0" bIns="0" rtlCol="0" anchor="ctr">
            <a:normAutofit/>
          </a:bodyPr>
          <a:lstStyle/>
          <a:p>
            <a:pPr marL="0" indent="0" algn="r">
              <a:buNone/>
            </a:pPr>
            <a:r>
              <a:rPr lang="en-US" sz="770" b="1" dirty="0">
                <a:solidFill>
                  <a:srgbClr val="758079"/>
                </a:solidFill>
                <a:latin typeface="Aptos" pitchFamily="34" charset="0"/>
                <a:ea typeface="Aptos" pitchFamily="34" charset="-122"/>
                <a:cs typeface="Aptos" pitchFamily="34" charset="-120"/>
              </a:rPr>
              <a:t>ALL</a:t>
            </a:r>
            <a:endParaRPr lang="en-US" sz="770" dirty="0"/>
          </a:p>
        </p:txBody>
      </p:sp>
      <p:sp>
        <p:nvSpPr>
          <p:cNvPr id="67"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08 / REQUIREMENT OWNERS</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Every mandatory requirement has a lead</a:t>
            </a:r>
            <a:endParaRPr lang="en-US" sz="2700" dirty="0"/>
          </a:p>
        </p:txBody>
      </p:sp>
      <p:sp>
        <p:nvSpPr>
          <p:cNvPr id="4" name="Text 2"/>
          <p:cNvSpPr/>
          <p:nvPr/>
        </p:nvSpPr>
        <p:spPr>
          <a:xfrm>
            <a:off x="585216" y="1225296"/>
            <a:ext cx="10881360" cy="320040"/>
          </a:xfrm>
          <a:prstGeom prst="rect">
            <a:avLst/>
          </a:prstGeom>
          <a:noFill/>
          <a:ln/>
        </p:spPr>
        <p:txBody>
          <a:bodyPr wrap="square" lIns="0" tIns="0" rIns="0" bIns="0" rtlCol="0" anchor="ctr">
            <a:normAutofit/>
          </a:bodyPr>
          <a:lstStyle/>
          <a:p>
            <a:pPr marL="0" indent="0">
              <a:buNone/>
            </a:pPr>
            <a:r>
              <a:rPr lang="en-US" sz="1250" dirty="0">
                <a:solidFill>
                  <a:srgbClr val="A8B1AB"/>
                </a:solidFill>
                <a:latin typeface="Aptos" pitchFamily="34" charset="0"/>
                <a:ea typeface="Aptos" pitchFamily="34" charset="-122"/>
                <a:cs typeface="Aptos" pitchFamily="34" charset="-120"/>
              </a:rPr>
              <a:t>M1 = frontend · M2 = backend/payments · M3 = database/admin/QA; shared work is noted on the team slide.</a:t>
            </a:r>
            <a:endParaRPr lang="en-US" sz="1250" dirty="0"/>
          </a:p>
        </p:txBody>
      </p:sp>
      <p:sp>
        <p:nvSpPr>
          <p:cNvPr id="5" name="Shape 3"/>
          <p:cNvSpPr/>
          <p:nvPr/>
        </p:nvSpPr>
        <p:spPr>
          <a:xfrm>
            <a:off x="640080" y="1719072"/>
            <a:ext cx="5431536" cy="457200"/>
          </a:xfrm>
          <a:prstGeom prst="roundRect">
            <a:avLst>
              <a:gd name="adj" fmla="val 13559"/>
            </a:avLst>
          </a:prstGeom>
          <a:solidFill>
            <a:srgbClr val="141A17"/>
          </a:solidFill>
          <a:ln w="12700">
            <a:solidFill>
              <a:srgbClr val="141A17">
                <a:alpha val="0"/>
              </a:srgbClr>
            </a:solidFill>
            <a:prstDash val="solid"/>
          </a:ln>
        </p:spPr>
      </p:sp>
      <p:sp>
        <p:nvSpPr>
          <p:cNvPr id="6" name="Shape 4"/>
          <p:cNvSpPr/>
          <p:nvPr/>
        </p:nvSpPr>
        <p:spPr>
          <a:xfrm>
            <a:off x="749808" y="1815084"/>
            <a:ext cx="493776" cy="265176"/>
          </a:xfrm>
          <a:prstGeom prst="roundRect">
            <a:avLst>
              <a:gd name="adj" fmla="val 14706"/>
            </a:avLst>
          </a:prstGeom>
          <a:solidFill>
            <a:srgbClr val="8AC6E8"/>
          </a:solidFill>
          <a:ln w="12700">
            <a:solidFill>
              <a:srgbClr val="8AC6E8">
                <a:alpha val="0"/>
              </a:srgbClr>
            </a:solidFill>
            <a:prstDash val="solid"/>
          </a:ln>
        </p:spPr>
      </p:sp>
      <p:sp>
        <p:nvSpPr>
          <p:cNvPr id="7" name="Text 5"/>
          <p:cNvSpPr/>
          <p:nvPr/>
        </p:nvSpPr>
        <p:spPr>
          <a:xfrm>
            <a:off x="749808" y="1869948"/>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A1</a:t>
            </a:r>
            <a:endParaRPr lang="en-US" sz="900" dirty="0"/>
          </a:p>
        </p:txBody>
      </p:sp>
      <p:sp>
        <p:nvSpPr>
          <p:cNvPr id="8" name="Text 6"/>
          <p:cNvSpPr/>
          <p:nvPr/>
        </p:nvSpPr>
        <p:spPr>
          <a:xfrm>
            <a:off x="1389888" y="1751075"/>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Product catalog</a:t>
            </a:r>
            <a:endParaRPr lang="en-US" sz="1090" dirty="0"/>
          </a:p>
        </p:txBody>
      </p:sp>
      <p:sp>
        <p:nvSpPr>
          <p:cNvPr id="9" name="Text 7"/>
          <p:cNvSpPr/>
          <p:nvPr/>
        </p:nvSpPr>
        <p:spPr>
          <a:xfrm>
            <a:off x="1389888" y="1961388"/>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Catalog UI; M3 supplies seeded product data</a:t>
            </a:r>
            <a:endParaRPr lang="en-US" sz="800" dirty="0"/>
          </a:p>
        </p:txBody>
      </p:sp>
      <p:sp>
        <p:nvSpPr>
          <p:cNvPr id="10" name="Text 8"/>
          <p:cNvSpPr/>
          <p:nvPr/>
        </p:nvSpPr>
        <p:spPr>
          <a:xfrm>
            <a:off x="5577840" y="1851660"/>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8AC6E8"/>
                </a:solidFill>
                <a:latin typeface="Aptos" pitchFamily="34" charset="0"/>
                <a:ea typeface="Aptos" pitchFamily="34" charset="-122"/>
                <a:cs typeface="Aptos" pitchFamily="34" charset="-120"/>
              </a:rPr>
              <a:t>M1</a:t>
            </a:r>
            <a:endParaRPr lang="en-US" sz="950" dirty="0"/>
          </a:p>
        </p:txBody>
      </p:sp>
      <p:sp>
        <p:nvSpPr>
          <p:cNvPr id="11" name="Shape 9"/>
          <p:cNvSpPr/>
          <p:nvPr/>
        </p:nvSpPr>
        <p:spPr>
          <a:xfrm>
            <a:off x="640080" y="2276856"/>
            <a:ext cx="5431536" cy="457200"/>
          </a:xfrm>
          <a:prstGeom prst="roundRect">
            <a:avLst>
              <a:gd name="adj" fmla="val 13559"/>
            </a:avLst>
          </a:prstGeom>
          <a:solidFill>
            <a:srgbClr val="141A17"/>
          </a:solidFill>
          <a:ln w="12700">
            <a:solidFill>
              <a:srgbClr val="141A17">
                <a:alpha val="0"/>
              </a:srgbClr>
            </a:solidFill>
            <a:prstDash val="solid"/>
          </a:ln>
        </p:spPr>
      </p:sp>
      <p:sp>
        <p:nvSpPr>
          <p:cNvPr id="12" name="Shape 10"/>
          <p:cNvSpPr/>
          <p:nvPr/>
        </p:nvSpPr>
        <p:spPr>
          <a:xfrm>
            <a:off x="749808" y="2372868"/>
            <a:ext cx="493776" cy="265176"/>
          </a:xfrm>
          <a:prstGeom prst="roundRect">
            <a:avLst>
              <a:gd name="adj" fmla="val 14706"/>
            </a:avLst>
          </a:prstGeom>
          <a:solidFill>
            <a:srgbClr val="8AC6E8"/>
          </a:solidFill>
          <a:ln w="12700">
            <a:solidFill>
              <a:srgbClr val="8AC6E8">
                <a:alpha val="0"/>
              </a:srgbClr>
            </a:solidFill>
            <a:prstDash val="solid"/>
          </a:ln>
        </p:spPr>
      </p:sp>
      <p:sp>
        <p:nvSpPr>
          <p:cNvPr id="13" name="Text 11"/>
          <p:cNvSpPr/>
          <p:nvPr/>
        </p:nvSpPr>
        <p:spPr>
          <a:xfrm>
            <a:off x="749808" y="2427732"/>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A2</a:t>
            </a:r>
            <a:endParaRPr lang="en-US" sz="900" dirty="0"/>
          </a:p>
        </p:txBody>
      </p:sp>
      <p:sp>
        <p:nvSpPr>
          <p:cNvPr id="14" name="Text 12"/>
          <p:cNvSpPr/>
          <p:nvPr/>
        </p:nvSpPr>
        <p:spPr>
          <a:xfrm>
            <a:off x="1389888" y="2308860"/>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Basic search</a:t>
            </a:r>
            <a:endParaRPr lang="en-US" sz="1090" dirty="0"/>
          </a:p>
        </p:txBody>
      </p:sp>
      <p:sp>
        <p:nvSpPr>
          <p:cNvPr id="15" name="Text 13"/>
          <p:cNvSpPr/>
          <p:nvPr/>
        </p:nvSpPr>
        <p:spPr>
          <a:xfrm>
            <a:off x="1389888" y="2519172"/>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Search by name and a clear no-results message</a:t>
            </a:r>
            <a:endParaRPr lang="en-US" sz="800" dirty="0"/>
          </a:p>
        </p:txBody>
      </p:sp>
      <p:sp>
        <p:nvSpPr>
          <p:cNvPr id="16" name="Text 14"/>
          <p:cNvSpPr/>
          <p:nvPr/>
        </p:nvSpPr>
        <p:spPr>
          <a:xfrm>
            <a:off x="5577840" y="2409444"/>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8AC6E8"/>
                </a:solidFill>
                <a:latin typeface="Aptos" pitchFamily="34" charset="0"/>
                <a:ea typeface="Aptos" pitchFamily="34" charset="-122"/>
                <a:cs typeface="Aptos" pitchFamily="34" charset="-120"/>
              </a:rPr>
              <a:t>M1</a:t>
            </a:r>
            <a:endParaRPr lang="en-US" sz="950" dirty="0"/>
          </a:p>
        </p:txBody>
      </p:sp>
      <p:sp>
        <p:nvSpPr>
          <p:cNvPr id="17" name="Shape 15"/>
          <p:cNvSpPr/>
          <p:nvPr/>
        </p:nvSpPr>
        <p:spPr>
          <a:xfrm>
            <a:off x="640080" y="2834639"/>
            <a:ext cx="5431536" cy="457200"/>
          </a:xfrm>
          <a:prstGeom prst="roundRect">
            <a:avLst>
              <a:gd name="adj" fmla="val 13559"/>
            </a:avLst>
          </a:prstGeom>
          <a:solidFill>
            <a:srgbClr val="141A17"/>
          </a:solidFill>
          <a:ln w="12700">
            <a:solidFill>
              <a:srgbClr val="141A17">
                <a:alpha val="0"/>
              </a:srgbClr>
            </a:solidFill>
            <a:prstDash val="solid"/>
          </a:ln>
        </p:spPr>
      </p:sp>
      <p:sp>
        <p:nvSpPr>
          <p:cNvPr id="18" name="Shape 16"/>
          <p:cNvSpPr/>
          <p:nvPr/>
        </p:nvSpPr>
        <p:spPr>
          <a:xfrm>
            <a:off x="749808" y="2930651"/>
            <a:ext cx="493776" cy="265176"/>
          </a:xfrm>
          <a:prstGeom prst="roundRect">
            <a:avLst>
              <a:gd name="adj" fmla="val 14706"/>
            </a:avLst>
          </a:prstGeom>
          <a:solidFill>
            <a:srgbClr val="C5F26D"/>
          </a:solidFill>
          <a:ln w="12700">
            <a:solidFill>
              <a:srgbClr val="C5F26D">
                <a:alpha val="0"/>
              </a:srgbClr>
            </a:solidFill>
            <a:prstDash val="solid"/>
          </a:ln>
        </p:spPr>
      </p:sp>
      <p:sp>
        <p:nvSpPr>
          <p:cNvPr id="19" name="Text 17"/>
          <p:cNvSpPr/>
          <p:nvPr/>
        </p:nvSpPr>
        <p:spPr>
          <a:xfrm>
            <a:off x="749808" y="2985515"/>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A3</a:t>
            </a:r>
            <a:endParaRPr lang="en-US" sz="900" dirty="0"/>
          </a:p>
        </p:txBody>
      </p:sp>
      <p:sp>
        <p:nvSpPr>
          <p:cNvPr id="20" name="Text 18"/>
          <p:cNvSpPr/>
          <p:nvPr/>
        </p:nvSpPr>
        <p:spPr>
          <a:xfrm>
            <a:off x="1389888" y="2866644"/>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Shopping cart</a:t>
            </a:r>
            <a:endParaRPr lang="en-US" sz="1090" dirty="0"/>
          </a:p>
        </p:txBody>
      </p:sp>
      <p:sp>
        <p:nvSpPr>
          <p:cNvPr id="21" name="Text 19"/>
          <p:cNvSpPr/>
          <p:nvPr/>
        </p:nvSpPr>
        <p:spPr>
          <a:xfrm>
            <a:off x="1389888" y="3076956"/>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Add/update/remove; server recalculates totals</a:t>
            </a:r>
            <a:endParaRPr lang="en-US" sz="800" dirty="0"/>
          </a:p>
        </p:txBody>
      </p:sp>
      <p:sp>
        <p:nvSpPr>
          <p:cNvPr id="22" name="Text 20"/>
          <p:cNvSpPr/>
          <p:nvPr/>
        </p:nvSpPr>
        <p:spPr>
          <a:xfrm>
            <a:off x="5577840" y="2967227"/>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C5F26D"/>
                </a:solidFill>
                <a:latin typeface="Aptos" pitchFamily="34" charset="0"/>
                <a:ea typeface="Aptos" pitchFamily="34" charset="-122"/>
                <a:cs typeface="Aptos" pitchFamily="34" charset="-120"/>
              </a:rPr>
              <a:t>M2</a:t>
            </a:r>
            <a:endParaRPr lang="en-US" sz="950" dirty="0"/>
          </a:p>
        </p:txBody>
      </p:sp>
      <p:sp>
        <p:nvSpPr>
          <p:cNvPr id="23" name="Shape 21"/>
          <p:cNvSpPr/>
          <p:nvPr/>
        </p:nvSpPr>
        <p:spPr>
          <a:xfrm>
            <a:off x="640080" y="3392424"/>
            <a:ext cx="5431536" cy="457200"/>
          </a:xfrm>
          <a:prstGeom prst="roundRect">
            <a:avLst>
              <a:gd name="adj" fmla="val 13559"/>
            </a:avLst>
          </a:prstGeom>
          <a:solidFill>
            <a:srgbClr val="141A17"/>
          </a:solidFill>
          <a:ln w="12700">
            <a:solidFill>
              <a:srgbClr val="141A17">
                <a:alpha val="0"/>
              </a:srgbClr>
            </a:solidFill>
            <a:prstDash val="solid"/>
          </a:ln>
        </p:spPr>
      </p:sp>
      <p:sp>
        <p:nvSpPr>
          <p:cNvPr id="24" name="Shape 22"/>
          <p:cNvSpPr/>
          <p:nvPr/>
        </p:nvSpPr>
        <p:spPr>
          <a:xfrm>
            <a:off x="749808" y="3488436"/>
            <a:ext cx="493776" cy="265176"/>
          </a:xfrm>
          <a:prstGeom prst="roundRect">
            <a:avLst>
              <a:gd name="adj" fmla="val 14706"/>
            </a:avLst>
          </a:prstGeom>
          <a:solidFill>
            <a:srgbClr val="F3A65A"/>
          </a:solidFill>
          <a:ln w="12700">
            <a:solidFill>
              <a:srgbClr val="F3A65A">
                <a:alpha val="0"/>
              </a:srgbClr>
            </a:solidFill>
            <a:prstDash val="solid"/>
          </a:ln>
        </p:spPr>
      </p:sp>
      <p:sp>
        <p:nvSpPr>
          <p:cNvPr id="25" name="Text 23"/>
          <p:cNvSpPr/>
          <p:nvPr/>
        </p:nvSpPr>
        <p:spPr>
          <a:xfrm>
            <a:off x="749808" y="3543300"/>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A4</a:t>
            </a:r>
            <a:endParaRPr lang="en-US" sz="900" dirty="0"/>
          </a:p>
        </p:txBody>
      </p:sp>
      <p:sp>
        <p:nvSpPr>
          <p:cNvPr id="26" name="Text 24"/>
          <p:cNvSpPr/>
          <p:nvPr/>
        </p:nvSpPr>
        <p:spPr>
          <a:xfrm>
            <a:off x="1389888" y="3424428"/>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User accounts</a:t>
            </a:r>
            <a:endParaRPr lang="en-US" sz="1090" dirty="0"/>
          </a:p>
        </p:txBody>
      </p:sp>
      <p:sp>
        <p:nvSpPr>
          <p:cNvPr id="27" name="Text 25"/>
          <p:cNvSpPr/>
          <p:nvPr/>
        </p:nvSpPr>
        <p:spPr>
          <a:xfrm>
            <a:off x="1389888" y="3634740"/>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Register, log in/out and save delivery address</a:t>
            </a:r>
            <a:endParaRPr lang="en-US" sz="800" dirty="0"/>
          </a:p>
        </p:txBody>
      </p:sp>
      <p:sp>
        <p:nvSpPr>
          <p:cNvPr id="28" name="Text 26"/>
          <p:cNvSpPr/>
          <p:nvPr/>
        </p:nvSpPr>
        <p:spPr>
          <a:xfrm>
            <a:off x="5577840" y="3525012"/>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F3A65A"/>
                </a:solidFill>
                <a:latin typeface="Aptos" pitchFamily="34" charset="0"/>
                <a:ea typeface="Aptos" pitchFamily="34" charset="-122"/>
                <a:cs typeface="Aptos" pitchFamily="34" charset="-120"/>
              </a:rPr>
              <a:t>M3</a:t>
            </a:r>
            <a:endParaRPr lang="en-US" sz="950" dirty="0"/>
          </a:p>
        </p:txBody>
      </p:sp>
      <p:sp>
        <p:nvSpPr>
          <p:cNvPr id="29" name="Shape 27"/>
          <p:cNvSpPr/>
          <p:nvPr/>
        </p:nvSpPr>
        <p:spPr>
          <a:xfrm>
            <a:off x="640080" y="3950208"/>
            <a:ext cx="5431536" cy="457200"/>
          </a:xfrm>
          <a:prstGeom prst="roundRect">
            <a:avLst>
              <a:gd name="adj" fmla="val 13559"/>
            </a:avLst>
          </a:prstGeom>
          <a:solidFill>
            <a:srgbClr val="141A17"/>
          </a:solidFill>
          <a:ln w="12700">
            <a:solidFill>
              <a:srgbClr val="141A17">
                <a:alpha val="0"/>
              </a:srgbClr>
            </a:solidFill>
            <a:prstDash val="solid"/>
          </a:ln>
        </p:spPr>
      </p:sp>
      <p:sp>
        <p:nvSpPr>
          <p:cNvPr id="30" name="Shape 28"/>
          <p:cNvSpPr/>
          <p:nvPr/>
        </p:nvSpPr>
        <p:spPr>
          <a:xfrm>
            <a:off x="749808" y="4046220"/>
            <a:ext cx="493776" cy="265176"/>
          </a:xfrm>
          <a:prstGeom prst="roundRect">
            <a:avLst>
              <a:gd name="adj" fmla="val 14706"/>
            </a:avLst>
          </a:prstGeom>
          <a:solidFill>
            <a:srgbClr val="C5F26D"/>
          </a:solidFill>
          <a:ln w="12700">
            <a:solidFill>
              <a:srgbClr val="C5F26D">
                <a:alpha val="0"/>
              </a:srgbClr>
            </a:solidFill>
            <a:prstDash val="solid"/>
          </a:ln>
        </p:spPr>
      </p:sp>
      <p:sp>
        <p:nvSpPr>
          <p:cNvPr id="31" name="Text 29"/>
          <p:cNvSpPr/>
          <p:nvPr/>
        </p:nvSpPr>
        <p:spPr>
          <a:xfrm>
            <a:off x="749808" y="4101084"/>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A5</a:t>
            </a:r>
            <a:endParaRPr lang="en-US" sz="900" dirty="0"/>
          </a:p>
        </p:txBody>
      </p:sp>
      <p:sp>
        <p:nvSpPr>
          <p:cNvPr id="32" name="Text 30"/>
          <p:cNvSpPr/>
          <p:nvPr/>
        </p:nvSpPr>
        <p:spPr>
          <a:xfrm>
            <a:off x="1389888" y="3982212"/>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Checkout</a:t>
            </a:r>
            <a:endParaRPr lang="en-US" sz="1090" dirty="0"/>
          </a:p>
        </p:txBody>
      </p:sp>
      <p:sp>
        <p:nvSpPr>
          <p:cNvPr id="33" name="Text 31"/>
          <p:cNvSpPr/>
          <p:nvPr/>
        </p:nvSpPr>
        <p:spPr>
          <a:xfrm>
            <a:off x="1389888" y="4192524"/>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Checkout rules; M1 builds customer-facing screens</a:t>
            </a:r>
            <a:endParaRPr lang="en-US" sz="800" dirty="0"/>
          </a:p>
        </p:txBody>
      </p:sp>
      <p:sp>
        <p:nvSpPr>
          <p:cNvPr id="34" name="Text 32"/>
          <p:cNvSpPr/>
          <p:nvPr/>
        </p:nvSpPr>
        <p:spPr>
          <a:xfrm>
            <a:off x="5577840" y="4082796"/>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C5F26D"/>
                </a:solidFill>
                <a:latin typeface="Aptos" pitchFamily="34" charset="0"/>
                <a:ea typeface="Aptos" pitchFamily="34" charset="-122"/>
                <a:cs typeface="Aptos" pitchFamily="34" charset="-120"/>
              </a:rPr>
              <a:t>M2</a:t>
            </a:r>
            <a:endParaRPr lang="en-US" sz="950" dirty="0"/>
          </a:p>
        </p:txBody>
      </p:sp>
      <p:sp>
        <p:nvSpPr>
          <p:cNvPr id="35" name="Shape 33"/>
          <p:cNvSpPr/>
          <p:nvPr/>
        </p:nvSpPr>
        <p:spPr>
          <a:xfrm>
            <a:off x="640080" y="4507992"/>
            <a:ext cx="5431536" cy="457200"/>
          </a:xfrm>
          <a:prstGeom prst="roundRect">
            <a:avLst>
              <a:gd name="adj" fmla="val 13559"/>
            </a:avLst>
          </a:prstGeom>
          <a:solidFill>
            <a:srgbClr val="141A17"/>
          </a:solidFill>
          <a:ln w="12700">
            <a:solidFill>
              <a:srgbClr val="141A17">
                <a:alpha val="0"/>
              </a:srgbClr>
            </a:solidFill>
            <a:prstDash val="solid"/>
          </a:ln>
        </p:spPr>
      </p:sp>
      <p:sp>
        <p:nvSpPr>
          <p:cNvPr id="36" name="Shape 34"/>
          <p:cNvSpPr/>
          <p:nvPr/>
        </p:nvSpPr>
        <p:spPr>
          <a:xfrm>
            <a:off x="749808" y="4604004"/>
            <a:ext cx="493776" cy="265176"/>
          </a:xfrm>
          <a:prstGeom prst="roundRect">
            <a:avLst>
              <a:gd name="adj" fmla="val 14706"/>
            </a:avLst>
          </a:prstGeom>
          <a:solidFill>
            <a:srgbClr val="C5F26D"/>
          </a:solidFill>
          <a:ln w="12700">
            <a:solidFill>
              <a:srgbClr val="C5F26D">
                <a:alpha val="0"/>
              </a:srgbClr>
            </a:solidFill>
            <a:prstDash val="solid"/>
          </a:ln>
        </p:spPr>
      </p:sp>
      <p:sp>
        <p:nvSpPr>
          <p:cNvPr id="37" name="Text 35"/>
          <p:cNvSpPr/>
          <p:nvPr/>
        </p:nvSpPr>
        <p:spPr>
          <a:xfrm>
            <a:off x="749808" y="4658868"/>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A6</a:t>
            </a:r>
            <a:endParaRPr lang="en-US" sz="900" dirty="0"/>
          </a:p>
        </p:txBody>
      </p:sp>
      <p:sp>
        <p:nvSpPr>
          <p:cNvPr id="38" name="Text 36"/>
          <p:cNvSpPr/>
          <p:nvPr/>
        </p:nvSpPr>
        <p:spPr>
          <a:xfrm>
            <a:off x="1389888" y="4539996"/>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Sandbox payment</a:t>
            </a:r>
            <a:endParaRPr lang="en-US" sz="1090" dirty="0"/>
          </a:p>
        </p:txBody>
      </p:sp>
      <p:sp>
        <p:nvSpPr>
          <p:cNvPr id="39" name="Text 37"/>
          <p:cNvSpPr/>
          <p:nvPr/>
        </p:nvSpPr>
        <p:spPr>
          <a:xfrm>
            <a:off x="1389888" y="4750307"/>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Mark Paid only after payment-provider confirmation</a:t>
            </a:r>
            <a:endParaRPr lang="en-US" sz="800" dirty="0"/>
          </a:p>
        </p:txBody>
      </p:sp>
      <p:sp>
        <p:nvSpPr>
          <p:cNvPr id="40" name="Text 38"/>
          <p:cNvSpPr/>
          <p:nvPr/>
        </p:nvSpPr>
        <p:spPr>
          <a:xfrm>
            <a:off x="5577840" y="4640579"/>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C5F26D"/>
                </a:solidFill>
                <a:latin typeface="Aptos" pitchFamily="34" charset="0"/>
                <a:ea typeface="Aptos" pitchFamily="34" charset="-122"/>
                <a:cs typeface="Aptos" pitchFamily="34" charset="-120"/>
              </a:rPr>
              <a:t>M2</a:t>
            </a:r>
            <a:endParaRPr lang="en-US" sz="950" dirty="0"/>
          </a:p>
        </p:txBody>
      </p:sp>
      <p:sp>
        <p:nvSpPr>
          <p:cNvPr id="41" name="Shape 39"/>
          <p:cNvSpPr/>
          <p:nvPr/>
        </p:nvSpPr>
        <p:spPr>
          <a:xfrm>
            <a:off x="6217920" y="1719072"/>
            <a:ext cx="5431536" cy="457200"/>
          </a:xfrm>
          <a:prstGeom prst="roundRect">
            <a:avLst>
              <a:gd name="adj" fmla="val 13559"/>
            </a:avLst>
          </a:prstGeom>
          <a:solidFill>
            <a:srgbClr val="141A17"/>
          </a:solidFill>
          <a:ln w="12700">
            <a:solidFill>
              <a:srgbClr val="141A17">
                <a:alpha val="0"/>
              </a:srgbClr>
            </a:solidFill>
            <a:prstDash val="solid"/>
          </a:ln>
        </p:spPr>
      </p:sp>
      <p:sp>
        <p:nvSpPr>
          <p:cNvPr id="42" name="Shape 40"/>
          <p:cNvSpPr/>
          <p:nvPr/>
        </p:nvSpPr>
        <p:spPr>
          <a:xfrm>
            <a:off x="6327648" y="1815084"/>
            <a:ext cx="493776" cy="265176"/>
          </a:xfrm>
          <a:prstGeom prst="roundRect">
            <a:avLst>
              <a:gd name="adj" fmla="val 14706"/>
            </a:avLst>
          </a:prstGeom>
          <a:solidFill>
            <a:srgbClr val="C5F26D"/>
          </a:solidFill>
          <a:ln w="12700">
            <a:solidFill>
              <a:srgbClr val="C5F26D">
                <a:alpha val="0"/>
              </a:srgbClr>
            </a:solidFill>
            <a:prstDash val="solid"/>
          </a:ln>
        </p:spPr>
      </p:sp>
      <p:sp>
        <p:nvSpPr>
          <p:cNvPr id="43" name="Text 41"/>
          <p:cNvSpPr/>
          <p:nvPr/>
        </p:nvSpPr>
        <p:spPr>
          <a:xfrm>
            <a:off x="6327648" y="1869948"/>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A7</a:t>
            </a:r>
            <a:endParaRPr lang="en-US" sz="900" dirty="0"/>
          </a:p>
        </p:txBody>
      </p:sp>
      <p:sp>
        <p:nvSpPr>
          <p:cNvPr id="44" name="Text 42"/>
          <p:cNvSpPr/>
          <p:nvPr/>
        </p:nvSpPr>
        <p:spPr>
          <a:xfrm>
            <a:off x="6967728" y="1751075"/>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Stock management</a:t>
            </a:r>
            <a:endParaRPr lang="en-US" sz="1090" dirty="0"/>
          </a:p>
        </p:txBody>
      </p:sp>
      <p:sp>
        <p:nvSpPr>
          <p:cNvPr id="45" name="Text 43"/>
          <p:cNvSpPr/>
          <p:nvPr/>
        </p:nvSpPr>
        <p:spPr>
          <a:xfrm>
            <a:off x="6967728" y="1961388"/>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Reduce after confirmed payment; restore on cancellation</a:t>
            </a:r>
            <a:endParaRPr lang="en-US" sz="800" dirty="0"/>
          </a:p>
        </p:txBody>
      </p:sp>
      <p:sp>
        <p:nvSpPr>
          <p:cNvPr id="46" name="Text 44"/>
          <p:cNvSpPr/>
          <p:nvPr/>
        </p:nvSpPr>
        <p:spPr>
          <a:xfrm>
            <a:off x="11155680" y="1851660"/>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C5F26D"/>
                </a:solidFill>
                <a:latin typeface="Aptos" pitchFamily="34" charset="0"/>
                <a:ea typeface="Aptos" pitchFamily="34" charset="-122"/>
                <a:cs typeface="Aptos" pitchFamily="34" charset="-120"/>
              </a:rPr>
              <a:t>M2</a:t>
            </a:r>
            <a:endParaRPr lang="en-US" sz="950" dirty="0"/>
          </a:p>
        </p:txBody>
      </p:sp>
      <p:sp>
        <p:nvSpPr>
          <p:cNvPr id="47" name="Shape 45"/>
          <p:cNvSpPr/>
          <p:nvPr/>
        </p:nvSpPr>
        <p:spPr>
          <a:xfrm>
            <a:off x="6217920" y="2276856"/>
            <a:ext cx="5431536" cy="457200"/>
          </a:xfrm>
          <a:prstGeom prst="roundRect">
            <a:avLst>
              <a:gd name="adj" fmla="val 13559"/>
            </a:avLst>
          </a:prstGeom>
          <a:solidFill>
            <a:srgbClr val="141A17"/>
          </a:solidFill>
          <a:ln w="12700">
            <a:solidFill>
              <a:srgbClr val="141A17">
                <a:alpha val="0"/>
              </a:srgbClr>
            </a:solidFill>
            <a:prstDash val="solid"/>
          </a:ln>
        </p:spPr>
      </p:sp>
      <p:sp>
        <p:nvSpPr>
          <p:cNvPr id="48" name="Shape 46"/>
          <p:cNvSpPr/>
          <p:nvPr/>
        </p:nvSpPr>
        <p:spPr>
          <a:xfrm>
            <a:off x="6327648" y="2372868"/>
            <a:ext cx="493776" cy="265176"/>
          </a:xfrm>
          <a:prstGeom prst="roundRect">
            <a:avLst>
              <a:gd name="adj" fmla="val 14706"/>
            </a:avLst>
          </a:prstGeom>
          <a:solidFill>
            <a:srgbClr val="F3A65A"/>
          </a:solidFill>
          <a:ln w="12700">
            <a:solidFill>
              <a:srgbClr val="F3A65A">
                <a:alpha val="0"/>
              </a:srgbClr>
            </a:solidFill>
            <a:prstDash val="solid"/>
          </a:ln>
        </p:spPr>
      </p:sp>
      <p:sp>
        <p:nvSpPr>
          <p:cNvPr id="49" name="Text 47"/>
          <p:cNvSpPr/>
          <p:nvPr/>
        </p:nvSpPr>
        <p:spPr>
          <a:xfrm>
            <a:off x="6327648" y="2427732"/>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A8</a:t>
            </a:r>
            <a:endParaRPr lang="en-US" sz="900" dirty="0"/>
          </a:p>
        </p:txBody>
      </p:sp>
      <p:sp>
        <p:nvSpPr>
          <p:cNvPr id="50" name="Text 48"/>
          <p:cNvSpPr/>
          <p:nvPr/>
        </p:nvSpPr>
        <p:spPr>
          <a:xfrm>
            <a:off x="6967728" y="2308860"/>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Order history</a:t>
            </a:r>
            <a:endParaRPr lang="en-US" sz="1090" dirty="0"/>
          </a:p>
        </p:txBody>
      </p:sp>
      <p:sp>
        <p:nvSpPr>
          <p:cNvPr id="51" name="Text 49"/>
          <p:cNvSpPr/>
          <p:nvPr/>
        </p:nvSpPr>
        <p:spPr>
          <a:xfrm>
            <a:off x="6967728" y="2519172"/>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Store and return order data; M1 builds the view</a:t>
            </a:r>
            <a:endParaRPr lang="en-US" sz="800" dirty="0"/>
          </a:p>
        </p:txBody>
      </p:sp>
      <p:sp>
        <p:nvSpPr>
          <p:cNvPr id="52" name="Text 50"/>
          <p:cNvSpPr/>
          <p:nvPr/>
        </p:nvSpPr>
        <p:spPr>
          <a:xfrm>
            <a:off x="11155680" y="2409444"/>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F3A65A"/>
                </a:solidFill>
                <a:latin typeface="Aptos" pitchFamily="34" charset="0"/>
                <a:ea typeface="Aptos" pitchFamily="34" charset="-122"/>
                <a:cs typeface="Aptos" pitchFamily="34" charset="-120"/>
              </a:rPr>
              <a:t>M3</a:t>
            </a:r>
            <a:endParaRPr lang="en-US" sz="950" dirty="0"/>
          </a:p>
        </p:txBody>
      </p:sp>
      <p:sp>
        <p:nvSpPr>
          <p:cNvPr id="53" name="Shape 51"/>
          <p:cNvSpPr/>
          <p:nvPr/>
        </p:nvSpPr>
        <p:spPr>
          <a:xfrm>
            <a:off x="6217920" y="2834639"/>
            <a:ext cx="5431536" cy="457200"/>
          </a:xfrm>
          <a:prstGeom prst="roundRect">
            <a:avLst>
              <a:gd name="adj" fmla="val 13559"/>
            </a:avLst>
          </a:prstGeom>
          <a:solidFill>
            <a:srgbClr val="141A17"/>
          </a:solidFill>
          <a:ln w="12700">
            <a:solidFill>
              <a:srgbClr val="141A17">
                <a:alpha val="0"/>
              </a:srgbClr>
            </a:solidFill>
            <a:prstDash val="solid"/>
          </a:ln>
        </p:spPr>
      </p:sp>
      <p:sp>
        <p:nvSpPr>
          <p:cNvPr id="54" name="Shape 52"/>
          <p:cNvSpPr/>
          <p:nvPr/>
        </p:nvSpPr>
        <p:spPr>
          <a:xfrm>
            <a:off x="6327648" y="2930651"/>
            <a:ext cx="493776" cy="265176"/>
          </a:xfrm>
          <a:prstGeom prst="roundRect">
            <a:avLst>
              <a:gd name="adj" fmla="val 14706"/>
            </a:avLst>
          </a:prstGeom>
          <a:solidFill>
            <a:srgbClr val="F3A65A"/>
          </a:solidFill>
          <a:ln w="12700">
            <a:solidFill>
              <a:srgbClr val="F3A65A">
                <a:alpha val="0"/>
              </a:srgbClr>
            </a:solidFill>
            <a:prstDash val="solid"/>
          </a:ln>
        </p:spPr>
      </p:sp>
      <p:sp>
        <p:nvSpPr>
          <p:cNvPr id="55" name="Text 53"/>
          <p:cNvSpPr/>
          <p:nvPr/>
        </p:nvSpPr>
        <p:spPr>
          <a:xfrm>
            <a:off x="6327648" y="2985515"/>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A9</a:t>
            </a:r>
            <a:endParaRPr lang="en-US" sz="900" dirty="0"/>
          </a:p>
        </p:txBody>
      </p:sp>
      <p:sp>
        <p:nvSpPr>
          <p:cNvPr id="56" name="Text 54"/>
          <p:cNvSpPr/>
          <p:nvPr/>
        </p:nvSpPr>
        <p:spPr>
          <a:xfrm>
            <a:off x="6967728" y="2866644"/>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Administration panel</a:t>
            </a:r>
            <a:endParaRPr lang="en-US" sz="1090" dirty="0"/>
          </a:p>
        </p:txBody>
      </p:sp>
      <p:sp>
        <p:nvSpPr>
          <p:cNvPr id="57" name="Text 55"/>
          <p:cNvSpPr/>
          <p:nvPr/>
        </p:nvSpPr>
        <p:spPr>
          <a:xfrm>
            <a:off x="6967728" y="3076956"/>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Manage products, categories and order status</a:t>
            </a:r>
            <a:endParaRPr lang="en-US" sz="800" dirty="0"/>
          </a:p>
        </p:txBody>
      </p:sp>
      <p:sp>
        <p:nvSpPr>
          <p:cNvPr id="58" name="Text 56"/>
          <p:cNvSpPr/>
          <p:nvPr/>
        </p:nvSpPr>
        <p:spPr>
          <a:xfrm>
            <a:off x="11155680" y="2967227"/>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F3A65A"/>
                </a:solidFill>
                <a:latin typeface="Aptos" pitchFamily="34" charset="0"/>
                <a:ea typeface="Aptos" pitchFamily="34" charset="-122"/>
                <a:cs typeface="Aptos" pitchFamily="34" charset="-120"/>
              </a:rPr>
              <a:t>M3</a:t>
            </a:r>
            <a:endParaRPr lang="en-US" sz="950" dirty="0"/>
          </a:p>
        </p:txBody>
      </p:sp>
      <p:sp>
        <p:nvSpPr>
          <p:cNvPr id="59" name="Shape 57"/>
          <p:cNvSpPr/>
          <p:nvPr/>
        </p:nvSpPr>
        <p:spPr>
          <a:xfrm>
            <a:off x="6217920" y="3392424"/>
            <a:ext cx="5431536" cy="457200"/>
          </a:xfrm>
          <a:prstGeom prst="roundRect">
            <a:avLst>
              <a:gd name="adj" fmla="val 13559"/>
            </a:avLst>
          </a:prstGeom>
          <a:solidFill>
            <a:srgbClr val="141A17"/>
          </a:solidFill>
          <a:ln w="12700">
            <a:solidFill>
              <a:srgbClr val="141A17">
                <a:alpha val="0"/>
              </a:srgbClr>
            </a:solidFill>
            <a:prstDash val="solid"/>
          </a:ln>
        </p:spPr>
      </p:sp>
      <p:sp>
        <p:nvSpPr>
          <p:cNvPr id="60" name="Shape 58"/>
          <p:cNvSpPr/>
          <p:nvPr/>
        </p:nvSpPr>
        <p:spPr>
          <a:xfrm>
            <a:off x="6327648" y="3488436"/>
            <a:ext cx="493776" cy="265176"/>
          </a:xfrm>
          <a:prstGeom prst="roundRect">
            <a:avLst>
              <a:gd name="adj" fmla="val 14706"/>
            </a:avLst>
          </a:prstGeom>
          <a:solidFill>
            <a:srgbClr val="F3A65A"/>
          </a:solidFill>
          <a:ln w="12700">
            <a:solidFill>
              <a:srgbClr val="F3A65A">
                <a:alpha val="0"/>
              </a:srgbClr>
            </a:solidFill>
            <a:prstDash val="solid"/>
          </a:ln>
        </p:spPr>
      </p:sp>
      <p:sp>
        <p:nvSpPr>
          <p:cNvPr id="61" name="Text 59"/>
          <p:cNvSpPr/>
          <p:nvPr/>
        </p:nvSpPr>
        <p:spPr>
          <a:xfrm>
            <a:off x="6327648" y="3543300"/>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A10</a:t>
            </a:r>
            <a:endParaRPr lang="en-US" sz="900" dirty="0"/>
          </a:p>
        </p:txBody>
      </p:sp>
      <p:sp>
        <p:nvSpPr>
          <p:cNvPr id="62" name="Text 60"/>
          <p:cNvSpPr/>
          <p:nvPr/>
        </p:nvSpPr>
        <p:spPr>
          <a:xfrm>
            <a:off x="6967728" y="3424428"/>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Basic security</a:t>
            </a:r>
            <a:endParaRPr lang="en-US" sz="1090" dirty="0"/>
          </a:p>
        </p:txBody>
      </p:sp>
      <p:sp>
        <p:nvSpPr>
          <p:cNvPr id="63" name="Text 61"/>
          <p:cNvSpPr/>
          <p:nvPr/>
        </p:nvSpPr>
        <p:spPr>
          <a:xfrm>
            <a:off x="6967728" y="3634740"/>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Server-side validation and protected admin access</a:t>
            </a:r>
            <a:endParaRPr lang="en-US" sz="800" dirty="0"/>
          </a:p>
        </p:txBody>
      </p:sp>
      <p:sp>
        <p:nvSpPr>
          <p:cNvPr id="64" name="Text 62"/>
          <p:cNvSpPr/>
          <p:nvPr/>
        </p:nvSpPr>
        <p:spPr>
          <a:xfrm>
            <a:off x="11155680" y="3525012"/>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F3A65A"/>
                </a:solidFill>
                <a:latin typeface="Aptos" pitchFamily="34" charset="0"/>
                <a:ea typeface="Aptos" pitchFamily="34" charset="-122"/>
                <a:cs typeface="Aptos" pitchFamily="34" charset="-120"/>
              </a:rPr>
              <a:t>M3</a:t>
            </a:r>
            <a:endParaRPr lang="en-US" sz="950" dirty="0"/>
          </a:p>
        </p:txBody>
      </p:sp>
      <p:sp>
        <p:nvSpPr>
          <p:cNvPr id="65" name="Shape 63"/>
          <p:cNvSpPr/>
          <p:nvPr/>
        </p:nvSpPr>
        <p:spPr>
          <a:xfrm>
            <a:off x="6217920" y="3950208"/>
            <a:ext cx="5431536" cy="457200"/>
          </a:xfrm>
          <a:prstGeom prst="roundRect">
            <a:avLst>
              <a:gd name="adj" fmla="val 13559"/>
            </a:avLst>
          </a:prstGeom>
          <a:solidFill>
            <a:srgbClr val="141A17"/>
          </a:solidFill>
          <a:ln w="12700">
            <a:solidFill>
              <a:srgbClr val="141A17">
                <a:alpha val="0"/>
              </a:srgbClr>
            </a:solidFill>
            <a:prstDash val="solid"/>
          </a:ln>
        </p:spPr>
      </p:sp>
      <p:sp>
        <p:nvSpPr>
          <p:cNvPr id="66" name="Shape 64"/>
          <p:cNvSpPr/>
          <p:nvPr/>
        </p:nvSpPr>
        <p:spPr>
          <a:xfrm>
            <a:off x="6327648" y="4046220"/>
            <a:ext cx="493776" cy="265176"/>
          </a:xfrm>
          <a:prstGeom prst="roundRect">
            <a:avLst>
              <a:gd name="adj" fmla="val 14706"/>
            </a:avLst>
          </a:prstGeom>
          <a:solidFill>
            <a:srgbClr val="8AC6E8"/>
          </a:solidFill>
          <a:ln w="12700">
            <a:solidFill>
              <a:srgbClr val="8AC6E8">
                <a:alpha val="0"/>
              </a:srgbClr>
            </a:solidFill>
            <a:prstDash val="solid"/>
          </a:ln>
        </p:spPr>
      </p:sp>
      <p:sp>
        <p:nvSpPr>
          <p:cNvPr id="67" name="Text 65"/>
          <p:cNvSpPr/>
          <p:nvPr/>
        </p:nvSpPr>
        <p:spPr>
          <a:xfrm>
            <a:off x="6327648" y="4101084"/>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A11</a:t>
            </a:r>
            <a:endParaRPr lang="en-US" sz="900" dirty="0"/>
          </a:p>
        </p:txBody>
      </p:sp>
      <p:sp>
        <p:nvSpPr>
          <p:cNvPr id="68" name="Text 66"/>
          <p:cNvSpPr/>
          <p:nvPr/>
        </p:nvSpPr>
        <p:spPr>
          <a:xfrm>
            <a:off x="6967728" y="3982212"/>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Responsive design</a:t>
            </a:r>
            <a:endParaRPr lang="en-US" sz="1090" dirty="0"/>
          </a:p>
        </p:txBody>
      </p:sp>
      <p:sp>
        <p:nvSpPr>
          <p:cNvPr id="69" name="Text 67"/>
          <p:cNvSpPr/>
          <p:nvPr/>
        </p:nvSpPr>
        <p:spPr>
          <a:xfrm>
            <a:off x="6967728" y="4192524"/>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Customer pages usable at 360 px width</a:t>
            </a:r>
            <a:endParaRPr lang="en-US" sz="800" dirty="0"/>
          </a:p>
        </p:txBody>
      </p:sp>
      <p:sp>
        <p:nvSpPr>
          <p:cNvPr id="70" name="Text 68"/>
          <p:cNvSpPr/>
          <p:nvPr/>
        </p:nvSpPr>
        <p:spPr>
          <a:xfrm>
            <a:off x="11155680" y="4082796"/>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8AC6E8"/>
                </a:solidFill>
                <a:latin typeface="Aptos" pitchFamily="34" charset="0"/>
                <a:ea typeface="Aptos" pitchFamily="34" charset="-122"/>
                <a:cs typeface="Aptos" pitchFamily="34" charset="-120"/>
              </a:rPr>
              <a:t>M1</a:t>
            </a:r>
            <a:endParaRPr lang="en-US" sz="950" dirty="0"/>
          </a:p>
        </p:txBody>
      </p:sp>
      <p:sp>
        <p:nvSpPr>
          <p:cNvPr id="71" name="Shape 69"/>
          <p:cNvSpPr/>
          <p:nvPr/>
        </p:nvSpPr>
        <p:spPr>
          <a:xfrm>
            <a:off x="6217920" y="4507992"/>
            <a:ext cx="5431536" cy="457200"/>
          </a:xfrm>
          <a:prstGeom prst="roundRect">
            <a:avLst>
              <a:gd name="adj" fmla="val 13559"/>
            </a:avLst>
          </a:prstGeom>
          <a:solidFill>
            <a:srgbClr val="141A17"/>
          </a:solidFill>
          <a:ln w="12700">
            <a:solidFill>
              <a:srgbClr val="141A17">
                <a:alpha val="0"/>
              </a:srgbClr>
            </a:solidFill>
            <a:prstDash val="solid"/>
          </a:ln>
        </p:spPr>
      </p:sp>
      <p:sp>
        <p:nvSpPr>
          <p:cNvPr id="72" name="Shape 70"/>
          <p:cNvSpPr/>
          <p:nvPr/>
        </p:nvSpPr>
        <p:spPr>
          <a:xfrm>
            <a:off x="6327648" y="4604004"/>
            <a:ext cx="493776" cy="265176"/>
          </a:xfrm>
          <a:prstGeom prst="roundRect">
            <a:avLst>
              <a:gd name="adj" fmla="val 14706"/>
            </a:avLst>
          </a:prstGeom>
          <a:solidFill>
            <a:srgbClr val="F3A65A"/>
          </a:solidFill>
          <a:ln w="12700">
            <a:solidFill>
              <a:srgbClr val="F3A65A">
                <a:alpha val="0"/>
              </a:srgbClr>
            </a:solidFill>
            <a:prstDash val="solid"/>
          </a:ln>
        </p:spPr>
      </p:sp>
      <p:sp>
        <p:nvSpPr>
          <p:cNvPr id="73" name="Text 71"/>
          <p:cNvSpPr/>
          <p:nvPr/>
        </p:nvSpPr>
        <p:spPr>
          <a:xfrm>
            <a:off x="6327648" y="4658868"/>
            <a:ext cx="493776" cy="155448"/>
          </a:xfrm>
          <a:prstGeom prst="rect">
            <a:avLst/>
          </a:prstGeom>
          <a:noFill/>
          <a:ln/>
        </p:spPr>
        <p:txBody>
          <a:bodyPr wrap="square" lIns="0" tIns="0" rIns="0" bIns="0" rtlCol="0" anchor="ctr">
            <a:normAutofit/>
          </a:bodyPr>
          <a:lstStyle/>
          <a:p>
            <a:pPr marL="0" indent="0" algn="ctr">
              <a:buNone/>
            </a:pPr>
            <a:r>
              <a:rPr lang="en-US" sz="900" b="1" dirty="0">
                <a:solidFill>
                  <a:srgbClr val="0B0F0D"/>
                </a:solidFill>
                <a:latin typeface="Aptos" pitchFamily="34" charset="0"/>
                <a:ea typeface="Aptos" pitchFamily="34" charset="-122"/>
                <a:cs typeface="Aptos" pitchFamily="34" charset="-120"/>
              </a:rPr>
              <a:t>A12</a:t>
            </a:r>
            <a:endParaRPr lang="en-US" sz="900" dirty="0"/>
          </a:p>
        </p:txBody>
      </p:sp>
      <p:sp>
        <p:nvSpPr>
          <p:cNvPr id="74" name="Text 72"/>
          <p:cNvSpPr/>
          <p:nvPr/>
        </p:nvSpPr>
        <p:spPr>
          <a:xfrm>
            <a:off x="6967728" y="4539996"/>
            <a:ext cx="3447288" cy="192024"/>
          </a:xfrm>
          <a:prstGeom prst="rect">
            <a:avLst/>
          </a:prstGeom>
          <a:noFill/>
          <a:ln/>
        </p:spPr>
        <p:txBody>
          <a:bodyPr wrap="square" lIns="0" tIns="0" rIns="0" bIns="0" rtlCol="0" anchor="ctr">
            <a:normAutofit/>
          </a:bodyPr>
          <a:lstStyle/>
          <a:p>
            <a:pPr marL="0" indent="0">
              <a:buNone/>
            </a:pPr>
            <a:r>
              <a:rPr lang="en-US" sz="1090" b="1" dirty="0">
                <a:solidFill>
                  <a:srgbClr val="F3F5F1"/>
                </a:solidFill>
                <a:latin typeface="Aptos" pitchFamily="34" charset="0"/>
                <a:ea typeface="Aptos" pitchFamily="34" charset="-122"/>
                <a:cs typeface="Aptos" pitchFamily="34" charset="-120"/>
              </a:rPr>
              <a:t>Automated tests</a:t>
            </a:r>
            <a:endParaRPr lang="en-US" sz="1090" dirty="0"/>
          </a:p>
        </p:txBody>
      </p:sp>
      <p:sp>
        <p:nvSpPr>
          <p:cNvPr id="75" name="Text 73"/>
          <p:cNvSpPr/>
          <p:nvPr/>
        </p:nvSpPr>
        <p:spPr>
          <a:xfrm>
            <a:off x="6967728" y="4750307"/>
            <a:ext cx="4297680" cy="164592"/>
          </a:xfrm>
          <a:prstGeom prst="rect">
            <a:avLst/>
          </a:prstGeom>
          <a:noFill/>
          <a:ln/>
        </p:spPr>
        <p:txBody>
          <a:bodyPr wrap="square" lIns="0" tIns="0" rIns="0" bIns="0" rtlCol="0" anchor="ctr">
            <a:normAutofit/>
          </a:bodyPr>
          <a:lstStyle/>
          <a:p>
            <a:pPr marL="0" indent="0">
              <a:buNone/>
            </a:pPr>
            <a:r>
              <a:rPr lang="en-US" sz="800" dirty="0">
                <a:solidFill>
                  <a:srgbClr val="A8B1AB"/>
                </a:solidFill>
                <a:latin typeface="Aptos" pitchFamily="34" charset="0"/>
                <a:ea typeface="Aptos" pitchFamily="34" charset="-122"/>
                <a:cs typeface="Aptos" pitchFamily="34" charset="-120"/>
              </a:rPr>
              <a:t>10+ tests; M2 contributes cart and payment tests</a:t>
            </a:r>
            <a:endParaRPr lang="en-US" sz="800" dirty="0"/>
          </a:p>
        </p:txBody>
      </p:sp>
      <p:sp>
        <p:nvSpPr>
          <p:cNvPr id="76" name="Text 74"/>
          <p:cNvSpPr/>
          <p:nvPr/>
        </p:nvSpPr>
        <p:spPr>
          <a:xfrm>
            <a:off x="11155680" y="4640579"/>
            <a:ext cx="356616" cy="182880"/>
          </a:xfrm>
          <a:prstGeom prst="rect">
            <a:avLst/>
          </a:prstGeom>
          <a:noFill/>
          <a:ln/>
        </p:spPr>
        <p:txBody>
          <a:bodyPr wrap="square" lIns="0" tIns="0" rIns="0" bIns="0" rtlCol="0" anchor="ctr">
            <a:normAutofit/>
          </a:bodyPr>
          <a:lstStyle/>
          <a:p>
            <a:pPr marL="0" indent="0" algn="ctr">
              <a:buNone/>
            </a:pPr>
            <a:r>
              <a:rPr lang="en-US" sz="950" b="1" dirty="0">
                <a:solidFill>
                  <a:srgbClr val="F3A65A"/>
                </a:solidFill>
                <a:latin typeface="Aptos" pitchFamily="34" charset="0"/>
                <a:ea typeface="Aptos" pitchFamily="34" charset="-122"/>
                <a:cs typeface="Aptos" pitchFamily="34" charset="-120"/>
              </a:rPr>
              <a:t>M3</a:t>
            </a:r>
            <a:endParaRPr lang="en-US" sz="950" dirty="0"/>
          </a:p>
        </p:txBody>
      </p:sp>
      <p:sp>
        <p:nvSpPr>
          <p:cNvPr id="89"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9</a:t>
            </a:fld>
            <a:endParaRPr lang="en-US"/>
          </a:p>
        </p:txBody>
      </p:sp>
      <p:sp>
        <p:nvSpPr>
          <p:cNvPr id="90" name="TextBox 89"/>
          <p:cNvSpPr txBox="1"/>
          <p:nvPr/>
        </p:nvSpPr>
        <p:spPr>
          <a:xfrm>
            <a:off x="658368" y="5056632"/>
            <a:ext cx="7772400" cy="164592"/>
          </a:xfrm>
          <a:prstGeom prst="rect">
            <a:avLst/>
          </a:prstGeom>
          <a:noFill/>
        </p:spPr>
        <p:txBody>
          <a:bodyPr wrap="none" lIns="0" tIns="0" rIns="0" bIns="0" anchor="ctr">
            <a:spAutoFit/>
          </a:bodyPr>
          <a:lstStyle/>
          <a:p>
            <a:pPr algn="l"/>
            <a:r>
              <a:rPr sz="850" b="1">
                <a:solidFill>
                  <a:srgbClr val="C5F26D"/>
                </a:solidFill>
                <a:latin typeface="Aptos"/>
              </a:rPr>
              <a:t>ALL BONUS OPTIONS  ·  PROPOSED FOR P2 APPROVAL</a:t>
            </a:r>
          </a:p>
        </p:txBody>
      </p:sp>
      <p:sp>
        <p:nvSpPr>
          <p:cNvPr id="91" name="Rounded Rectangle 90"/>
          <p:cNvSpPr/>
          <p:nvPr/>
        </p:nvSpPr>
        <p:spPr>
          <a:xfrm>
            <a:off x="640080" y="5294376"/>
            <a:ext cx="2651760" cy="292608"/>
          </a:xfrm>
          <a:prstGeom prst="roundRect">
            <a:avLst>
              <a:gd name="adj" fmla="val 8000"/>
            </a:avLst>
          </a:prstGeom>
          <a:solidFill>
            <a:srgbClr val="192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758952" y="5353812"/>
            <a:ext cx="310896" cy="164592"/>
          </a:xfrm>
          <a:prstGeom prst="rect">
            <a:avLst/>
          </a:prstGeom>
          <a:noFill/>
        </p:spPr>
        <p:txBody>
          <a:bodyPr wrap="none" lIns="0" tIns="0" rIns="0" bIns="0" anchor="ctr">
            <a:spAutoFit/>
          </a:bodyPr>
          <a:lstStyle/>
          <a:p>
            <a:pPr algn="l"/>
            <a:r>
              <a:rPr sz="900" b="1">
                <a:solidFill>
                  <a:srgbClr val="8AC6E8"/>
                </a:solidFill>
                <a:latin typeface="Aptos"/>
              </a:rPr>
              <a:t>B1</a:t>
            </a:r>
          </a:p>
        </p:txBody>
      </p:sp>
      <p:sp>
        <p:nvSpPr>
          <p:cNvPr id="93" name="TextBox 92"/>
          <p:cNvSpPr txBox="1"/>
          <p:nvPr/>
        </p:nvSpPr>
        <p:spPr>
          <a:xfrm>
            <a:off x="1106424" y="5344668"/>
            <a:ext cx="1554480" cy="182880"/>
          </a:xfrm>
          <a:prstGeom prst="rect">
            <a:avLst/>
          </a:prstGeom>
          <a:noFill/>
        </p:spPr>
        <p:txBody>
          <a:bodyPr wrap="none" lIns="0" tIns="0" rIns="0" bIns="0" anchor="ctr">
            <a:spAutoFit/>
          </a:bodyPr>
          <a:lstStyle/>
          <a:p>
            <a:pPr algn="l">
              <a:spcBef>
                <a:spcPts val="0"/>
              </a:spcBef>
              <a:spcAft>
                <a:spcPts val="0"/>
              </a:spcAft>
            </a:pPr>
            <a:r>
              <a:rPr sz="910" b="1">
                <a:solidFill>
                  <a:srgbClr val="F3F5F1"/>
                </a:solidFill>
                <a:latin typeface="Aptos"/>
              </a:rPr>
              <a:t>Filtered search</a:t>
            </a:r>
          </a:p>
        </p:txBody>
      </p:sp>
      <p:sp>
        <p:nvSpPr>
          <p:cNvPr id="94" name="TextBox 93"/>
          <p:cNvSpPr txBox="1"/>
          <p:nvPr/>
        </p:nvSpPr>
        <p:spPr>
          <a:xfrm>
            <a:off x="2633472" y="5353812"/>
            <a:ext cx="566928" cy="164592"/>
          </a:xfrm>
          <a:prstGeom prst="rect">
            <a:avLst/>
          </a:prstGeom>
          <a:noFill/>
        </p:spPr>
        <p:txBody>
          <a:bodyPr wrap="none" lIns="0" tIns="0" rIns="0" bIns="0" anchor="ctr">
            <a:spAutoFit/>
          </a:bodyPr>
          <a:lstStyle/>
          <a:p>
            <a:pPr algn="r">
              <a:spcBef>
                <a:spcPts val="0"/>
              </a:spcBef>
              <a:spcAft>
                <a:spcPts val="0"/>
              </a:spcAft>
            </a:pPr>
            <a:r>
              <a:rPr sz="760">
                <a:solidFill>
                  <a:srgbClr val="A8B1AB"/>
                </a:solidFill>
                <a:latin typeface="Aptos"/>
              </a:rPr>
              <a:t>M1</a:t>
            </a:r>
          </a:p>
        </p:txBody>
      </p:sp>
      <p:sp>
        <p:nvSpPr>
          <p:cNvPr id="95" name="Rounded Rectangle 94"/>
          <p:cNvSpPr/>
          <p:nvPr/>
        </p:nvSpPr>
        <p:spPr>
          <a:xfrm>
            <a:off x="3401568" y="5294376"/>
            <a:ext cx="2651760" cy="292608"/>
          </a:xfrm>
          <a:prstGeom prst="roundRect">
            <a:avLst>
              <a:gd name="adj" fmla="val 8000"/>
            </a:avLst>
          </a:prstGeom>
          <a:solidFill>
            <a:srgbClr val="192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3520439" y="5353812"/>
            <a:ext cx="310896" cy="164592"/>
          </a:xfrm>
          <a:prstGeom prst="rect">
            <a:avLst/>
          </a:prstGeom>
          <a:noFill/>
        </p:spPr>
        <p:txBody>
          <a:bodyPr wrap="none" lIns="0" tIns="0" rIns="0" bIns="0" anchor="ctr">
            <a:spAutoFit/>
          </a:bodyPr>
          <a:lstStyle/>
          <a:p>
            <a:pPr algn="l"/>
            <a:r>
              <a:rPr sz="900" b="1">
                <a:solidFill>
                  <a:srgbClr val="C5F26D"/>
                </a:solidFill>
                <a:latin typeface="Aptos"/>
              </a:rPr>
              <a:t>B2</a:t>
            </a:r>
          </a:p>
        </p:txBody>
      </p:sp>
      <p:sp>
        <p:nvSpPr>
          <p:cNvPr id="97" name="TextBox 96"/>
          <p:cNvSpPr txBox="1"/>
          <p:nvPr/>
        </p:nvSpPr>
        <p:spPr>
          <a:xfrm>
            <a:off x="3867911" y="5344668"/>
            <a:ext cx="1554480" cy="182880"/>
          </a:xfrm>
          <a:prstGeom prst="rect">
            <a:avLst/>
          </a:prstGeom>
          <a:noFill/>
        </p:spPr>
        <p:txBody>
          <a:bodyPr wrap="none" lIns="0" tIns="0" rIns="0" bIns="0" anchor="ctr">
            <a:spAutoFit/>
          </a:bodyPr>
          <a:lstStyle/>
          <a:p>
            <a:pPr algn="l">
              <a:spcBef>
                <a:spcPts val="0"/>
              </a:spcBef>
              <a:spcAft>
                <a:spcPts val="0"/>
              </a:spcAft>
            </a:pPr>
            <a:r>
              <a:rPr sz="910" b="1">
                <a:solidFill>
                  <a:srgbClr val="F3F5F1"/>
                </a:solidFill>
                <a:latin typeface="Aptos"/>
              </a:rPr>
              <a:t>Recommendations</a:t>
            </a:r>
          </a:p>
        </p:txBody>
      </p:sp>
      <p:sp>
        <p:nvSpPr>
          <p:cNvPr id="98" name="TextBox 97"/>
          <p:cNvSpPr txBox="1"/>
          <p:nvPr/>
        </p:nvSpPr>
        <p:spPr>
          <a:xfrm>
            <a:off x="5394960" y="5353812"/>
            <a:ext cx="566928" cy="164592"/>
          </a:xfrm>
          <a:prstGeom prst="rect">
            <a:avLst/>
          </a:prstGeom>
          <a:noFill/>
        </p:spPr>
        <p:txBody>
          <a:bodyPr wrap="none" lIns="0" tIns="0" rIns="0" bIns="0" anchor="ctr">
            <a:spAutoFit/>
          </a:bodyPr>
          <a:lstStyle/>
          <a:p>
            <a:pPr algn="r">
              <a:spcBef>
                <a:spcPts val="0"/>
              </a:spcBef>
              <a:spcAft>
                <a:spcPts val="0"/>
              </a:spcAft>
            </a:pPr>
            <a:r>
              <a:rPr sz="760">
                <a:solidFill>
                  <a:srgbClr val="A8B1AB"/>
                </a:solidFill>
                <a:latin typeface="Aptos"/>
              </a:rPr>
              <a:t>M1 + M3</a:t>
            </a:r>
          </a:p>
        </p:txBody>
      </p:sp>
      <p:sp>
        <p:nvSpPr>
          <p:cNvPr id="99" name="Rounded Rectangle 98"/>
          <p:cNvSpPr/>
          <p:nvPr/>
        </p:nvSpPr>
        <p:spPr>
          <a:xfrm>
            <a:off x="6163056" y="5294376"/>
            <a:ext cx="2651760" cy="292608"/>
          </a:xfrm>
          <a:prstGeom prst="roundRect">
            <a:avLst>
              <a:gd name="adj" fmla="val 8000"/>
            </a:avLst>
          </a:prstGeom>
          <a:solidFill>
            <a:srgbClr val="192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6281928" y="5353812"/>
            <a:ext cx="310896" cy="164592"/>
          </a:xfrm>
          <a:prstGeom prst="rect">
            <a:avLst/>
          </a:prstGeom>
          <a:noFill/>
        </p:spPr>
        <p:txBody>
          <a:bodyPr wrap="none" lIns="0" tIns="0" rIns="0" bIns="0" anchor="ctr">
            <a:spAutoFit/>
          </a:bodyPr>
          <a:lstStyle/>
          <a:p>
            <a:pPr algn="l"/>
            <a:r>
              <a:rPr sz="900" b="1">
                <a:solidFill>
                  <a:srgbClr val="F3A65A"/>
                </a:solidFill>
                <a:latin typeface="Aptos"/>
              </a:rPr>
              <a:t>B3</a:t>
            </a:r>
          </a:p>
        </p:txBody>
      </p:sp>
      <p:sp>
        <p:nvSpPr>
          <p:cNvPr id="101" name="TextBox 100"/>
          <p:cNvSpPr txBox="1"/>
          <p:nvPr/>
        </p:nvSpPr>
        <p:spPr>
          <a:xfrm>
            <a:off x="6629400" y="5344668"/>
            <a:ext cx="1554480" cy="182880"/>
          </a:xfrm>
          <a:prstGeom prst="rect">
            <a:avLst/>
          </a:prstGeom>
          <a:noFill/>
        </p:spPr>
        <p:txBody>
          <a:bodyPr wrap="none" lIns="0" tIns="0" rIns="0" bIns="0" anchor="ctr">
            <a:spAutoFit/>
          </a:bodyPr>
          <a:lstStyle/>
          <a:p>
            <a:pPr algn="l">
              <a:spcBef>
                <a:spcPts val="0"/>
              </a:spcBef>
              <a:spcAft>
                <a:spcPts val="0"/>
              </a:spcAft>
            </a:pPr>
            <a:r>
              <a:rPr sz="910" b="1">
                <a:solidFill>
                  <a:srgbClr val="F3F5F1"/>
                </a:solidFill>
                <a:latin typeface="Aptos"/>
              </a:rPr>
              <a:t>Reviews &amp; ratings</a:t>
            </a:r>
          </a:p>
        </p:txBody>
      </p:sp>
      <p:sp>
        <p:nvSpPr>
          <p:cNvPr id="102" name="TextBox 101"/>
          <p:cNvSpPr txBox="1"/>
          <p:nvPr/>
        </p:nvSpPr>
        <p:spPr>
          <a:xfrm>
            <a:off x="8156448" y="5353812"/>
            <a:ext cx="566928" cy="164592"/>
          </a:xfrm>
          <a:prstGeom prst="rect">
            <a:avLst/>
          </a:prstGeom>
          <a:noFill/>
        </p:spPr>
        <p:txBody>
          <a:bodyPr wrap="none" lIns="0" tIns="0" rIns="0" bIns="0" anchor="ctr">
            <a:spAutoFit/>
          </a:bodyPr>
          <a:lstStyle/>
          <a:p>
            <a:pPr algn="r">
              <a:spcBef>
                <a:spcPts val="0"/>
              </a:spcBef>
              <a:spcAft>
                <a:spcPts val="0"/>
              </a:spcAft>
            </a:pPr>
            <a:r>
              <a:rPr sz="760">
                <a:solidFill>
                  <a:srgbClr val="A8B1AB"/>
                </a:solidFill>
                <a:latin typeface="Aptos"/>
              </a:rPr>
              <a:t>M1 + M3</a:t>
            </a:r>
          </a:p>
        </p:txBody>
      </p:sp>
      <p:sp>
        <p:nvSpPr>
          <p:cNvPr id="103" name="Rounded Rectangle 102"/>
          <p:cNvSpPr/>
          <p:nvPr/>
        </p:nvSpPr>
        <p:spPr>
          <a:xfrm>
            <a:off x="8924544" y="5294376"/>
            <a:ext cx="2651760" cy="292608"/>
          </a:xfrm>
          <a:prstGeom prst="roundRect">
            <a:avLst>
              <a:gd name="adj" fmla="val 8000"/>
            </a:avLst>
          </a:prstGeom>
          <a:solidFill>
            <a:srgbClr val="192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9043416" y="5353812"/>
            <a:ext cx="310896" cy="164592"/>
          </a:xfrm>
          <a:prstGeom prst="rect">
            <a:avLst/>
          </a:prstGeom>
          <a:noFill/>
        </p:spPr>
        <p:txBody>
          <a:bodyPr wrap="none" lIns="0" tIns="0" rIns="0" bIns="0" anchor="ctr">
            <a:spAutoFit/>
          </a:bodyPr>
          <a:lstStyle/>
          <a:p>
            <a:pPr algn="l"/>
            <a:r>
              <a:rPr sz="900" b="1">
                <a:solidFill>
                  <a:srgbClr val="8AC6E8"/>
                </a:solidFill>
                <a:latin typeface="Aptos"/>
              </a:rPr>
              <a:t>B4</a:t>
            </a:r>
          </a:p>
        </p:txBody>
      </p:sp>
      <p:sp>
        <p:nvSpPr>
          <p:cNvPr id="105" name="TextBox 104"/>
          <p:cNvSpPr txBox="1"/>
          <p:nvPr/>
        </p:nvSpPr>
        <p:spPr>
          <a:xfrm>
            <a:off x="9390888" y="5344668"/>
            <a:ext cx="1554480" cy="182880"/>
          </a:xfrm>
          <a:prstGeom prst="rect">
            <a:avLst/>
          </a:prstGeom>
          <a:noFill/>
        </p:spPr>
        <p:txBody>
          <a:bodyPr wrap="none" lIns="0" tIns="0" rIns="0" bIns="0" anchor="ctr">
            <a:spAutoFit/>
          </a:bodyPr>
          <a:lstStyle/>
          <a:p>
            <a:pPr algn="l">
              <a:spcBef>
                <a:spcPts val="0"/>
              </a:spcBef>
              <a:spcAft>
                <a:spcPts val="0"/>
              </a:spcAft>
            </a:pPr>
            <a:r>
              <a:rPr sz="910" b="1">
                <a:solidFill>
                  <a:srgbClr val="F3F5F1"/>
                </a:solidFill>
                <a:latin typeface="Aptos"/>
              </a:rPr>
              <a:t>Sales dashboard</a:t>
            </a:r>
          </a:p>
        </p:txBody>
      </p:sp>
      <p:sp>
        <p:nvSpPr>
          <p:cNvPr id="106" name="TextBox 105"/>
          <p:cNvSpPr txBox="1"/>
          <p:nvPr/>
        </p:nvSpPr>
        <p:spPr>
          <a:xfrm>
            <a:off x="10917936" y="5353812"/>
            <a:ext cx="566928" cy="164592"/>
          </a:xfrm>
          <a:prstGeom prst="rect">
            <a:avLst/>
          </a:prstGeom>
          <a:noFill/>
        </p:spPr>
        <p:txBody>
          <a:bodyPr wrap="none" lIns="0" tIns="0" rIns="0" bIns="0" anchor="ctr">
            <a:spAutoFit/>
          </a:bodyPr>
          <a:lstStyle/>
          <a:p>
            <a:pPr algn="r">
              <a:spcBef>
                <a:spcPts val="0"/>
              </a:spcBef>
              <a:spcAft>
                <a:spcPts val="0"/>
              </a:spcAft>
            </a:pPr>
            <a:r>
              <a:rPr sz="760">
                <a:solidFill>
                  <a:srgbClr val="A8B1AB"/>
                </a:solidFill>
                <a:latin typeface="Aptos"/>
              </a:rPr>
              <a:t>M3</a:t>
            </a:r>
          </a:p>
        </p:txBody>
      </p:sp>
      <p:sp>
        <p:nvSpPr>
          <p:cNvPr id="107" name="Rounded Rectangle 106"/>
          <p:cNvSpPr/>
          <p:nvPr/>
        </p:nvSpPr>
        <p:spPr>
          <a:xfrm>
            <a:off x="2008631" y="5641848"/>
            <a:ext cx="2651760" cy="292608"/>
          </a:xfrm>
          <a:prstGeom prst="roundRect">
            <a:avLst>
              <a:gd name="adj" fmla="val 8000"/>
            </a:avLst>
          </a:prstGeom>
          <a:solidFill>
            <a:srgbClr val="192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2127503" y="5701284"/>
            <a:ext cx="310896" cy="164592"/>
          </a:xfrm>
          <a:prstGeom prst="rect">
            <a:avLst/>
          </a:prstGeom>
          <a:noFill/>
        </p:spPr>
        <p:txBody>
          <a:bodyPr wrap="none" lIns="0" tIns="0" rIns="0" bIns="0" anchor="ctr">
            <a:spAutoFit/>
          </a:bodyPr>
          <a:lstStyle/>
          <a:p>
            <a:pPr algn="l"/>
            <a:r>
              <a:rPr sz="900" b="1">
                <a:solidFill>
                  <a:srgbClr val="C5F26D"/>
                </a:solidFill>
                <a:latin typeface="Aptos"/>
              </a:rPr>
              <a:t>B5</a:t>
            </a:r>
          </a:p>
        </p:txBody>
      </p:sp>
      <p:sp>
        <p:nvSpPr>
          <p:cNvPr id="109" name="TextBox 108"/>
          <p:cNvSpPr txBox="1"/>
          <p:nvPr/>
        </p:nvSpPr>
        <p:spPr>
          <a:xfrm>
            <a:off x="2474975" y="5692140"/>
            <a:ext cx="1554480" cy="182880"/>
          </a:xfrm>
          <a:prstGeom prst="rect">
            <a:avLst/>
          </a:prstGeom>
          <a:noFill/>
        </p:spPr>
        <p:txBody>
          <a:bodyPr wrap="none" lIns="0" tIns="0" rIns="0" bIns="0" anchor="ctr">
            <a:spAutoFit/>
          </a:bodyPr>
          <a:lstStyle/>
          <a:p>
            <a:pPr algn="l">
              <a:spcBef>
                <a:spcPts val="0"/>
              </a:spcBef>
              <a:spcAft>
                <a:spcPts val="0"/>
              </a:spcAft>
            </a:pPr>
            <a:r>
              <a:rPr sz="910" b="1">
                <a:solidFill>
                  <a:srgbClr val="F3F5F1"/>
                </a:solidFill>
                <a:latin typeface="Aptos"/>
              </a:rPr>
              <a:t>Discount codes</a:t>
            </a:r>
          </a:p>
        </p:txBody>
      </p:sp>
      <p:sp>
        <p:nvSpPr>
          <p:cNvPr id="110" name="TextBox 109"/>
          <p:cNvSpPr txBox="1"/>
          <p:nvPr/>
        </p:nvSpPr>
        <p:spPr>
          <a:xfrm>
            <a:off x="4002023" y="5701284"/>
            <a:ext cx="566928" cy="164592"/>
          </a:xfrm>
          <a:prstGeom prst="rect">
            <a:avLst/>
          </a:prstGeom>
          <a:noFill/>
        </p:spPr>
        <p:txBody>
          <a:bodyPr wrap="none" lIns="0" tIns="0" rIns="0" bIns="0" anchor="ctr">
            <a:spAutoFit/>
          </a:bodyPr>
          <a:lstStyle/>
          <a:p>
            <a:pPr algn="r">
              <a:spcBef>
                <a:spcPts val="0"/>
              </a:spcBef>
              <a:spcAft>
                <a:spcPts val="0"/>
              </a:spcAft>
            </a:pPr>
            <a:r>
              <a:rPr sz="760">
                <a:solidFill>
                  <a:srgbClr val="A8B1AB"/>
                </a:solidFill>
                <a:latin typeface="Aptos"/>
              </a:rPr>
              <a:t>M2</a:t>
            </a:r>
          </a:p>
        </p:txBody>
      </p:sp>
      <p:sp>
        <p:nvSpPr>
          <p:cNvPr id="111" name="Rounded Rectangle 110"/>
          <p:cNvSpPr/>
          <p:nvPr/>
        </p:nvSpPr>
        <p:spPr>
          <a:xfrm>
            <a:off x="4770119" y="5641848"/>
            <a:ext cx="2651760" cy="292608"/>
          </a:xfrm>
          <a:prstGeom prst="roundRect">
            <a:avLst>
              <a:gd name="adj" fmla="val 8000"/>
            </a:avLst>
          </a:prstGeom>
          <a:solidFill>
            <a:srgbClr val="192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4888991" y="5701284"/>
            <a:ext cx="310896" cy="164592"/>
          </a:xfrm>
          <a:prstGeom prst="rect">
            <a:avLst/>
          </a:prstGeom>
          <a:noFill/>
        </p:spPr>
        <p:txBody>
          <a:bodyPr wrap="none" lIns="0" tIns="0" rIns="0" bIns="0" anchor="ctr">
            <a:spAutoFit/>
          </a:bodyPr>
          <a:lstStyle/>
          <a:p>
            <a:pPr algn="l"/>
            <a:r>
              <a:rPr sz="900" b="1">
                <a:solidFill>
                  <a:srgbClr val="F3A65A"/>
                </a:solidFill>
                <a:latin typeface="Aptos"/>
              </a:rPr>
              <a:t>B6</a:t>
            </a:r>
          </a:p>
        </p:txBody>
      </p:sp>
      <p:sp>
        <p:nvSpPr>
          <p:cNvPr id="113" name="TextBox 112"/>
          <p:cNvSpPr txBox="1"/>
          <p:nvPr/>
        </p:nvSpPr>
        <p:spPr>
          <a:xfrm>
            <a:off x="5236463" y="5692140"/>
            <a:ext cx="1554480" cy="182880"/>
          </a:xfrm>
          <a:prstGeom prst="rect">
            <a:avLst/>
          </a:prstGeom>
          <a:noFill/>
        </p:spPr>
        <p:txBody>
          <a:bodyPr wrap="none" lIns="0" tIns="0" rIns="0" bIns="0" anchor="ctr">
            <a:spAutoFit/>
          </a:bodyPr>
          <a:lstStyle/>
          <a:p>
            <a:pPr algn="l">
              <a:spcBef>
                <a:spcPts val="0"/>
              </a:spcBef>
              <a:spcAft>
                <a:spcPts val="0"/>
              </a:spcAft>
            </a:pPr>
            <a:r>
              <a:rPr sz="910" b="1">
                <a:solidFill>
                  <a:srgbClr val="F3F5F1"/>
                </a:solidFill>
                <a:latin typeface="Aptos"/>
              </a:rPr>
              <a:t>Transactional email</a:t>
            </a:r>
          </a:p>
        </p:txBody>
      </p:sp>
      <p:sp>
        <p:nvSpPr>
          <p:cNvPr id="114" name="TextBox 113"/>
          <p:cNvSpPr txBox="1"/>
          <p:nvPr/>
        </p:nvSpPr>
        <p:spPr>
          <a:xfrm>
            <a:off x="6763511" y="5701284"/>
            <a:ext cx="566928" cy="164592"/>
          </a:xfrm>
          <a:prstGeom prst="rect">
            <a:avLst/>
          </a:prstGeom>
          <a:noFill/>
        </p:spPr>
        <p:txBody>
          <a:bodyPr wrap="none" lIns="0" tIns="0" rIns="0" bIns="0" anchor="ctr">
            <a:spAutoFit/>
          </a:bodyPr>
          <a:lstStyle/>
          <a:p>
            <a:pPr algn="r">
              <a:spcBef>
                <a:spcPts val="0"/>
              </a:spcBef>
              <a:spcAft>
                <a:spcPts val="0"/>
              </a:spcAft>
            </a:pPr>
            <a:r>
              <a:rPr sz="760">
                <a:solidFill>
                  <a:srgbClr val="A8B1AB"/>
                </a:solidFill>
                <a:latin typeface="Aptos"/>
              </a:rPr>
              <a:t>M2 + M3</a:t>
            </a:r>
          </a:p>
        </p:txBody>
      </p:sp>
      <p:sp>
        <p:nvSpPr>
          <p:cNvPr id="115" name="Rounded Rectangle 114"/>
          <p:cNvSpPr/>
          <p:nvPr/>
        </p:nvSpPr>
        <p:spPr>
          <a:xfrm>
            <a:off x="7531607" y="5641848"/>
            <a:ext cx="2651760" cy="292608"/>
          </a:xfrm>
          <a:prstGeom prst="roundRect">
            <a:avLst>
              <a:gd name="adj" fmla="val 8000"/>
            </a:avLst>
          </a:prstGeom>
          <a:solidFill>
            <a:srgbClr val="1921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7650479" y="5701284"/>
            <a:ext cx="310896" cy="164592"/>
          </a:xfrm>
          <a:prstGeom prst="rect">
            <a:avLst/>
          </a:prstGeom>
          <a:noFill/>
        </p:spPr>
        <p:txBody>
          <a:bodyPr wrap="none" lIns="0" tIns="0" rIns="0" bIns="0" anchor="ctr">
            <a:spAutoFit/>
          </a:bodyPr>
          <a:lstStyle/>
          <a:p>
            <a:pPr algn="l"/>
            <a:r>
              <a:rPr sz="900" b="1">
                <a:solidFill>
                  <a:srgbClr val="8AC6E8"/>
                </a:solidFill>
                <a:latin typeface="Aptos"/>
              </a:rPr>
              <a:t>B7</a:t>
            </a:r>
          </a:p>
        </p:txBody>
      </p:sp>
      <p:sp>
        <p:nvSpPr>
          <p:cNvPr id="117" name="TextBox 116"/>
          <p:cNvSpPr txBox="1"/>
          <p:nvPr/>
        </p:nvSpPr>
        <p:spPr>
          <a:xfrm>
            <a:off x="7997951" y="5692140"/>
            <a:ext cx="1554480" cy="182880"/>
          </a:xfrm>
          <a:prstGeom prst="rect">
            <a:avLst/>
          </a:prstGeom>
          <a:noFill/>
        </p:spPr>
        <p:txBody>
          <a:bodyPr wrap="none" lIns="0" tIns="0" rIns="0" bIns="0" anchor="ctr">
            <a:spAutoFit/>
          </a:bodyPr>
          <a:lstStyle/>
          <a:p>
            <a:pPr algn="l">
              <a:spcBef>
                <a:spcPts val="0"/>
              </a:spcBef>
              <a:spcAft>
                <a:spcPts val="0"/>
              </a:spcAft>
            </a:pPr>
            <a:r>
              <a:rPr sz="910" b="1">
                <a:solidFill>
                  <a:srgbClr val="F3F5F1"/>
                </a:solidFill>
                <a:latin typeface="Aptos"/>
              </a:rPr>
              <a:t>Wishlist</a:t>
            </a:r>
          </a:p>
        </p:txBody>
      </p:sp>
      <p:sp>
        <p:nvSpPr>
          <p:cNvPr id="118" name="TextBox 117"/>
          <p:cNvSpPr txBox="1"/>
          <p:nvPr/>
        </p:nvSpPr>
        <p:spPr>
          <a:xfrm>
            <a:off x="9524999" y="5701284"/>
            <a:ext cx="566928" cy="164592"/>
          </a:xfrm>
          <a:prstGeom prst="rect">
            <a:avLst/>
          </a:prstGeom>
          <a:noFill/>
        </p:spPr>
        <p:txBody>
          <a:bodyPr wrap="none" lIns="0" tIns="0" rIns="0" bIns="0" anchor="ctr">
            <a:spAutoFit/>
          </a:bodyPr>
          <a:lstStyle/>
          <a:p>
            <a:pPr algn="r">
              <a:spcBef>
                <a:spcPts val="0"/>
              </a:spcBef>
              <a:spcAft>
                <a:spcPts val="0"/>
              </a:spcAft>
            </a:pPr>
            <a:r>
              <a:rPr sz="760">
                <a:solidFill>
                  <a:srgbClr val="A8B1AB"/>
                </a:solidFill>
                <a:latin typeface="Aptos"/>
              </a:rPr>
              <a:t>M1 + M3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5852160" cy="201168"/>
          </a:xfrm>
          <a:prstGeom prst="rect">
            <a:avLst/>
          </a:prstGeom>
          <a:noFill/>
          <a:ln/>
        </p:spPr>
        <p:txBody>
          <a:bodyPr wrap="square" lIns="0" tIns="0" rIns="0" bIns="0" rtlCol="0" anchor="ctr">
            <a:normAutofit/>
          </a:bodyPr>
          <a:lstStyle/>
          <a:p>
            <a:pPr marL="0" indent="0">
              <a:buNone/>
            </a:pPr>
            <a:r>
              <a:rPr lang="en-US" sz="900" b="1" kern="0" spc="210" dirty="0">
                <a:solidFill>
                  <a:srgbClr val="C5F26D"/>
                </a:solidFill>
                <a:latin typeface="Aptos" pitchFamily="34" charset="0"/>
                <a:ea typeface="Aptos" pitchFamily="34" charset="-122"/>
                <a:cs typeface="Aptos" pitchFamily="34" charset="-120"/>
              </a:rPr>
              <a:t>09 / RISKS &amp; READINESS</a:t>
            </a:r>
            <a:endParaRPr lang="en-US" sz="900" dirty="0"/>
          </a:p>
        </p:txBody>
      </p:sp>
      <p:sp>
        <p:nvSpPr>
          <p:cNvPr id="3" name="Text 1"/>
          <p:cNvSpPr/>
          <p:nvPr/>
        </p:nvSpPr>
        <p:spPr>
          <a:xfrm>
            <a:off x="566928" y="713232"/>
            <a:ext cx="10972800" cy="438912"/>
          </a:xfrm>
          <a:prstGeom prst="rect">
            <a:avLst/>
          </a:prstGeom>
          <a:noFill/>
          <a:ln/>
        </p:spPr>
        <p:txBody>
          <a:bodyPr wrap="square" lIns="0" tIns="0" rIns="0" bIns="0" rtlCol="0" anchor="ctr">
            <a:normAutofit/>
          </a:bodyPr>
          <a:lstStyle/>
          <a:p>
            <a:pPr marL="0" indent="0">
              <a:buNone/>
            </a:pPr>
            <a:r>
              <a:rPr lang="en-US" sz="2700" b="1" dirty="0">
                <a:solidFill>
                  <a:srgbClr val="F3F5F1"/>
                </a:solidFill>
                <a:latin typeface="Aptos Display" pitchFamily="34" charset="0"/>
                <a:ea typeface="Aptos Display" pitchFamily="34" charset="-122"/>
                <a:cs typeface="Aptos Display" pitchFamily="34" charset="-120"/>
              </a:rPr>
              <a:t>Three risks we will manage early</a:t>
            </a:r>
            <a:endParaRPr lang="en-US" sz="2700" dirty="0"/>
          </a:p>
        </p:txBody>
      </p:sp>
      <p:sp>
        <p:nvSpPr>
          <p:cNvPr id="5" name="Shape 3"/>
          <p:cNvSpPr/>
          <p:nvPr/>
        </p:nvSpPr>
        <p:spPr>
          <a:xfrm>
            <a:off x="658368" y="1901952"/>
            <a:ext cx="3493008" cy="3200400"/>
          </a:xfrm>
          <a:prstGeom prst="roundRect">
            <a:avLst>
              <a:gd name="adj" fmla="val 4000"/>
            </a:avLst>
          </a:prstGeom>
          <a:solidFill>
            <a:srgbClr val="141A17"/>
          </a:solidFill>
          <a:ln w="12700">
            <a:solidFill>
              <a:srgbClr val="141A17">
                <a:alpha val="0"/>
              </a:srgbClr>
            </a:solidFill>
            <a:prstDash val="solid"/>
          </a:ln>
        </p:spPr>
      </p:sp>
      <p:sp>
        <p:nvSpPr>
          <p:cNvPr id="6" name="Text 4"/>
          <p:cNvSpPr/>
          <p:nvPr/>
        </p:nvSpPr>
        <p:spPr>
          <a:xfrm>
            <a:off x="859536" y="2103120"/>
            <a:ext cx="438912" cy="219456"/>
          </a:xfrm>
          <a:prstGeom prst="rect">
            <a:avLst/>
          </a:prstGeom>
          <a:noFill/>
          <a:ln/>
        </p:spPr>
        <p:txBody>
          <a:bodyPr wrap="square" lIns="0" tIns="0" rIns="0" bIns="0" rtlCol="0" anchor="ctr">
            <a:normAutofit/>
          </a:bodyPr>
          <a:lstStyle/>
          <a:p>
            <a:pPr marL="0" indent="0">
              <a:buNone/>
            </a:pPr>
            <a:r>
              <a:rPr lang="en-US" sz="1200" b="1" kern="0" spc="120" dirty="0">
                <a:solidFill>
                  <a:srgbClr val="F3A65A"/>
                </a:solidFill>
                <a:latin typeface="Aptos" pitchFamily="34" charset="0"/>
                <a:ea typeface="Aptos" pitchFamily="34" charset="-122"/>
                <a:cs typeface="Aptos" pitchFamily="34" charset="-120"/>
              </a:rPr>
              <a:t>01</a:t>
            </a:r>
            <a:endParaRPr lang="en-US" sz="1200" dirty="0"/>
          </a:p>
        </p:txBody>
      </p:sp>
      <p:sp>
        <p:nvSpPr>
          <p:cNvPr id="7" name="Text 5"/>
          <p:cNvSpPr/>
          <p:nvPr/>
        </p:nvSpPr>
        <p:spPr>
          <a:xfrm>
            <a:off x="859536" y="2496312"/>
            <a:ext cx="3063240" cy="566928"/>
          </a:xfrm>
          <a:prstGeom prst="rect">
            <a:avLst/>
          </a:prstGeom>
          <a:noFill/>
          <a:ln/>
        </p:spPr>
        <p:txBody>
          <a:bodyPr wrap="square" lIns="0" tIns="0" rIns="0" bIns="0" rtlCol="0" anchor="t">
            <a:normAutofit/>
          </a:bodyPr>
          <a:lstStyle/>
          <a:p>
            <a:pPr marL="0" indent="0">
              <a:buNone/>
            </a:pPr>
            <a:r>
              <a:rPr lang="en-US" sz="1600" b="1" dirty="0">
                <a:solidFill>
                  <a:srgbClr val="F3F5F1"/>
                </a:solidFill>
                <a:latin typeface="Aptos" pitchFamily="34" charset="0"/>
                <a:ea typeface="Aptos" pitchFamily="34" charset="-122"/>
                <a:cs typeface="Aptos" pitchFamily="34" charset="-120"/>
              </a:rPr>
              <a:t>Payment integration takes longer than expected</a:t>
            </a:r>
            <a:endParaRPr lang="en-US" sz="1600" dirty="0"/>
          </a:p>
        </p:txBody>
      </p:sp>
      <p:sp>
        <p:nvSpPr>
          <p:cNvPr id="8" name="Text 6"/>
          <p:cNvSpPr/>
          <p:nvPr/>
        </p:nvSpPr>
        <p:spPr>
          <a:xfrm>
            <a:off x="859536" y="3236976"/>
            <a:ext cx="1005840" cy="164592"/>
          </a:xfrm>
          <a:prstGeom prst="rect">
            <a:avLst/>
          </a:prstGeom>
          <a:noFill/>
          <a:ln/>
        </p:spPr>
        <p:txBody>
          <a:bodyPr wrap="square" lIns="0" tIns="0" rIns="0" bIns="0" rtlCol="0" anchor="ctr">
            <a:normAutofit/>
          </a:bodyPr>
          <a:lstStyle/>
          <a:p>
            <a:pPr marL="0" indent="0">
              <a:buNone/>
            </a:pPr>
            <a:r>
              <a:rPr lang="en-US" sz="850" b="1" kern="0" spc="150" dirty="0">
                <a:solidFill>
                  <a:srgbClr val="758079"/>
                </a:solidFill>
                <a:latin typeface="Aptos" pitchFamily="34" charset="0"/>
                <a:ea typeface="Aptos" pitchFamily="34" charset="-122"/>
                <a:cs typeface="Aptos" pitchFamily="34" charset="-120"/>
              </a:rPr>
              <a:t>RISK</a:t>
            </a:r>
            <a:endParaRPr lang="en-US" sz="850" dirty="0"/>
          </a:p>
        </p:txBody>
      </p:sp>
      <p:sp>
        <p:nvSpPr>
          <p:cNvPr id="9" name="Text 7"/>
          <p:cNvSpPr/>
          <p:nvPr/>
        </p:nvSpPr>
        <p:spPr>
          <a:xfrm>
            <a:off x="859536" y="3474720"/>
            <a:ext cx="3054096" cy="521208"/>
          </a:xfrm>
          <a:prstGeom prst="rect">
            <a:avLst/>
          </a:prstGeom>
          <a:noFill/>
          <a:ln/>
        </p:spPr>
        <p:txBody>
          <a:bodyPr wrap="square" lIns="0" tIns="0" rIns="0" bIns="0" rtlCol="0" anchor="t">
            <a:normAutofit/>
          </a:bodyPr>
          <a:lstStyle/>
          <a:p>
            <a:pPr marL="0" indent="0">
              <a:buNone/>
            </a:pPr>
            <a:r>
              <a:rPr lang="en-US" sz="1050" dirty="0">
                <a:solidFill>
                  <a:srgbClr val="A8B1AB"/>
                </a:solidFill>
                <a:latin typeface="Aptos" pitchFamily="34" charset="0"/>
                <a:ea typeface="Aptos" pitchFamily="34" charset="-122"/>
                <a:cs typeface="Aptos" pitchFamily="34" charset="-120"/>
              </a:rPr>
              <a:t>The order could be marked Paid incorrectly, or the confirmation may not reach the server.</a:t>
            </a:r>
            <a:endParaRPr lang="en-US" sz="1050" dirty="0"/>
          </a:p>
        </p:txBody>
      </p:sp>
      <p:sp>
        <p:nvSpPr>
          <p:cNvPr id="10" name="Text 8"/>
          <p:cNvSpPr/>
          <p:nvPr/>
        </p:nvSpPr>
        <p:spPr>
          <a:xfrm>
            <a:off x="859536" y="4123944"/>
            <a:ext cx="1280160" cy="164592"/>
          </a:xfrm>
          <a:prstGeom prst="rect">
            <a:avLst/>
          </a:prstGeom>
          <a:noFill/>
          <a:ln/>
        </p:spPr>
        <p:txBody>
          <a:bodyPr wrap="square" lIns="0" tIns="0" rIns="0" bIns="0" rtlCol="0" anchor="ctr">
            <a:normAutofit/>
          </a:bodyPr>
          <a:lstStyle/>
          <a:p>
            <a:pPr marL="0" indent="0">
              <a:buNone/>
            </a:pPr>
            <a:r>
              <a:rPr lang="en-US" sz="850" b="1" kern="0" spc="150" dirty="0">
                <a:solidFill>
                  <a:srgbClr val="F3A65A"/>
                </a:solidFill>
                <a:latin typeface="Aptos" pitchFamily="34" charset="0"/>
                <a:ea typeface="Aptos" pitchFamily="34" charset="-122"/>
                <a:cs typeface="Aptos" pitchFamily="34" charset="-120"/>
              </a:rPr>
              <a:t>MITIGATION</a:t>
            </a:r>
            <a:endParaRPr lang="en-US" sz="850" dirty="0"/>
          </a:p>
        </p:txBody>
      </p:sp>
      <p:sp>
        <p:nvSpPr>
          <p:cNvPr id="11" name="Text 9"/>
          <p:cNvSpPr/>
          <p:nvPr/>
        </p:nvSpPr>
        <p:spPr>
          <a:xfrm>
            <a:off x="859536" y="4370832"/>
            <a:ext cx="3054096" cy="530352"/>
          </a:xfrm>
          <a:prstGeom prst="rect">
            <a:avLst/>
          </a:prstGeom>
          <a:noFill/>
          <a:ln/>
        </p:spPr>
        <p:txBody>
          <a:bodyPr wrap="square" lIns="0" tIns="0" rIns="0" bIns="0" rtlCol="0" anchor="t">
            <a:normAutofit/>
          </a:bodyPr>
          <a:lstStyle/>
          <a:p>
            <a:pPr marL="0" indent="0">
              <a:buNone/>
            </a:pPr>
            <a:r>
              <a:rPr lang="en-US" sz="1050" dirty="0">
                <a:solidFill>
                  <a:srgbClr val="F3F5F1"/>
                </a:solidFill>
                <a:latin typeface="Aptos" pitchFamily="34" charset="0"/>
                <a:ea typeface="Aptos" pitchFamily="34" charset="-122"/>
                <a:cs typeface="Aptos" pitchFamily="34" charset="-120"/>
              </a:rPr>
              <a:t>Start Stripe test mode early and test both successful and declined payments.</a:t>
            </a:r>
            <a:endParaRPr lang="en-US" sz="1050" dirty="0"/>
          </a:p>
        </p:txBody>
      </p:sp>
      <p:sp>
        <p:nvSpPr>
          <p:cNvPr id="12" name="Shape 10"/>
          <p:cNvSpPr/>
          <p:nvPr/>
        </p:nvSpPr>
        <p:spPr>
          <a:xfrm>
            <a:off x="4352544" y="1901952"/>
            <a:ext cx="3493008" cy="3200400"/>
          </a:xfrm>
          <a:prstGeom prst="roundRect">
            <a:avLst>
              <a:gd name="adj" fmla="val 4000"/>
            </a:avLst>
          </a:prstGeom>
          <a:solidFill>
            <a:srgbClr val="141A17"/>
          </a:solidFill>
          <a:ln w="12700">
            <a:solidFill>
              <a:srgbClr val="141A17">
                <a:alpha val="0"/>
              </a:srgbClr>
            </a:solidFill>
            <a:prstDash val="solid"/>
          </a:ln>
        </p:spPr>
      </p:sp>
      <p:sp>
        <p:nvSpPr>
          <p:cNvPr id="13" name="Text 11"/>
          <p:cNvSpPr/>
          <p:nvPr/>
        </p:nvSpPr>
        <p:spPr>
          <a:xfrm>
            <a:off x="4553712" y="2103120"/>
            <a:ext cx="438912" cy="219456"/>
          </a:xfrm>
          <a:prstGeom prst="rect">
            <a:avLst/>
          </a:prstGeom>
          <a:noFill/>
          <a:ln/>
        </p:spPr>
        <p:txBody>
          <a:bodyPr wrap="square" lIns="0" tIns="0" rIns="0" bIns="0" rtlCol="0" anchor="ctr">
            <a:normAutofit/>
          </a:bodyPr>
          <a:lstStyle/>
          <a:p>
            <a:pPr marL="0" indent="0">
              <a:buNone/>
            </a:pPr>
            <a:r>
              <a:rPr lang="en-US" sz="1200" b="1" kern="0" spc="120" dirty="0">
                <a:solidFill>
                  <a:srgbClr val="8AC6E8"/>
                </a:solidFill>
                <a:latin typeface="Aptos" pitchFamily="34" charset="0"/>
                <a:ea typeface="Aptos" pitchFamily="34" charset="-122"/>
                <a:cs typeface="Aptos" pitchFamily="34" charset="-120"/>
              </a:rPr>
              <a:t>02</a:t>
            </a:r>
            <a:endParaRPr lang="en-US" sz="1200" dirty="0"/>
          </a:p>
        </p:txBody>
      </p:sp>
      <p:sp>
        <p:nvSpPr>
          <p:cNvPr id="14" name="Text 12"/>
          <p:cNvSpPr/>
          <p:nvPr/>
        </p:nvSpPr>
        <p:spPr>
          <a:xfrm>
            <a:off x="4553712" y="2496312"/>
            <a:ext cx="3063240" cy="566928"/>
          </a:xfrm>
          <a:prstGeom prst="rect">
            <a:avLst/>
          </a:prstGeom>
          <a:noFill/>
          <a:ln/>
        </p:spPr>
        <p:txBody>
          <a:bodyPr wrap="square" lIns="0" tIns="0" rIns="0" bIns="0" rtlCol="0" anchor="t">
            <a:normAutofit/>
          </a:bodyPr>
          <a:lstStyle/>
          <a:p>
            <a:pPr marL="0" indent="0">
              <a:buNone/>
            </a:pPr>
            <a:r>
              <a:rPr lang="en-US" sz="1600" b="1" dirty="0">
                <a:solidFill>
                  <a:srgbClr val="F3F5F1"/>
                </a:solidFill>
                <a:latin typeface="Aptos" pitchFamily="34" charset="0"/>
                <a:ea typeface="Aptos" pitchFamily="34" charset="-122"/>
                <a:cs typeface="Aptos" pitchFamily="34" charset="-120"/>
              </a:rPr>
              <a:t>Cart and stock bugs</a:t>
            </a:r>
            <a:endParaRPr lang="en-US" sz="1600" dirty="0"/>
          </a:p>
        </p:txBody>
      </p:sp>
      <p:sp>
        <p:nvSpPr>
          <p:cNvPr id="15" name="Text 13"/>
          <p:cNvSpPr/>
          <p:nvPr/>
        </p:nvSpPr>
        <p:spPr>
          <a:xfrm>
            <a:off x="4553712" y="3236976"/>
            <a:ext cx="1005840" cy="164592"/>
          </a:xfrm>
          <a:prstGeom prst="rect">
            <a:avLst/>
          </a:prstGeom>
          <a:noFill/>
          <a:ln/>
        </p:spPr>
        <p:txBody>
          <a:bodyPr wrap="square" lIns="0" tIns="0" rIns="0" bIns="0" rtlCol="0" anchor="ctr">
            <a:normAutofit/>
          </a:bodyPr>
          <a:lstStyle/>
          <a:p>
            <a:pPr marL="0" indent="0">
              <a:buNone/>
            </a:pPr>
            <a:r>
              <a:rPr lang="en-US" sz="850" b="1" kern="0" spc="150" dirty="0">
                <a:solidFill>
                  <a:srgbClr val="758079"/>
                </a:solidFill>
                <a:latin typeface="Aptos" pitchFamily="34" charset="0"/>
                <a:ea typeface="Aptos" pitchFamily="34" charset="-122"/>
                <a:cs typeface="Aptos" pitchFamily="34" charset="-120"/>
              </a:rPr>
              <a:t>RISK</a:t>
            </a:r>
            <a:endParaRPr lang="en-US" sz="850" dirty="0"/>
          </a:p>
        </p:txBody>
      </p:sp>
      <p:sp>
        <p:nvSpPr>
          <p:cNvPr id="16" name="Text 14"/>
          <p:cNvSpPr/>
          <p:nvPr/>
        </p:nvSpPr>
        <p:spPr>
          <a:xfrm>
            <a:off x="4553712" y="3474720"/>
            <a:ext cx="3054096" cy="521208"/>
          </a:xfrm>
          <a:prstGeom prst="rect">
            <a:avLst/>
          </a:prstGeom>
          <a:noFill/>
          <a:ln/>
        </p:spPr>
        <p:txBody>
          <a:bodyPr wrap="square" lIns="0" tIns="0" rIns="0" bIns="0" rtlCol="0" anchor="t">
            <a:normAutofit/>
          </a:bodyPr>
          <a:lstStyle/>
          <a:p>
            <a:pPr marL="0" indent="0">
              <a:buNone/>
            </a:pPr>
            <a:r>
              <a:rPr lang="en-US" sz="1050" dirty="0">
                <a:solidFill>
                  <a:srgbClr val="A8B1AB"/>
                </a:solidFill>
                <a:latin typeface="Aptos" pitchFamily="34" charset="0"/>
                <a:ea typeface="Aptos" pitchFamily="34" charset="-122"/>
                <a:cs typeface="Aptos" pitchFamily="34" charset="-120"/>
              </a:rPr>
              <a:t>The total may be wrong, or two users could try to buy the last item.</a:t>
            </a:r>
            <a:endParaRPr lang="en-US" sz="1050" dirty="0"/>
          </a:p>
        </p:txBody>
      </p:sp>
      <p:sp>
        <p:nvSpPr>
          <p:cNvPr id="17" name="Text 15"/>
          <p:cNvSpPr/>
          <p:nvPr/>
        </p:nvSpPr>
        <p:spPr>
          <a:xfrm>
            <a:off x="4553712" y="4123944"/>
            <a:ext cx="1280160" cy="164592"/>
          </a:xfrm>
          <a:prstGeom prst="rect">
            <a:avLst/>
          </a:prstGeom>
          <a:noFill/>
          <a:ln/>
        </p:spPr>
        <p:txBody>
          <a:bodyPr wrap="square" lIns="0" tIns="0" rIns="0" bIns="0" rtlCol="0" anchor="ctr">
            <a:normAutofit/>
          </a:bodyPr>
          <a:lstStyle/>
          <a:p>
            <a:pPr marL="0" indent="0">
              <a:buNone/>
            </a:pPr>
            <a:r>
              <a:rPr lang="en-US" sz="850" b="1" kern="0" spc="150" dirty="0">
                <a:solidFill>
                  <a:srgbClr val="8AC6E8"/>
                </a:solidFill>
                <a:latin typeface="Aptos" pitchFamily="34" charset="0"/>
                <a:ea typeface="Aptos" pitchFamily="34" charset="-122"/>
                <a:cs typeface="Aptos" pitchFamily="34" charset="-120"/>
              </a:rPr>
              <a:t>MITIGATION</a:t>
            </a:r>
            <a:endParaRPr lang="en-US" sz="850" dirty="0"/>
          </a:p>
        </p:txBody>
      </p:sp>
      <p:sp>
        <p:nvSpPr>
          <p:cNvPr id="18" name="Text 16"/>
          <p:cNvSpPr/>
          <p:nvPr/>
        </p:nvSpPr>
        <p:spPr>
          <a:xfrm>
            <a:off x="4553712" y="4370832"/>
            <a:ext cx="3054096" cy="530352"/>
          </a:xfrm>
          <a:prstGeom prst="rect">
            <a:avLst/>
          </a:prstGeom>
          <a:noFill/>
          <a:ln/>
        </p:spPr>
        <p:txBody>
          <a:bodyPr wrap="square" lIns="0" tIns="0" rIns="0" bIns="0" rtlCol="0" anchor="t">
            <a:normAutofit/>
          </a:bodyPr>
          <a:lstStyle/>
          <a:p>
            <a:pPr marL="0" indent="0">
              <a:buNone/>
            </a:pPr>
            <a:r>
              <a:rPr lang="en-US" sz="1050" dirty="0">
                <a:solidFill>
                  <a:srgbClr val="F3F5F1"/>
                </a:solidFill>
                <a:latin typeface="Aptos" pitchFamily="34" charset="0"/>
                <a:ea typeface="Aptos" pitchFamily="34" charset="-122"/>
                <a:cs typeface="Aptos" pitchFamily="34" charset="-120"/>
              </a:rPr>
              <a:t>Calculate totals and check stock on the server; write focused tests for these rules.</a:t>
            </a:r>
            <a:endParaRPr lang="en-US" sz="1050" dirty="0"/>
          </a:p>
        </p:txBody>
      </p:sp>
      <p:sp>
        <p:nvSpPr>
          <p:cNvPr id="19" name="Shape 17"/>
          <p:cNvSpPr/>
          <p:nvPr/>
        </p:nvSpPr>
        <p:spPr>
          <a:xfrm>
            <a:off x="8046720" y="1901952"/>
            <a:ext cx="3493008" cy="3200400"/>
          </a:xfrm>
          <a:prstGeom prst="roundRect">
            <a:avLst>
              <a:gd name="adj" fmla="val 4000"/>
            </a:avLst>
          </a:prstGeom>
          <a:solidFill>
            <a:srgbClr val="141A17"/>
          </a:solidFill>
          <a:ln w="12700">
            <a:solidFill>
              <a:srgbClr val="141A17">
                <a:alpha val="0"/>
              </a:srgbClr>
            </a:solidFill>
            <a:prstDash val="solid"/>
          </a:ln>
        </p:spPr>
      </p:sp>
      <p:sp>
        <p:nvSpPr>
          <p:cNvPr id="20" name="Text 18"/>
          <p:cNvSpPr/>
          <p:nvPr/>
        </p:nvSpPr>
        <p:spPr>
          <a:xfrm>
            <a:off x="8247888" y="2103120"/>
            <a:ext cx="438912" cy="219456"/>
          </a:xfrm>
          <a:prstGeom prst="rect">
            <a:avLst/>
          </a:prstGeom>
          <a:noFill/>
          <a:ln/>
        </p:spPr>
        <p:txBody>
          <a:bodyPr wrap="square" lIns="0" tIns="0" rIns="0" bIns="0" rtlCol="0" anchor="ctr">
            <a:normAutofit/>
          </a:bodyPr>
          <a:lstStyle/>
          <a:p>
            <a:pPr marL="0" indent="0">
              <a:buNone/>
            </a:pPr>
            <a:r>
              <a:rPr lang="en-US" sz="1200" b="1" kern="0" spc="120" dirty="0">
                <a:solidFill>
                  <a:srgbClr val="C5F26D"/>
                </a:solidFill>
                <a:latin typeface="Aptos" pitchFamily="34" charset="0"/>
                <a:ea typeface="Aptos" pitchFamily="34" charset="-122"/>
                <a:cs typeface="Aptos" pitchFamily="34" charset="-120"/>
              </a:rPr>
              <a:t>03</a:t>
            </a:r>
            <a:endParaRPr lang="en-US" sz="1200" dirty="0"/>
          </a:p>
        </p:txBody>
      </p:sp>
      <p:sp>
        <p:nvSpPr>
          <p:cNvPr id="21" name="Text 19"/>
          <p:cNvSpPr/>
          <p:nvPr/>
        </p:nvSpPr>
        <p:spPr>
          <a:xfrm>
            <a:off x="8247888" y="2496312"/>
            <a:ext cx="3063240" cy="566928"/>
          </a:xfrm>
          <a:prstGeom prst="rect">
            <a:avLst/>
          </a:prstGeom>
          <a:noFill/>
          <a:ln/>
        </p:spPr>
        <p:txBody>
          <a:bodyPr wrap="square" lIns="0" tIns="0" rIns="0" bIns="0" rtlCol="0" anchor="t">
            <a:normAutofit/>
          </a:bodyPr>
          <a:lstStyle/>
          <a:p>
            <a:pPr marL="0" indent="0">
              <a:buNone/>
            </a:pPr>
            <a:r>
              <a:rPr lang="en-US" sz="1600" b="1" dirty="0">
                <a:solidFill>
                  <a:srgbClr val="F3F5F1"/>
                </a:solidFill>
                <a:latin typeface="Aptos" pitchFamily="34" charset="0"/>
                <a:ea typeface="Aptos" pitchFamily="34" charset="-122"/>
                <a:cs typeface="Aptos" pitchFamily="34" charset="-120"/>
              </a:rPr>
              <a:t>Too much scope for three people</a:t>
            </a:r>
            <a:endParaRPr lang="en-US" sz="1600" dirty="0"/>
          </a:p>
        </p:txBody>
      </p:sp>
      <p:sp>
        <p:nvSpPr>
          <p:cNvPr id="22" name="Text 20"/>
          <p:cNvSpPr/>
          <p:nvPr/>
        </p:nvSpPr>
        <p:spPr>
          <a:xfrm>
            <a:off x="8247888" y="3236976"/>
            <a:ext cx="1005840" cy="164592"/>
          </a:xfrm>
          <a:prstGeom prst="rect">
            <a:avLst/>
          </a:prstGeom>
          <a:noFill/>
          <a:ln/>
        </p:spPr>
        <p:txBody>
          <a:bodyPr wrap="square" lIns="0" tIns="0" rIns="0" bIns="0" rtlCol="0" anchor="ctr">
            <a:normAutofit/>
          </a:bodyPr>
          <a:lstStyle/>
          <a:p>
            <a:pPr marL="0" indent="0">
              <a:buNone/>
            </a:pPr>
            <a:r>
              <a:rPr lang="en-US" sz="850" b="1" kern="0" spc="150" dirty="0">
                <a:solidFill>
                  <a:srgbClr val="758079"/>
                </a:solidFill>
                <a:latin typeface="Aptos" pitchFamily="34" charset="0"/>
                <a:ea typeface="Aptos" pitchFamily="34" charset="-122"/>
                <a:cs typeface="Aptos" pitchFamily="34" charset="-120"/>
              </a:rPr>
              <a:t>RISK</a:t>
            </a:r>
            <a:endParaRPr lang="en-US" sz="850" dirty="0"/>
          </a:p>
        </p:txBody>
      </p:sp>
      <p:sp>
        <p:nvSpPr>
          <p:cNvPr id="23" name="Text 21"/>
          <p:cNvSpPr/>
          <p:nvPr/>
        </p:nvSpPr>
        <p:spPr>
          <a:xfrm>
            <a:off x="8247888" y="3474720"/>
            <a:ext cx="3054096" cy="521208"/>
          </a:xfrm>
          <a:prstGeom prst="rect">
            <a:avLst/>
          </a:prstGeom>
          <a:noFill/>
          <a:ln/>
        </p:spPr>
        <p:txBody>
          <a:bodyPr wrap="square" lIns="0" tIns="0" rIns="0" bIns="0" rtlCol="0" anchor="t">
            <a:normAutofit/>
          </a:bodyPr>
          <a:lstStyle/>
          <a:p>
            <a:pPr marL="0" indent="0">
              <a:buNone/>
            </a:pPr>
            <a:r>
              <a:rPr lang="en-US" sz="1050" dirty="0">
                <a:solidFill>
                  <a:srgbClr val="A8B1AB"/>
                </a:solidFill>
                <a:latin typeface="Aptos" pitchFamily="34" charset="0"/>
                <a:ea typeface="Aptos" pitchFamily="34" charset="-122"/>
                <a:cs typeface="Aptos" pitchFamily="34" charset="-120"/>
              </a:rPr>
              <a:t>Mandatory work plus three bonus features could leave too little time for testing.</a:t>
            </a:r>
            <a:endParaRPr lang="en-US" sz="1050" dirty="0"/>
          </a:p>
        </p:txBody>
      </p:sp>
      <p:sp>
        <p:nvSpPr>
          <p:cNvPr id="24" name="Text 22"/>
          <p:cNvSpPr/>
          <p:nvPr/>
        </p:nvSpPr>
        <p:spPr>
          <a:xfrm>
            <a:off x="8247888" y="4123944"/>
            <a:ext cx="1280160" cy="164592"/>
          </a:xfrm>
          <a:prstGeom prst="rect">
            <a:avLst/>
          </a:prstGeom>
          <a:noFill/>
          <a:ln/>
        </p:spPr>
        <p:txBody>
          <a:bodyPr wrap="square" lIns="0" tIns="0" rIns="0" bIns="0" rtlCol="0" anchor="ctr">
            <a:normAutofit/>
          </a:bodyPr>
          <a:lstStyle/>
          <a:p>
            <a:pPr marL="0" indent="0">
              <a:buNone/>
            </a:pPr>
            <a:r>
              <a:rPr lang="en-US" sz="850" b="1" kern="0" spc="150" dirty="0">
                <a:solidFill>
                  <a:srgbClr val="C5F26D"/>
                </a:solidFill>
                <a:latin typeface="Aptos" pitchFamily="34" charset="0"/>
                <a:ea typeface="Aptos" pitchFamily="34" charset="-122"/>
                <a:cs typeface="Aptos" pitchFamily="34" charset="-120"/>
              </a:rPr>
              <a:t>MITIGATION</a:t>
            </a:r>
            <a:endParaRPr lang="en-US" sz="850" dirty="0"/>
          </a:p>
        </p:txBody>
      </p:sp>
      <p:sp>
        <p:nvSpPr>
          <p:cNvPr id="25" name="Text 23"/>
          <p:cNvSpPr/>
          <p:nvPr/>
        </p:nvSpPr>
        <p:spPr>
          <a:xfrm>
            <a:off x="8247888" y="4370832"/>
            <a:ext cx="3054096" cy="530352"/>
          </a:xfrm>
          <a:prstGeom prst="rect">
            <a:avLst/>
          </a:prstGeom>
          <a:noFill/>
          <a:ln/>
        </p:spPr>
        <p:txBody>
          <a:bodyPr wrap="square" lIns="0" tIns="0" rIns="0" bIns="0" rtlCol="0" anchor="t">
            <a:normAutofit/>
          </a:bodyPr>
          <a:lstStyle/>
          <a:p>
            <a:pPr marL="0" indent="0">
              <a:buNone/>
            </a:pPr>
            <a:r>
              <a:rPr lang="en-US" sz="1050" dirty="0">
                <a:solidFill>
                  <a:srgbClr val="F3F5F1"/>
                </a:solidFill>
                <a:latin typeface="Aptos" pitchFamily="34" charset="0"/>
                <a:ea typeface="Aptos" pitchFamily="34" charset="-122"/>
                <a:cs typeface="Aptos" pitchFamily="34" charset="-120"/>
              </a:rPr>
              <a:t>Finish A1–A12 first; build the three approved bonuses in small, separate tasks.</a:t>
            </a:r>
            <a:endParaRPr lang="en-US" sz="1050" dirty="0"/>
          </a:p>
        </p:txBody>
      </p:sp>
      <p:sp>
        <p:nvSpPr>
          <p:cNvPr id="30"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8079"/>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2379</Words>
  <Application>Microsoft Office PowerPoint</Application>
  <PresentationFormat>Widescreen</PresentationFormat>
  <Paragraphs>308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E-Commerce Semester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Lift &amp; Aesthetics — Gym Essentials Online Store</dc:title>
  <dc:subject>E-Commerce Semester Project — Presentation 1</dc:subject>
  <dc:creator>Lift &amp; Aesthetics Project Team</dc:creator>
  <cp:lastModifiedBy>David Nica</cp:lastModifiedBy>
  <cp:revision>12</cp:revision>
  <dcterms:created xsi:type="dcterms:W3CDTF">2026-10-12T16:11:06Z</dcterms:created>
  <dcterms:modified xsi:type="dcterms:W3CDTF">2026-10-12T18:00:18Z</dcterms:modified>
</cp:coreProperties>
</file>